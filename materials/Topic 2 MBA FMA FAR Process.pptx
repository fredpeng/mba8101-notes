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0"/>
  </p:notesMasterIdLst>
  <p:sldIdLst>
    <p:sldId id="256" r:id="rId2"/>
    <p:sldId id="257" r:id="rId3"/>
    <p:sldId id="293"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5" r:id="rId39"/>
  </p:sldIdLst>
  <p:sldSz cx="12192000" cy="6858000"/>
  <p:notesSz cx="6858000" cy="12192000"/>
  <p:embeddedFontLst>
    <p:embeddedFont>
      <p:font typeface="Consolas" panose="020B0609020204030204" pitchFamily="49" charset="0"/>
      <p:regular r:id="rId41"/>
      <p:bold r:id="rId42"/>
      <p:italic r:id="rId43"/>
      <p:boldItalic r:id="rId44"/>
    </p:embeddedFont>
    <p:embeddedFont>
      <p:font typeface="Kanit Light" panose="020B0604020202020204" charset="-34"/>
      <p:regular r:id="rId45"/>
    </p:embeddedFont>
    <p:embeddedFont>
      <p:font typeface="Martel Sans" panose="020B0604020202020204" charset="0"/>
      <p:regular r:id="rId46"/>
    </p:embeddedFont>
    <p:embeddedFont>
      <p:font typeface="Martel Sans Bold" panose="020B0604020202020204" charset="0"/>
      <p:regular r:id="rId4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7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364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318131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BF4F3"/>
          </a:solidFill>
          <a:ln/>
        </p:spPr>
        <p:txBody>
          <a:bodyPr/>
          <a:lstStyle/>
          <a:p>
            <a:endParaRPr lang="en-US"/>
          </a:p>
        </p:txBody>
      </p:sp>
      <p:sp>
        <p:nvSpPr>
          <p:cNvPr id="3" name="Shape 1"/>
          <p:cNvSpPr/>
          <p:nvPr/>
        </p:nvSpPr>
        <p:spPr>
          <a:xfrm>
            <a:off x="0" y="0"/>
            <a:ext cx="12191695" cy="6858000"/>
          </a:xfrm>
          <a:prstGeom prst="rect">
            <a:avLst/>
          </a:prstGeom>
          <a:solidFill>
            <a:srgbClr val="FFFFFF"/>
          </a:solidFill>
          <a:ln/>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7.svg"/><Relationship Id="rId4" Type="http://schemas.openxmlformats.org/officeDocument/2006/relationships/image" Target="../media/image6.svg"/></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414797"/>
            <a:ext cx="6296860" cy="2214860"/>
          </a:xfrm>
          <a:prstGeom prst="rect">
            <a:avLst/>
          </a:prstGeom>
          <a:noFill/>
          <a:ln/>
        </p:spPr>
        <p:txBody>
          <a:bodyPr wrap="square" lIns="0" tIns="0" rIns="0" bIns="0" rtlCol="0" anchor="t">
            <a:normAutofit/>
          </a:bodyPr>
          <a:lstStyle/>
          <a:p>
            <a:pPr marL="0" indent="0" algn="l">
              <a:lnSpc>
                <a:spcPct val="104000"/>
              </a:lnSpc>
              <a:buNone/>
            </a:pPr>
            <a:r>
              <a:rPr lang="en-US" sz="4650" dirty="0">
                <a:solidFill>
                  <a:srgbClr val="272D45"/>
                </a:solidFill>
                <a:latin typeface="Kanit Light" pitchFamily="34" charset="0"/>
                <a:ea typeface="Kanit Light" pitchFamily="34" charset="-122"/>
                <a:cs typeface="Kanit Light" pitchFamily="34" charset="-120"/>
              </a:rPr>
              <a:t>MBA FMA: Financial Accounting and Reporting Process</a:t>
            </a:r>
            <a:endParaRPr lang="en-US" sz="4650" dirty="0"/>
          </a:p>
        </p:txBody>
      </p:sp>
      <p:sp>
        <p:nvSpPr>
          <p:cNvPr id="4" name="Text 1"/>
          <p:cNvSpPr/>
          <p:nvPr/>
        </p:nvSpPr>
        <p:spPr>
          <a:xfrm>
            <a:off x="661475" y="3302722"/>
            <a:ext cx="6296860" cy="2267545"/>
          </a:xfrm>
          <a:prstGeom prst="rect">
            <a:avLst/>
          </a:prstGeom>
          <a:noFill/>
          <a:ln/>
        </p:spPr>
        <p:txBody>
          <a:bodyPr wrap="square" lIns="0" tIns="0" rIns="0" bIns="0" rtlCol="0" anchor="t">
            <a:normAutofit/>
          </a:bodyPr>
          <a:lstStyle/>
          <a:p>
            <a:pPr marL="0" indent="0" algn="just">
              <a:lnSpc>
                <a:spcPct val="133000"/>
              </a:lnSpc>
              <a:buNone/>
            </a:pPr>
            <a:r>
              <a:rPr lang="en-US" sz="1850" dirty="0">
                <a:solidFill>
                  <a:srgbClr val="2C3249"/>
                </a:solidFill>
                <a:latin typeface="Martel Sans" pitchFamily="34" charset="0"/>
                <a:ea typeface="Martel Sans" pitchFamily="34" charset="-122"/>
                <a:cs typeface="Martel Sans" pitchFamily="34" charset="-120"/>
              </a:rPr>
              <a:t>Topic 2 — A comprehensive guide to the Financial Accounting and Reporting (FAR) process, covering the full accounting cycle from source documents through to financial statement preparation, double-entry principles, and the requirements for a sound reporting process.</a:t>
            </a:r>
            <a:endParaRPr lang="en-US" sz="1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4597" y="210533"/>
            <a:ext cx="10868745" cy="581422"/>
          </a:xfrm>
          <a:prstGeom prst="rect">
            <a:avLst/>
          </a:prstGeom>
          <a:noFill/>
          <a:ln/>
        </p:spPr>
        <p:txBody>
          <a:bodyPr wrap="none" lIns="0" tIns="0" rIns="0" bIns="0" rtlCol="0" anchor="t"/>
          <a:lstStyle/>
          <a:p>
            <a:pPr marL="0" indent="0" algn="l">
              <a:lnSpc>
                <a:spcPct val="104000"/>
              </a:lnSpc>
              <a:buNone/>
            </a:pPr>
            <a:r>
              <a:rPr lang="en-US" sz="3650" dirty="0">
                <a:solidFill>
                  <a:srgbClr val="272D45"/>
                </a:solidFill>
                <a:latin typeface="Kanit Light" pitchFamily="34" charset="0"/>
                <a:ea typeface="Kanit Light" pitchFamily="34" charset="-122"/>
                <a:cs typeface="Kanit Light" pitchFamily="34" charset="-120"/>
              </a:rPr>
              <a:t>What is the FAR Process?</a:t>
            </a:r>
            <a:endParaRPr lang="en-US" sz="3650" dirty="0"/>
          </a:p>
        </p:txBody>
      </p:sp>
      <p:sp>
        <p:nvSpPr>
          <p:cNvPr id="3" name="Text 1"/>
          <p:cNvSpPr/>
          <p:nvPr/>
        </p:nvSpPr>
        <p:spPr>
          <a:xfrm>
            <a:off x="734597" y="1080543"/>
            <a:ext cx="10868745" cy="1064022"/>
          </a:xfrm>
          <a:prstGeom prst="rect">
            <a:avLst/>
          </a:prstGeom>
          <a:noFill/>
          <a:ln/>
        </p:spPr>
        <p:txBody>
          <a:bodyPr wrap="square" lIns="0" tIns="0" rIns="0" bIns="0" rtlCol="0" anchor="t">
            <a:noAutofit/>
          </a:bodyPr>
          <a:lstStyle/>
          <a:p>
            <a:pPr marL="0" indent="0" algn="just">
              <a:lnSpc>
                <a:spcPct val="119000"/>
              </a:lnSpc>
              <a:buNone/>
            </a:pPr>
            <a:r>
              <a:rPr lang="en-US" dirty="0">
                <a:solidFill>
                  <a:srgbClr val="2C3249"/>
                </a:solidFill>
                <a:latin typeface="Martel Sans" pitchFamily="34" charset="0"/>
                <a:ea typeface="Martel Sans" pitchFamily="34" charset="-122"/>
                <a:cs typeface="Martel Sans" pitchFamily="34" charset="-120"/>
              </a:rPr>
              <a:t>As defined in Topic 1, Financial Accounting and Reporting (FAR) is the process of </a:t>
            </a:r>
            <a:r>
              <a:rPr lang="en-US" b="1" dirty="0">
                <a:solidFill>
                  <a:srgbClr val="2C3249"/>
                </a:solidFill>
                <a:latin typeface="Martel Sans Bold" pitchFamily="34" charset="0"/>
                <a:ea typeface="Martel Sans Bold" pitchFamily="34" charset="-122"/>
                <a:cs typeface="Martel Sans Bold" pitchFamily="34" charset="-120"/>
              </a:rPr>
              <a:t>identifying, measuring, and reporting economic information</a:t>
            </a:r>
            <a:r>
              <a:rPr lang="en-US" dirty="0">
                <a:solidFill>
                  <a:srgbClr val="2C3249"/>
                </a:solidFill>
                <a:latin typeface="Martel Sans" pitchFamily="34" charset="0"/>
                <a:ea typeface="Martel Sans" pitchFamily="34" charset="-122"/>
                <a:cs typeface="Martel Sans" pitchFamily="34" charset="-120"/>
              </a:rPr>
              <a:t> to enable informed decision-making. The process,  also referred to in some textbooks as the </a:t>
            </a:r>
            <a:r>
              <a:rPr lang="en-US" b="1" dirty="0">
                <a:solidFill>
                  <a:srgbClr val="2C3249"/>
                </a:solidFill>
                <a:latin typeface="Martel Sans Bold" pitchFamily="34" charset="0"/>
                <a:ea typeface="Martel Sans Bold" pitchFamily="34" charset="-122"/>
                <a:cs typeface="Martel Sans Bold" pitchFamily="34" charset="-120"/>
              </a:rPr>
              <a:t>accounting and reporting cycle</a:t>
            </a:r>
            <a:r>
              <a:rPr lang="en-US" dirty="0">
                <a:solidFill>
                  <a:srgbClr val="2C3249"/>
                </a:solidFill>
                <a:latin typeface="Martel Sans" pitchFamily="34" charset="0"/>
                <a:ea typeface="Martel Sans" pitchFamily="34" charset="-122"/>
                <a:cs typeface="Martel Sans" pitchFamily="34" charset="-120"/>
              </a:rPr>
              <a:t> consists of five summary stages that transform raw transaction data into meaningful financial reports.</a:t>
            </a:r>
            <a:endParaRPr lang="en-US" dirty="0"/>
          </a:p>
        </p:txBody>
      </p:sp>
      <p:sp>
        <p:nvSpPr>
          <p:cNvPr id="4" name="Text 2"/>
          <p:cNvSpPr/>
          <p:nvPr/>
        </p:nvSpPr>
        <p:spPr>
          <a:xfrm>
            <a:off x="661475" y="2789634"/>
            <a:ext cx="372061" cy="232569"/>
          </a:xfrm>
          <a:prstGeom prst="rect">
            <a:avLst/>
          </a:prstGeom>
          <a:noFill/>
          <a:ln/>
        </p:spPr>
        <p:txBody>
          <a:bodyPr wrap="none" lIns="0" tIns="0" rIns="0" bIns="0" rtlCol="0" anchor="ctr"/>
          <a:lstStyle/>
          <a:p>
            <a:pPr marL="0" indent="0" algn="l">
              <a:lnSpc>
                <a:spcPct val="100000"/>
              </a:lnSpc>
              <a:buNone/>
            </a:pPr>
            <a:r>
              <a:rPr lang="en-US" sz="1450" dirty="0">
                <a:solidFill>
                  <a:srgbClr val="2C3249"/>
                </a:solidFill>
                <a:latin typeface="Kanit Light" pitchFamily="34" charset="0"/>
                <a:ea typeface="Kanit Light" pitchFamily="34" charset="-122"/>
                <a:cs typeface="Kanit Light" pitchFamily="34" charset="-120"/>
              </a:rPr>
              <a:t>01</a:t>
            </a:r>
            <a:endParaRPr lang="en-US" sz="1450" dirty="0"/>
          </a:p>
        </p:txBody>
      </p:sp>
      <p:sp>
        <p:nvSpPr>
          <p:cNvPr id="5" name="Shape 3"/>
          <p:cNvSpPr/>
          <p:nvPr/>
        </p:nvSpPr>
        <p:spPr>
          <a:xfrm>
            <a:off x="661475" y="3080445"/>
            <a:ext cx="3525253" cy="25400"/>
          </a:xfrm>
          <a:prstGeom prst="rect">
            <a:avLst/>
          </a:prstGeom>
          <a:solidFill>
            <a:srgbClr val="437066"/>
          </a:solidFill>
          <a:ln/>
        </p:spPr>
        <p:txBody>
          <a:bodyPr/>
          <a:lstStyle/>
          <a:p>
            <a:endParaRPr lang="en-US"/>
          </a:p>
        </p:txBody>
      </p:sp>
      <p:sp>
        <p:nvSpPr>
          <p:cNvPr id="6" name="Text 4"/>
          <p:cNvSpPr/>
          <p:nvPr/>
        </p:nvSpPr>
        <p:spPr>
          <a:xfrm>
            <a:off x="993948" y="2738921"/>
            <a:ext cx="3525253" cy="290711"/>
          </a:xfrm>
          <a:prstGeom prst="rect">
            <a:avLst/>
          </a:prstGeom>
          <a:noFill/>
          <a:ln/>
        </p:spPr>
        <p:txBody>
          <a:bodyPr wrap="none" lIns="0" tIns="0" rIns="0" bIns="0" rtlCol="0" anchor="t"/>
          <a:lstStyle/>
          <a:p>
            <a:pPr marL="0" indent="0" algn="l">
              <a:lnSpc>
                <a:spcPct val="104000"/>
              </a:lnSpc>
              <a:buNone/>
            </a:pPr>
            <a:r>
              <a:rPr lang="en-US" sz="1800" dirty="0">
                <a:solidFill>
                  <a:srgbClr val="2C3249"/>
                </a:solidFill>
                <a:latin typeface="Kanit Light" pitchFamily="34" charset="0"/>
                <a:ea typeface="Kanit Light" pitchFamily="34" charset="-122"/>
                <a:cs typeface="Kanit Light" pitchFamily="34" charset="-120"/>
              </a:rPr>
              <a:t>Collect Evidence</a:t>
            </a:r>
            <a:endParaRPr lang="en-US" sz="1800" dirty="0"/>
          </a:p>
        </p:txBody>
      </p:sp>
      <p:sp>
        <p:nvSpPr>
          <p:cNvPr id="7" name="Text 5"/>
          <p:cNvSpPr/>
          <p:nvPr/>
        </p:nvSpPr>
        <p:spPr>
          <a:xfrm>
            <a:off x="661475" y="3602831"/>
            <a:ext cx="3525253" cy="532011"/>
          </a:xfrm>
          <a:prstGeom prst="rect">
            <a:avLst/>
          </a:prstGeom>
          <a:noFill/>
          <a:ln/>
        </p:spPr>
        <p:txBody>
          <a:bodyPr wrap="square" lIns="0" tIns="0" rIns="0" bIns="0" rtlCol="0" anchor="t">
            <a:normAutofit/>
          </a:bodyPr>
          <a:lstStyle/>
          <a:p>
            <a:pPr marL="0" indent="0" algn="l">
              <a:lnSpc>
                <a:spcPct val="119000"/>
              </a:lnSpc>
              <a:buNone/>
            </a:pPr>
            <a:r>
              <a:rPr lang="en-US" sz="1450" dirty="0">
                <a:solidFill>
                  <a:srgbClr val="2C3249"/>
                </a:solidFill>
                <a:latin typeface="Martel Sans" pitchFamily="34" charset="0"/>
                <a:ea typeface="Martel Sans" pitchFamily="34" charset="-122"/>
                <a:cs typeface="Martel Sans" pitchFamily="34" charset="-120"/>
              </a:rPr>
              <a:t>Collecting evidence of transactions using source documents.</a:t>
            </a:r>
            <a:endParaRPr lang="en-US" sz="1450" dirty="0"/>
          </a:p>
        </p:txBody>
      </p:sp>
      <p:sp>
        <p:nvSpPr>
          <p:cNvPr id="8" name="Text 6"/>
          <p:cNvSpPr/>
          <p:nvPr/>
        </p:nvSpPr>
        <p:spPr>
          <a:xfrm>
            <a:off x="4333171" y="2789634"/>
            <a:ext cx="372061" cy="232569"/>
          </a:xfrm>
          <a:prstGeom prst="rect">
            <a:avLst/>
          </a:prstGeom>
          <a:noFill/>
          <a:ln/>
        </p:spPr>
        <p:txBody>
          <a:bodyPr wrap="none" lIns="0" tIns="0" rIns="0" bIns="0" rtlCol="0" anchor="ctr"/>
          <a:lstStyle/>
          <a:p>
            <a:pPr marL="0" indent="0" algn="l">
              <a:lnSpc>
                <a:spcPct val="100000"/>
              </a:lnSpc>
              <a:buNone/>
            </a:pPr>
            <a:r>
              <a:rPr lang="en-US" sz="1450" dirty="0">
                <a:solidFill>
                  <a:srgbClr val="2C3249"/>
                </a:solidFill>
                <a:latin typeface="Kanit Light" pitchFamily="34" charset="0"/>
                <a:ea typeface="Kanit Light" pitchFamily="34" charset="-122"/>
                <a:cs typeface="Kanit Light" pitchFamily="34" charset="-120"/>
              </a:rPr>
              <a:t>02</a:t>
            </a:r>
            <a:endParaRPr lang="en-US" sz="1450" dirty="0"/>
          </a:p>
        </p:txBody>
      </p:sp>
      <p:sp>
        <p:nvSpPr>
          <p:cNvPr id="9" name="Shape 7"/>
          <p:cNvSpPr/>
          <p:nvPr/>
        </p:nvSpPr>
        <p:spPr>
          <a:xfrm>
            <a:off x="4333171" y="3080445"/>
            <a:ext cx="3525253" cy="25400"/>
          </a:xfrm>
          <a:prstGeom prst="rect">
            <a:avLst/>
          </a:prstGeom>
          <a:solidFill>
            <a:srgbClr val="437066"/>
          </a:solidFill>
          <a:ln/>
        </p:spPr>
        <p:txBody>
          <a:bodyPr/>
          <a:lstStyle/>
          <a:p>
            <a:endParaRPr lang="en-US"/>
          </a:p>
        </p:txBody>
      </p:sp>
      <p:sp>
        <p:nvSpPr>
          <p:cNvPr id="10" name="Text 8"/>
          <p:cNvSpPr/>
          <p:nvPr/>
        </p:nvSpPr>
        <p:spPr>
          <a:xfrm>
            <a:off x="4705232" y="2728342"/>
            <a:ext cx="3525253" cy="290711"/>
          </a:xfrm>
          <a:prstGeom prst="rect">
            <a:avLst/>
          </a:prstGeom>
          <a:noFill/>
          <a:ln/>
        </p:spPr>
        <p:txBody>
          <a:bodyPr wrap="none" lIns="0" tIns="0" rIns="0" bIns="0" rtlCol="0" anchor="t"/>
          <a:lstStyle/>
          <a:p>
            <a:pPr marL="0" indent="0" algn="l">
              <a:lnSpc>
                <a:spcPct val="104000"/>
              </a:lnSpc>
              <a:buNone/>
            </a:pPr>
            <a:r>
              <a:rPr lang="en-US" sz="1800" dirty="0">
                <a:solidFill>
                  <a:srgbClr val="2C3249"/>
                </a:solidFill>
                <a:latin typeface="Kanit Light" pitchFamily="34" charset="0"/>
                <a:ea typeface="Kanit Light" pitchFamily="34" charset="-122"/>
                <a:cs typeface="Kanit Light" pitchFamily="34" charset="-120"/>
              </a:rPr>
              <a:t>Books of Prime Entry</a:t>
            </a:r>
            <a:endParaRPr lang="en-US" sz="1800" dirty="0"/>
          </a:p>
        </p:txBody>
      </p:sp>
      <p:sp>
        <p:nvSpPr>
          <p:cNvPr id="11" name="Text 9"/>
          <p:cNvSpPr/>
          <p:nvPr/>
        </p:nvSpPr>
        <p:spPr>
          <a:xfrm>
            <a:off x="4333171" y="3602831"/>
            <a:ext cx="3525253" cy="532011"/>
          </a:xfrm>
          <a:prstGeom prst="rect">
            <a:avLst/>
          </a:prstGeom>
          <a:noFill/>
          <a:ln/>
        </p:spPr>
        <p:txBody>
          <a:bodyPr wrap="square" lIns="0" tIns="0" rIns="0" bIns="0" rtlCol="0" anchor="t">
            <a:normAutofit/>
          </a:bodyPr>
          <a:lstStyle/>
          <a:p>
            <a:pPr marL="0" indent="0" algn="l">
              <a:lnSpc>
                <a:spcPct val="119000"/>
              </a:lnSpc>
              <a:buNone/>
            </a:pPr>
            <a:r>
              <a:rPr lang="en-US" sz="1450" dirty="0">
                <a:solidFill>
                  <a:srgbClr val="2C3249"/>
                </a:solidFill>
                <a:latin typeface="Martel Sans" pitchFamily="34" charset="0"/>
                <a:ea typeface="Martel Sans" pitchFamily="34" charset="-122"/>
                <a:cs typeface="Martel Sans" pitchFamily="34" charset="-120"/>
              </a:rPr>
              <a:t>Summarizing the information in source documents in books of prime entry.</a:t>
            </a:r>
            <a:endParaRPr lang="en-US" sz="1450" dirty="0"/>
          </a:p>
        </p:txBody>
      </p:sp>
      <p:sp>
        <p:nvSpPr>
          <p:cNvPr id="12" name="Text 10"/>
          <p:cNvSpPr/>
          <p:nvPr/>
        </p:nvSpPr>
        <p:spPr>
          <a:xfrm>
            <a:off x="8004868" y="2789634"/>
            <a:ext cx="372061" cy="232569"/>
          </a:xfrm>
          <a:prstGeom prst="rect">
            <a:avLst/>
          </a:prstGeom>
          <a:noFill/>
          <a:ln/>
        </p:spPr>
        <p:txBody>
          <a:bodyPr wrap="none" lIns="0" tIns="0" rIns="0" bIns="0" rtlCol="0" anchor="ctr"/>
          <a:lstStyle/>
          <a:p>
            <a:pPr marL="0" indent="0" algn="l">
              <a:lnSpc>
                <a:spcPct val="100000"/>
              </a:lnSpc>
              <a:buNone/>
            </a:pPr>
            <a:r>
              <a:rPr lang="en-US" sz="1450" dirty="0">
                <a:solidFill>
                  <a:srgbClr val="2C3249"/>
                </a:solidFill>
                <a:latin typeface="Kanit Light" pitchFamily="34" charset="0"/>
                <a:ea typeface="Kanit Light" pitchFamily="34" charset="-122"/>
                <a:cs typeface="Kanit Light" pitchFamily="34" charset="-120"/>
              </a:rPr>
              <a:t>03</a:t>
            </a:r>
            <a:endParaRPr lang="en-US" sz="1450" dirty="0"/>
          </a:p>
        </p:txBody>
      </p:sp>
      <p:sp>
        <p:nvSpPr>
          <p:cNvPr id="13" name="Shape 11"/>
          <p:cNvSpPr/>
          <p:nvPr/>
        </p:nvSpPr>
        <p:spPr>
          <a:xfrm>
            <a:off x="8004868" y="3080445"/>
            <a:ext cx="3525253" cy="25400"/>
          </a:xfrm>
          <a:prstGeom prst="rect">
            <a:avLst/>
          </a:prstGeom>
          <a:solidFill>
            <a:srgbClr val="437066"/>
          </a:solidFill>
          <a:ln/>
        </p:spPr>
        <p:txBody>
          <a:bodyPr/>
          <a:lstStyle/>
          <a:p>
            <a:endParaRPr lang="en-US"/>
          </a:p>
        </p:txBody>
      </p:sp>
      <p:sp>
        <p:nvSpPr>
          <p:cNvPr id="14" name="Text 12"/>
          <p:cNvSpPr/>
          <p:nvPr/>
        </p:nvSpPr>
        <p:spPr>
          <a:xfrm>
            <a:off x="8376929" y="2727632"/>
            <a:ext cx="3525253" cy="290711"/>
          </a:xfrm>
          <a:prstGeom prst="rect">
            <a:avLst/>
          </a:prstGeom>
          <a:noFill/>
          <a:ln/>
        </p:spPr>
        <p:txBody>
          <a:bodyPr wrap="none" lIns="0" tIns="0" rIns="0" bIns="0" rtlCol="0" anchor="t"/>
          <a:lstStyle/>
          <a:p>
            <a:pPr marL="0" indent="0" algn="l">
              <a:lnSpc>
                <a:spcPct val="104000"/>
              </a:lnSpc>
              <a:buNone/>
            </a:pPr>
            <a:r>
              <a:rPr lang="en-US" sz="1800" dirty="0">
                <a:solidFill>
                  <a:srgbClr val="2C3249"/>
                </a:solidFill>
                <a:latin typeface="Kanit Light" pitchFamily="34" charset="0"/>
                <a:ea typeface="Kanit Light" pitchFamily="34" charset="-122"/>
                <a:cs typeface="Kanit Light" pitchFamily="34" charset="-120"/>
              </a:rPr>
              <a:t>Ledger Entries</a:t>
            </a:r>
            <a:endParaRPr lang="en-US" sz="1800" dirty="0"/>
          </a:p>
        </p:txBody>
      </p:sp>
      <p:sp>
        <p:nvSpPr>
          <p:cNvPr id="15" name="Text 13"/>
          <p:cNvSpPr/>
          <p:nvPr/>
        </p:nvSpPr>
        <p:spPr>
          <a:xfrm>
            <a:off x="8004868" y="3602831"/>
            <a:ext cx="3525253" cy="798016"/>
          </a:xfrm>
          <a:prstGeom prst="rect">
            <a:avLst/>
          </a:prstGeom>
          <a:noFill/>
          <a:ln/>
        </p:spPr>
        <p:txBody>
          <a:bodyPr wrap="square" lIns="0" tIns="0" rIns="0" bIns="0" rtlCol="0" anchor="t">
            <a:normAutofit/>
          </a:bodyPr>
          <a:lstStyle/>
          <a:p>
            <a:pPr marL="0" indent="0" algn="l">
              <a:lnSpc>
                <a:spcPct val="119000"/>
              </a:lnSpc>
              <a:buNone/>
            </a:pPr>
            <a:r>
              <a:rPr lang="en-US" sz="1450" dirty="0">
                <a:solidFill>
                  <a:srgbClr val="2C3249"/>
                </a:solidFill>
                <a:latin typeface="Martel Sans" pitchFamily="34" charset="0"/>
                <a:ea typeface="Martel Sans" pitchFamily="34" charset="-122"/>
                <a:cs typeface="Martel Sans" pitchFamily="34" charset="-120"/>
              </a:rPr>
              <a:t>Passing entries in the ledger using the concept of double entry (Debits and Credits).</a:t>
            </a:r>
            <a:endParaRPr lang="en-US" sz="1450" dirty="0"/>
          </a:p>
        </p:txBody>
      </p:sp>
      <p:sp>
        <p:nvSpPr>
          <p:cNvPr id="16" name="Text 14"/>
          <p:cNvSpPr/>
          <p:nvPr/>
        </p:nvSpPr>
        <p:spPr>
          <a:xfrm>
            <a:off x="661475" y="4686796"/>
            <a:ext cx="372061" cy="232569"/>
          </a:xfrm>
          <a:prstGeom prst="rect">
            <a:avLst/>
          </a:prstGeom>
          <a:noFill/>
          <a:ln/>
        </p:spPr>
        <p:txBody>
          <a:bodyPr wrap="none" lIns="0" tIns="0" rIns="0" bIns="0" rtlCol="0" anchor="ctr"/>
          <a:lstStyle/>
          <a:p>
            <a:pPr marL="0" indent="0" algn="l">
              <a:lnSpc>
                <a:spcPct val="100000"/>
              </a:lnSpc>
              <a:buNone/>
            </a:pPr>
            <a:r>
              <a:rPr lang="en-US" sz="1450" dirty="0">
                <a:solidFill>
                  <a:srgbClr val="2C3249"/>
                </a:solidFill>
                <a:latin typeface="Kanit Light" pitchFamily="34" charset="0"/>
                <a:ea typeface="Kanit Light" pitchFamily="34" charset="-122"/>
                <a:cs typeface="Kanit Light" pitchFamily="34" charset="-120"/>
              </a:rPr>
              <a:t>04</a:t>
            </a:r>
            <a:endParaRPr lang="en-US" sz="1450" dirty="0"/>
          </a:p>
        </p:txBody>
      </p:sp>
      <p:sp>
        <p:nvSpPr>
          <p:cNvPr id="17" name="Shape 15"/>
          <p:cNvSpPr/>
          <p:nvPr/>
        </p:nvSpPr>
        <p:spPr>
          <a:xfrm>
            <a:off x="661475" y="4977606"/>
            <a:ext cx="5361052" cy="25400"/>
          </a:xfrm>
          <a:prstGeom prst="rect">
            <a:avLst/>
          </a:prstGeom>
          <a:solidFill>
            <a:srgbClr val="437066"/>
          </a:solidFill>
          <a:ln/>
        </p:spPr>
        <p:txBody>
          <a:bodyPr/>
          <a:lstStyle/>
          <a:p>
            <a:endParaRPr lang="en-US"/>
          </a:p>
        </p:txBody>
      </p:sp>
      <p:sp>
        <p:nvSpPr>
          <p:cNvPr id="18" name="Text 16"/>
          <p:cNvSpPr/>
          <p:nvPr/>
        </p:nvSpPr>
        <p:spPr>
          <a:xfrm>
            <a:off x="993948" y="4676316"/>
            <a:ext cx="5361052" cy="290711"/>
          </a:xfrm>
          <a:prstGeom prst="rect">
            <a:avLst/>
          </a:prstGeom>
          <a:noFill/>
          <a:ln/>
        </p:spPr>
        <p:txBody>
          <a:bodyPr wrap="none" lIns="0" tIns="0" rIns="0" bIns="0" rtlCol="0" anchor="t"/>
          <a:lstStyle/>
          <a:p>
            <a:pPr marL="0" indent="0" algn="l">
              <a:lnSpc>
                <a:spcPct val="104000"/>
              </a:lnSpc>
              <a:buNone/>
            </a:pPr>
            <a:r>
              <a:rPr lang="en-US" sz="1800" dirty="0">
                <a:solidFill>
                  <a:srgbClr val="2C3249"/>
                </a:solidFill>
                <a:latin typeface="Kanit Light" pitchFamily="34" charset="0"/>
                <a:ea typeface="Kanit Light" pitchFamily="34" charset="-122"/>
                <a:cs typeface="Kanit Light" pitchFamily="34" charset="-120"/>
              </a:rPr>
              <a:t>Trial Balance</a:t>
            </a:r>
            <a:endParaRPr lang="en-US" sz="1800" dirty="0"/>
          </a:p>
        </p:txBody>
      </p:sp>
      <p:sp>
        <p:nvSpPr>
          <p:cNvPr id="19" name="Text 17"/>
          <p:cNvSpPr/>
          <p:nvPr/>
        </p:nvSpPr>
        <p:spPr>
          <a:xfrm>
            <a:off x="661475" y="5499993"/>
            <a:ext cx="5361052" cy="532011"/>
          </a:xfrm>
          <a:prstGeom prst="rect">
            <a:avLst/>
          </a:prstGeom>
          <a:noFill/>
          <a:ln/>
        </p:spPr>
        <p:txBody>
          <a:bodyPr wrap="square" lIns="0" tIns="0" rIns="0" bIns="0" rtlCol="0" anchor="t">
            <a:normAutofit/>
          </a:bodyPr>
          <a:lstStyle/>
          <a:p>
            <a:pPr marL="0" indent="0" algn="l">
              <a:lnSpc>
                <a:spcPct val="119000"/>
              </a:lnSpc>
              <a:buNone/>
            </a:pPr>
            <a:r>
              <a:rPr lang="en-US" sz="1450" dirty="0">
                <a:solidFill>
                  <a:srgbClr val="2C3249"/>
                </a:solidFill>
                <a:latin typeface="Martel Sans" pitchFamily="34" charset="0"/>
                <a:ea typeface="Martel Sans" pitchFamily="34" charset="-122"/>
                <a:cs typeface="Martel Sans" pitchFamily="34" charset="-120"/>
              </a:rPr>
              <a:t>Summarizing the balances in the ledger using the trial balance.</a:t>
            </a:r>
            <a:endParaRPr lang="en-US" sz="1450" dirty="0"/>
          </a:p>
        </p:txBody>
      </p:sp>
      <p:sp>
        <p:nvSpPr>
          <p:cNvPr id="20" name="Text 18"/>
          <p:cNvSpPr/>
          <p:nvPr/>
        </p:nvSpPr>
        <p:spPr>
          <a:xfrm>
            <a:off x="6168970" y="4686796"/>
            <a:ext cx="372061" cy="232569"/>
          </a:xfrm>
          <a:prstGeom prst="rect">
            <a:avLst/>
          </a:prstGeom>
          <a:noFill/>
          <a:ln/>
        </p:spPr>
        <p:txBody>
          <a:bodyPr wrap="none" lIns="0" tIns="0" rIns="0" bIns="0" rtlCol="0" anchor="ctr"/>
          <a:lstStyle/>
          <a:p>
            <a:pPr marL="0" indent="0" algn="l">
              <a:lnSpc>
                <a:spcPct val="100000"/>
              </a:lnSpc>
              <a:buNone/>
            </a:pPr>
            <a:r>
              <a:rPr lang="en-US" sz="1450" dirty="0">
                <a:solidFill>
                  <a:srgbClr val="2C3249"/>
                </a:solidFill>
                <a:latin typeface="Kanit Light" pitchFamily="34" charset="0"/>
                <a:ea typeface="Kanit Light" pitchFamily="34" charset="-122"/>
                <a:cs typeface="Kanit Light" pitchFamily="34" charset="-120"/>
              </a:rPr>
              <a:t>05</a:t>
            </a:r>
            <a:endParaRPr lang="en-US" sz="1450" dirty="0"/>
          </a:p>
        </p:txBody>
      </p:sp>
      <p:sp>
        <p:nvSpPr>
          <p:cNvPr id="21" name="Shape 19"/>
          <p:cNvSpPr/>
          <p:nvPr/>
        </p:nvSpPr>
        <p:spPr>
          <a:xfrm>
            <a:off x="6168970" y="4977606"/>
            <a:ext cx="5361151" cy="25400"/>
          </a:xfrm>
          <a:prstGeom prst="rect">
            <a:avLst/>
          </a:prstGeom>
          <a:solidFill>
            <a:srgbClr val="437066"/>
          </a:solidFill>
          <a:ln/>
        </p:spPr>
        <p:txBody>
          <a:bodyPr/>
          <a:lstStyle/>
          <a:p>
            <a:endParaRPr lang="en-US"/>
          </a:p>
        </p:txBody>
      </p:sp>
      <p:sp>
        <p:nvSpPr>
          <p:cNvPr id="22" name="Text 20"/>
          <p:cNvSpPr/>
          <p:nvPr/>
        </p:nvSpPr>
        <p:spPr>
          <a:xfrm>
            <a:off x="6830849" y="4594585"/>
            <a:ext cx="5361151" cy="290711"/>
          </a:xfrm>
          <a:prstGeom prst="rect">
            <a:avLst/>
          </a:prstGeom>
          <a:noFill/>
          <a:ln/>
        </p:spPr>
        <p:txBody>
          <a:bodyPr wrap="none" lIns="0" tIns="0" rIns="0" bIns="0" rtlCol="0" anchor="t"/>
          <a:lstStyle/>
          <a:p>
            <a:pPr marL="0" indent="0" algn="l">
              <a:lnSpc>
                <a:spcPct val="104000"/>
              </a:lnSpc>
              <a:buNone/>
            </a:pPr>
            <a:r>
              <a:rPr lang="en-US" sz="1800" dirty="0">
                <a:solidFill>
                  <a:srgbClr val="2C3249"/>
                </a:solidFill>
                <a:latin typeface="Kanit Light" pitchFamily="34" charset="0"/>
                <a:ea typeface="Kanit Light" pitchFamily="34" charset="-122"/>
                <a:cs typeface="Kanit Light" pitchFamily="34" charset="-120"/>
              </a:rPr>
              <a:t>Financial Reports</a:t>
            </a:r>
            <a:endParaRPr lang="en-US" sz="1800" dirty="0"/>
          </a:p>
        </p:txBody>
      </p:sp>
      <p:sp>
        <p:nvSpPr>
          <p:cNvPr id="23" name="Text 21"/>
          <p:cNvSpPr/>
          <p:nvPr/>
        </p:nvSpPr>
        <p:spPr>
          <a:xfrm>
            <a:off x="6168970" y="5499993"/>
            <a:ext cx="5361151" cy="266005"/>
          </a:xfrm>
          <a:prstGeom prst="rect">
            <a:avLst/>
          </a:prstGeom>
          <a:noFill/>
          <a:ln/>
        </p:spPr>
        <p:txBody>
          <a:bodyPr wrap="none" lIns="0" tIns="0" rIns="0" bIns="0" rtlCol="0" anchor="t"/>
          <a:lstStyle/>
          <a:p>
            <a:pPr marL="0" indent="0" algn="l">
              <a:lnSpc>
                <a:spcPct val="119000"/>
              </a:lnSpc>
              <a:buNone/>
            </a:pPr>
            <a:r>
              <a:rPr lang="en-US" sz="1450" dirty="0">
                <a:solidFill>
                  <a:srgbClr val="2C3249"/>
                </a:solidFill>
                <a:latin typeface="Martel Sans" pitchFamily="34" charset="0"/>
                <a:ea typeface="Martel Sans" pitchFamily="34" charset="-122"/>
                <a:cs typeface="Martel Sans" pitchFamily="34" charset="-120"/>
              </a:rPr>
              <a:t>Preparing the financial reports for users and stakeholders.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4" y="383083"/>
            <a:ext cx="10868745" cy="1033463"/>
          </a:xfrm>
          <a:prstGeom prst="rect">
            <a:avLst/>
          </a:prstGeom>
          <a:noFill/>
          <a:ln/>
        </p:spPr>
        <p:txBody>
          <a:bodyPr wrap="square" lIns="0" tIns="0" rIns="0" bIns="0" rtlCol="0" anchor="t">
            <a:normAutofit/>
          </a:bodyPr>
          <a:lstStyle/>
          <a:p>
            <a:pPr marL="0" marR="0" lvl="0" indent="0" algn="ctr" defTabSz="914400" rtl="0" eaLnBrk="1" fontAlgn="auto" latinLnBrk="0" hangingPunct="1">
              <a:lnSpc>
                <a:spcPct val="104000"/>
              </a:lnSpc>
              <a:spcBef>
                <a:spcPts val="0"/>
              </a:spcBef>
              <a:spcAft>
                <a:spcPts val="0"/>
              </a:spcAft>
              <a:buClrTx/>
              <a:buSzTx/>
              <a:buFontTx/>
              <a:buNone/>
              <a:tabLst/>
              <a:defRPr/>
            </a:pPr>
            <a:r>
              <a:rPr kumimoji="0" lang="en-US" sz="3250" b="0" i="0" u="none" strike="noStrike" kern="1200" cap="none" spc="0" normalizeH="0" baseline="0" noProof="0" dirty="0">
                <a:ln>
                  <a:noFill/>
                </a:ln>
                <a:solidFill>
                  <a:srgbClr val="272D45"/>
                </a:solidFill>
                <a:effectLst/>
                <a:uLnTx/>
                <a:uFillTx/>
                <a:latin typeface="Kanit Light" pitchFamily="34" charset="0"/>
                <a:ea typeface="Kanit Light" pitchFamily="34" charset="-122"/>
                <a:cs typeface="Kanit Light" pitchFamily="34" charset="-120"/>
              </a:rPr>
              <a:t>From Source Document to Financial Statement: The Full Cycle</a:t>
            </a:r>
            <a:endParaRPr kumimoji="0" lang="en-US" sz="3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Image 0" descr="preencoded.png"/>
          <p:cNvPicPr>
            <a:picLocks noChangeAspect="1"/>
          </p:cNvPicPr>
          <p:nvPr/>
        </p:nvPicPr>
        <p:blipFill>
          <a:blip r:embed="rId3"/>
          <a:stretch>
            <a:fillRect/>
          </a:stretch>
        </p:blipFill>
        <p:spPr>
          <a:xfrm>
            <a:off x="2413634" y="2164755"/>
            <a:ext cx="7364427" cy="2763540"/>
          </a:xfrm>
          <a:prstGeom prst="rect">
            <a:avLst/>
          </a:prstGeom>
        </p:spPr>
      </p:pic>
      <p:sp>
        <p:nvSpPr>
          <p:cNvPr id="4" name="Text 1"/>
          <p:cNvSpPr/>
          <p:nvPr/>
        </p:nvSpPr>
        <p:spPr>
          <a:xfrm>
            <a:off x="8364021" y="4257420"/>
            <a:ext cx="1110776" cy="213982"/>
          </a:xfrm>
          <a:prstGeom prst="rect">
            <a:avLst/>
          </a:prstGeom>
          <a:noFill/>
          <a:ln/>
        </p:spPr>
        <p:txBody>
          <a:bodyPr wrap="none" lIns="0" tIns="0" rIns="0" bIns="0" rtlCol="0" anchor="t"/>
          <a:lstStyle/>
          <a:p>
            <a:pPr marL="0" marR="0" lvl="0" indent="0" algn="ctr" defTabSz="914400" rtl="0" eaLnBrk="1" fontAlgn="auto" latinLnBrk="0" hangingPunct="1">
              <a:lnSpc>
                <a:spcPct val="104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C3249"/>
                </a:solidFill>
                <a:effectLst/>
                <a:uLnTx/>
                <a:uFillTx/>
                <a:latin typeface="Kanit Light" pitchFamily="34" charset="0"/>
                <a:ea typeface="Kanit Light" pitchFamily="34" charset="-122"/>
                <a:cs typeface="Kanit Light" pitchFamily="34" charset="-120"/>
              </a:rPr>
              <a:t>Financials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p:nvPr/>
        </p:nvSpPr>
        <p:spPr>
          <a:xfrm>
            <a:off x="6964139" y="4257420"/>
            <a:ext cx="1110776" cy="213982"/>
          </a:xfrm>
          <a:prstGeom prst="rect">
            <a:avLst/>
          </a:prstGeom>
          <a:noFill/>
          <a:ln/>
        </p:spPr>
        <p:txBody>
          <a:bodyPr wrap="none" lIns="0" tIns="0" rIns="0" bIns="0" rtlCol="0" anchor="t"/>
          <a:lstStyle/>
          <a:p>
            <a:pPr marL="0" marR="0" lvl="0" indent="0" algn="ctr" defTabSz="914400" rtl="0" eaLnBrk="1" fontAlgn="auto" latinLnBrk="0" hangingPunct="1">
              <a:lnSpc>
                <a:spcPct val="104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C3249"/>
                </a:solidFill>
                <a:effectLst/>
                <a:uLnTx/>
                <a:uFillTx/>
                <a:latin typeface="Kanit Light" pitchFamily="34" charset="0"/>
                <a:ea typeface="Kanit Light" pitchFamily="34" charset="-122"/>
                <a:cs typeface="Kanit Light" pitchFamily="34" charset="-120"/>
              </a:rPr>
              <a:t>Trial Balance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p:cNvSpPr/>
          <p:nvPr/>
        </p:nvSpPr>
        <p:spPr>
          <a:xfrm>
            <a:off x="5571866" y="4257420"/>
            <a:ext cx="1110775" cy="213982"/>
          </a:xfrm>
          <a:prstGeom prst="rect">
            <a:avLst/>
          </a:prstGeom>
          <a:noFill/>
          <a:ln/>
        </p:spPr>
        <p:txBody>
          <a:bodyPr wrap="none" lIns="0" tIns="0" rIns="0" bIns="0" rtlCol="0" anchor="t"/>
          <a:lstStyle/>
          <a:p>
            <a:pPr marL="0" marR="0" lvl="0" indent="0" algn="ctr" defTabSz="914400" rtl="0" eaLnBrk="1" fontAlgn="auto" latinLnBrk="0" hangingPunct="1">
              <a:lnSpc>
                <a:spcPct val="104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C3249"/>
                </a:solidFill>
                <a:effectLst/>
                <a:uLnTx/>
                <a:uFillTx/>
                <a:latin typeface="Kanit Light" pitchFamily="34" charset="0"/>
                <a:ea typeface="Kanit Light" pitchFamily="34" charset="-122"/>
                <a:cs typeface="Kanit Light" pitchFamily="34" charset="-120"/>
              </a:rPr>
              <a:t>Ledger</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4179592" y="4257420"/>
            <a:ext cx="1110776" cy="213982"/>
          </a:xfrm>
          <a:prstGeom prst="rect">
            <a:avLst/>
          </a:prstGeom>
          <a:noFill/>
          <a:ln/>
        </p:spPr>
        <p:txBody>
          <a:bodyPr wrap="none" lIns="0" tIns="0" rIns="0" bIns="0" rtlCol="0" anchor="t"/>
          <a:lstStyle/>
          <a:p>
            <a:pPr marL="0" marR="0" lvl="0" indent="0" algn="ctr" defTabSz="914400" rtl="0" eaLnBrk="1" fontAlgn="auto" latinLnBrk="0" hangingPunct="1">
              <a:lnSpc>
                <a:spcPct val="104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C3249"/>
                </a:solidFill>
                <a:effectLst/>
                <a:uLnTx/>
                <a:uFillTx/>
                <a:latin typeface="Kanit Light" pitchFamily="34" charset="0"/>
                <a:ea typeface="Kanit Light" pitchFamily="34" charset="-122"/>
                <a:cs typeface="Kanit Light" pitchFamily="34" charset="-120"/>
              </a:rPr>
              <a:t>Prime Entry</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2756887" y="4257420"/>
            <a:ext cx="1110776" cy="213982"/>
          </a:xfrm>
          <a:prstGeom prst="rect">
            <a:avLst/>
          </a:prstGeom>
          <a:noFill/>
          <a:ln/>
        </p:spPr>
        <p:txBody>
          <a:bodyPr wrap="none" lIns="0" tIns="0" rIns="0" bIns="0" rtlCol="0" anchor="t"/>
          <a:lstStyle/>
          <a:p>
            <a:pPr marL="0" marR="0" lvl="0" indent="0" algn="ctr" defTabSz="914400" rtl="0" eaLnBrk="1" fontAlgn="auto" latinLnBrk="0" hangingPunct="1">
              <a:lnSpc>
                <a:spcPct val="104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C3249"/>
                </a:solidFill>
                <a:effectLst/>
                <a:uLnTx/>
                <a:uFillTx/>
                <a:latin typeface="Kanit Light" pitchFamily="34" charset="0"/>
                <a:ea typeface="Kanit Light" pitchFamily="34" charset="-122"/>
                <a:cs typeface="Kanit Light" pitchFamily="34" charset="-120"/>
              </a:rPr>
              <a:t>Source Docs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661473" y="4928295"/>
            <a:ext cx="10868745" cy="899716"/>
          </a:xfrm>
          <a:prstGeom prst="rect">
            <a:avLst/>
          </a:prstGeom>
          <a:noFill/>
          <a:ln/>
        </p:spPr>
        <p:txBody>
          <a:bodyPr wrap="square" lIns="0" tIns="0" rIns="0" bIns="0" rtlCol="0" anchor="t">
            <a:noAutofit/>
          </a:bodyPr>
          <a:lstStyle/>
          <a:p>
            <a:pPr marL="0" marR="0" lvl="0" indent="0" algn="just" defTabSz="914400" rtl="0" eaLnBrk="1" fontAlgn="auto" latinLnBrk="0" hangingPunct="1">
              <a:lnSpc>
                <a:spcPct val="113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2C3249"/>
                </a:solidFill>
                <a:effectLst/>
                <a:uLnTx/>
                <a:uFillTx/>
                <a:latin typeface="Martel Sans" pitchFamily="34" charset="0"/>
                <a:ea typeface="Martel Sans" pitchFamily="34" charset="-122"/>
                <a:cs typeface="Martel Sans" pitchFamily="34" charset="-120"/>
              </a:rPr>
              <a:t>The FAR process is a continuous and interconnected cycle. Each stage depends on the accuracy and completeness of the previous one. Source documents provide the raw evidence; books of prime entry organize transactions by type; the ledger classifies and accumulates balances; the trial balance checks arithmetical accuracy; and the financial statements communicate the results to users. In a computerized system, many of these stages are automated, but the underlying principles remain the same.</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7929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297764"/>
            <a:ext cx="6296860" cy="1328936"/>
          </a:xfrm>
          <a:prstGeom prst="rect">
            <a:avLst/>
          </a:prstGeom>
          <a:noFill/>
          <a:ln/>
        </p:spPr>
        <p:txBody>
          <a:bodyPr wrap="square" lIns="0" tIns="0" rIns="0" bIns="0" rtlCol="0" anchor="t">
            <a:normAutofit/>
          </a:bodyPr>
          <a:lstStyle/>
          <a:p>
            <a:pPr marL="0" indent="0" algn="l">
              <a:lnSpc>
                <a:spcPct val="104000"/>
              </a:lnSpc>
              <a:buNone/>
            </a:pPr>
            <a:r>
              <a:rPr lang="en-US" sz="4150" dirty="0">
                <a:solidFill>
                  <a:srgbClr val="272D45"/>
                </a:solidFill>
                <a:latin typeface="Kanit Light" pitchFamily="34" charset="0"/>
                <a:ea typeface="Kanit Light" pitchFamily="34" charset="-122"/>
                <a:cs typeface="Kanit Light" pitchFamily="34" charset="-120"/>
              </a:rPr>
              <a:t>Source Documents: Definition and Purpose</a:t>
            </a:r>
            <a:endParaRPr lang="en-US" sz="4150" dirty="0"/>
          </a:p>
        </p:txBody>
      </p:sp>
      <p:sp>
        <p:nvSpPr>
          <p:cNvPr id="4" name="Text 1"/>
          <p:cNvSpPr/>
          <p:nvPr/>
        </p:nvSpPr>
        <p:spPr>
          <a:xfrm>
            <a:off x="661475" y="1785938"/>
            <a:ext cx="6296860" cy="2262088"/>
          </a:xfrm>
          <a:prstGeom prst="rect">
            <a:avLst/>
          </a:prstGeom>
          <a:noFill/>
          <a:ln/>
        </p:spPr>
        <p:txBody>
          <a:bodyPr wrap="square" lIns="0" tIns="0" rIns="0" bIns="0" rtlCol="0" anchor="t">
            <a:noAutofit/>
          </a:bodyPr>
          <a:lstStyle/>
          <a:p>
            <a:pPr marL="0" indent="0" algn="just">
              <a:lnSpc>
                <a:spcPct val="127000"/>
              </a:lnSpc>
              <a:buNone/>
            </a:pPr>
            <a:r>
              <a:rPr lang="en-US" dirty="0">
                <a:solidFill>
                  <a:srgbClr val="2C3249"/>
                </a:solidFill>
                <a:latin typeface="Martel Sans" pitchFamily="34" charset="0"/>
                <a:ea typeface="Martel Sans" pitchFamily="34" charset="-122"/>
                <a:cs typeface="Martel Sans" pitchFamily="34" charset="-120"/>
              </a:rPr>
              <a:t>A </a:t>
            </a:r>
            <a:r>
              <a:rPr lang="en-US" b="1" dirty="0">
                <a:solidFill>
                  <a:srgbClr val="2C3249"/>
                </a:solidFill>
                <a:latin typeface="Martel Sans Bold" pitchFamily="34" charset="0"/>
                <a:ea typeface="Martel Sans Bold" pitchFamily="34" charset="-122"/>
                <a:cs typeface="Martel Sans Bold" pitchFamily="34" charset="-120"/>
              </a:rPr>
              <a:t>source document</a:t>
            </a:r>
            <a:r>
              <a:rPr lang="en-US" dirty="0">
                <a:solidFill>
                  <a:srgbClr val="2C3249"/>
                </a:solidFill>
                <a:latin typeface="Martel Sans" pitchFamily="34" charset="0"/>
                <a:ea typeface="Martel Sans" pitchFamily="34" charset="-122"/>
                <a:cs typeface="Martel Sans" pitchFamily="34" charset="-120"/>
              </a:rPr>
              <a:t> is an original or supporting document that provides evidence of a financial transaction or event and serves as the basis for recording the transaction in an organization's accounting records. Source documents are critical for </a:t>
            </a:r>
            <a:r>
              <a:rPr lang="en-US" b="1" dirty="0">
                <a:solidFill>
                  <a:srgbClr val="2C3249"/>
                </a:solidFill>
                <a:latin typeface="Martel Sans Bold" pitchFamily="34" charset="0"/>
                <a:ea typeface="Martel Sans Bold" pitchFamily="34" charset="-122"/>
                <a:cs typeface="Martel Sans Bold" pitchFamily="34" charset="-120"/>
              </a:rPr>
              <a:t>audit trails, authorization, accountability and verification</a:t>
            </a:r>
            <a:r>
              <a:rPr lang="en-US" dirty="0">
                <a:solidFill>
                  <a:srgbClr val="2C3249"/>
                </a:solidFill>
                <a:latin typeface="Martel Sans" pitchFamily="34" charset="0"/>
                <a:ea typeface="Martel Sans" pitchFamily="34" charset="-122"/>
                <a:cs typeface="Martel Sans" pitchFamily="34" charset="-120"/>
              </a:rPr>
              <a:t> because they provide documentary evidence supporting entries made in the accounting records.</a:t>
            </a:r>
            <a:endParaRPr lang="en-US" dirty="0"/>
          </a:p>
        </p:txBody>
      </p:sp>
      <p:sp>
        <p:nvSpPr>
          <p:cNvPr id="5" name="Shape 2"/>
          <p:cNvSpPr/>
          <p:nvPr/>
        </p:nvSpPr>
        <p:spPr>
          <a:xfrm>
            <a:off x="661475" y="4756051"/>
            <a:ext cx="6296860" cy="1439168"/>
          </a:xfrm>
          <a:prstGeom prst="roundRect">
            <a:avLst>
              <a:gd name="adj" fmla="val 6206"/>
            </a:avLst>
          </a:prstGeom>
          <a:solidFill>
            <a:srgbClr val="DFECE9"/>
          </a:solidFill>
          <a:ln/>
        </p:spPr>
        <p:txBody>
          <a:bodyPr/>
          <a:lstStyle/>
          <a:p>
            <a:endParaRPr lang="en-US"/>
          </a:p>
        </p:txBody>
      </p:sp>
      <p:pic>
        <p:nvPicPr>
          <p:cNvPr id="6" name="Image 1" descr="preencoded.png"/>
          <p:cNvPicPr>
            <a:picLocks noChangeAspect="1"/>
          </p:cNvPicPr>
          <p:nvPr/>
        </p:nvPicPr>
        <p:blipFill>
          <a:blip r:embed="rId4"/>
          <a:stretch>
            <a:fillRect/>
          </a:stretch>
        </p:blipFill>
        <p:spPr>
          <a:xfrm>
            <a:off x="874095" y="5030192"/>
            <a:ext cx="265800" cy="212626"/>
          </a:xfrm>
          <a:prstGeom prst="rect">
            <a:avLst/>
          </a:prstGeom>
        </p:spPr>
      </p:pic>
      <p:sp>
        <p:nvSpPr>
          <p:cNvPr id="7" name="Text 3"/>
          <p:cNvSpPr/>
          <p:nvPr/>
        </p:nvSpPr>
        <p:spPr>
          <a:xfrm>
            <a:off x="1352516" y="5000427"/>
            <a:ext cx="5393198" cy="969466"/>
          </a:xfrm>
          <a:prstGeom prst="rect">
            <a:avLst/>
          </a:prstGeom>
          <a:noFill/>
          <a:ln/>
        </p:spPr>
        <p:txBody>
          <a:bodyPr wrap="square" lIns="0" tIns="0" rIns="0" bIns="0" rtlCol="0" anchor="t">
            <a:noAutofit/>
          </a:bodyPr>
          <a:lstStyle/>
          <a:p>
            <a:pPr marL="0" indent="0" algn="just">
              <a:lnSpc>
                <a:spcPct val="127000"/>
              </a:lnSpc>
              <a:buNone/>
            </a:pPr>
            <a:r>
              <a:rPr lang="en-US" dirty="0">
                <a:solidFill>
                  <a:srgbClr val="000000"/>
                </a:solidFill>
                <a:latin typeface="Martel Sans" pitchFamily="34" charset="0"/>
                <a:ea typeface="Martel Sans" pitchFamily="34" charset="-122"/>
                <a:cs typeface="Martel Sans" pitchFamily="34" charset="-120"/>
              </a:rPr>
              <a:t>Key point: Without reliable source documents, the integrity of the entire accounting and reporting cycle is compromised.</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93061"/>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272D45"/>
                </a:solidFill>
                <a:latin typeface="Kanit Light" pitchFamily="34" charset="0"/>
                <a:ea typeface="Kanit Light" pitchFamily="34" charset="-122"/>
                <a:cs typeface="Kanit Light" pitchFamily="34" charset="-120"/>
              </a:rPr>
              <a:t>Source Documents: Invoices and Credit/Debit Notes</a:t>
            </a:r>
            <a:endParaRPr lang="en-US" sz="3700" dirty="0"/>
          </a:p>
        </p:txBody>
      </p:sp>
      <p:sp>
        <p:nvSpPr>
          <p:cNvPr id="3" name="Shape 1"/>
          <p:cNvSpPr/>
          <p:nvPr/>
        </p:nvSpPr>
        <p:spPr>
          <a:xfrm>
            <a:off x="661475" y="1624310"/>
            <a:ext cx="5358770" cy="2175570"/>
          </a:xfrm>
          <a:prstGeom prst="roundRect">
            <a:avLst>
              <a:gd name="adj" fmla="val 3649"/>
            </a:avLst>
          </a:prstGeom>
          <a:solidFill>
            <a:srgbClr val="FFFFFF"/>
          </a:solidFill>
          <a:ln w="25399">
            <a:solidFill>
              <a:srgbClr val="C5D2CF"/>
            </a:solidFill>
            <a:prstDash val="solid"/>
          </a:ln>
        </p:spPr>
        <p:txBody>
          <a:bodyPr/>
          <a:lstStyle/>
          <a:p>
            <a:endParaRPr lang="en-US"/>
          </a:p>
        </p:txBody>
      </p:sp>
      <p:sp>
        <p:nvSpPr>
          <p:cNvPr id="4" name="Text 2"/>
          <p:cNvSpPr/>
          <p:nvPr/>
        </p:nvSpPr>
        <p:spPr>
          <a:xfrm>
            <a:off x="875881" y="1838722"/>
            <a:ext cx="4929957" cy="295275"/>
          </a:xfrm>
          <a:prstGeom prst="rect">
            <a:avLst/>
          </a:prstGeom>
          <a:noFill/>
          <a:ln/>
        </p:spPr>
        <p:txBody>
          <a:bodyPr wrap="none" lIns="0" tIns="0" rIns="0" bIns="0" rtlCol="0" anchor="t"/>
          <a:lstStyle/>
          <a:p>
            <a:pPr marL="0" indent="0" algn="l">
              <a:lnSpc>
                <a:spcPct val="104000"/>
              </a:lnSpc>
              <a:buNone/>
            </a:pPr>
            <a:r>
              <a:rPr lang="en-US" sz="1850" b="1" dirty="0">
                <a:solidFill>
                  <a:srgbClr val="2C3249"/>
                </a:solidFill>
                <a:latin typeface="Kanit Light" pitchFamily="34" charset="0"/>
                <a:ea typeface="Kanit Light" pitchFamily="34" charset="-122"/>
                <a:cs typeface="Kanit Light" pitchFamily="34" charset="-120"/>
              </a:rPr>
              <a:t>Sales Invoice</a:t>
            </a:r>
            <a:endParaRPr lang="en-US" sz="1850" b="1" dirty="0"/>
          </a:p>
        </p:txBody>
      </p:sp>
      <p:sp>
        <p:nvSpPr>
          <p:cNvPr id="5" name="Text 3"/>
          <p:cNvSpPr/>
          <p:nvPr/>
        </p:nvSpPr>
        <p:spPr>
          <a:xfrm>
            <a:off x="875881" y="2224683"/>
            <a:ext cx="4929957" cy="1360785"/>
          </a:xfrm>
          <a:prstGeom prst="rect">
            <a:avLst/>
          </a:prstGeom>
          <a:noFill/>
          <a:ln/>
        </p:spPr>
        <p:txBody>
          <a:bodyPr wrap="square" lIns="0" tIns="0" rIns="0" bIns="0" rtlCol="0" anchor="t">
            <a:normAutofit/>
          </a:bodyPr>
          <a:lstStyle/>
          <a:p>
            <a:pPr marL="0" indent="0" algn="just">
              <a:lnSpc>
                <a:spcPct val="120000"/>
              </a:lnSpc>
              <a:buNone/>
            </a:pPr>
            <a:r>
              <a:rPr lang="en-US" sz="1450" dirty="0">
                <a:solidFill>
                  <a:srgbClr val="2C3249"/>
                </a:solidFill>
                <a:latin typeface="Martel Sans" pitchFamily="34" charset="0"/>
                <a:ea typeface="Martel Sans" pitchFamily="34" charset="-122"/>
                <a:cs typeface="Martel Sans" pitchFamily="34" charset="-120"/>
              </a:rPr>
              <a:t>Issued by a seller to a customer showing goods or services sold, quantities, prices, taxes and the total amount payable. Provides evidence of a </a:t>
            </a:r>
            <a:r>
              <a:rPr lang="en-US" sz="1450" b="1" dirty="0">
                <a:solidFill>
                  <a:srgbClr val="2C3249"/>
                </a:solidFill>
                <a:latin typeface="Martel Sans Bold" pitchFamily="34" charset="0"/>
                <a:ea typeface="Martel Sans Bold" pitchFamily="34" charset="-122"/>
                <a:cs typeface="Martel Sans Bold" pitchFamily="34" charset="-120"/>
              </a:rPr>
              <a:t>credit sale</a:t>
            </a:r>
            <a:r>
              <a:rPr lang="en-US" sz="1450" dirty="0">
                <a:solidFill>
                  <a:srgbClr val="2C3249"/>
                </a:solidFill>
                <a:latin typeface="Martel Sans" pitchFamily="34" charset="0"/>
                <a:ea typeface="Martel Sans" pitchFamily="34" charset="-122"/>
                <a:cs typeface="Martel Sans" pitchFamily="34" charset="-120"/>
              </a:rPr>
              <a:t> and supports recognition of sales revenue and receivables.</a:t>
            </a:r>
            <a:endParaRPr lang="en-US" sz="1450" dirty="0"/>
          </a:p>
        </p:txBody>
      </p:sp>
      <p:sp>
        <p:nvSpPr>
          <p:cNvPr id="6" name="Shape 4"/>
          <p:cNvSpPr/>
          <p:nvPr/>
        </p:nvSpPr>
        <p:spPr>
          <a:xfrm>
            <a:off x="6171450" y="1624310"/>
            <a:ext cx="5358770" cy="2175570"/>
          </a:xfrm>
          <a:prstGeom prst="roundRect">
            <a:avLst>
              <a:gd name="adj" fmla="val 3649"/>
            </a:avLst>
          </a:prstGeom>
          <a:solidFill>
            <a:srgbClr val="FFFFFF"/>
          </a:solidFill>
          <a:ln w="25399">
            <a:solidFill>
              <a:srgbClr val="C5D2CF"/>
            </a:solidFill>
            <a:prstDash val="solid"/>
          </a:ln>
        </p:spPr>
        <p:txBody>
          <a:bodyPr/>
          <a:lstStyle/>
          <a:p>
            <a:endParaRPr lang="en-US"/>
          </a:p>
        </p:txBody>
      </p:sp>
      <p:sp>
        <p:nvSpPr>
          <p:cNvPr id="7" name="Text 5"/>
          <p:cNvSpPr/>
          <p:nvPr/>
        </p:nvSpPr>
        <p:spPr>
          <a:xfrm>
            <a:off x="6385857" y="1838722"/>
            <a:ext cx="4929957" cy="295275"/>
          </a:xfrm>
          <a:prstGeom prst="rect">
            <a:avLst/>
          </a:prstGeom>
          <a:noFill/>
          <a:ln/>
        </p:spPr>
        <p:txBody>
          <a:bodyPr wrap="none" lIns="0" tIns="0" rIns="0" bIns="0" rtlCol="0" anchor="t"/>
          <a:lstStyle/>
          <a:p>
            <a:pPr marL="0" indent="0" algn="l">
              <a:lnSpc>
                <a:spcPct val="104000"/>
              </a:lnSpc>
              <a:buNone/>
            </a:pPr>
            <a:r>
              <a:rPr lang="en-US" sz="1850" b="1" dirty="0">
                <a:solidFill>
                  <a:srgbClr val="2C3249"/>
                </a:solidFill>
                <a:latin typeface="Kanit Light" pitchFamily="34" charset="0"/>
                <a:ea typeface="Kanit Light" pitchFamily="34" charset="-122"/>
                <a:cs typeface="Kanit Light" pitchFamily="34" charset="-120"/>
              </a:rPr>
              <a:t>Purchases Invoice</a:t>
            </a:r>
            <a:endParaRPr lang="en-US" sz="1850" b="1" dirty="0"/>
          </a:p>
        </p:txBody>
      </p:sp>
      <p:sp>
        <p:nvSpPr>
          <p:cNvPr id="8" name="Text 6"/>
          <p:cNvSpPr/>
          <p:nvPr/>
        </p:nvSpPr>
        <p:spPr>
          <a:xfrm>
            <a:off x="6385857" y="2224683"/>
            <a:ext cx="4929957" cy="1088628"/>
          </a:xfrm>
          <a:prstGeom prst="rect">
            <a:avLst/>
          </a:prstGeom>
          <a:noFill/>
          <a:ln/>
        </p:spPr>
        <p:txBody>
          <a:bodyPr wrap="square" lIns="0" tIns="0" rIns="0" bIns="0" rtlCol="0" anchor="t">
            <a:normAutofit/>
          </a:bodyPr>
          <a:lstStyle/>
          <a:p>
            <a:pPr algn="just">
              <a:lnSpc>
                <a:spcPct val="120000"/>
              </a:lnSpc>
            </a:pPr>
            <a:r>
              <a:rPr lang="en-US" sz="1450" dirty="0">
                <a:solidFill>
                  <a:srgbClr val="2C3249"/>
                </a:solidFill>
                <a:latin typeface="Martel Sans" pitchFamily="34" charset="0"/>
                <a:cs typeface="Martel Sans" pitchFamily="34" charset="-120"/>
              </a:rPr>
              <a:t>Received from a supplier showing goods or services purchased, quantities, prices, taxes and the amount payable. Supports recording of purchases/expenses and payables.</a:t>
            </a:r>
          </a:p>
        </p:txBody>
      </p:sp>
      <p:sp>
        <p:nvSpPr>
          <p:cNvPr id="9" name="Shape 7"/>
          <p:cNvSpPr/>
          <p:nvPr/>
        </p:nvSpPr>
        <p:spPr>
          <a:xfrm>
            <a:off x="661475" y="3951089"/>
            <a:ext cx="5358770" cy="2175570"/>
          </a:xfrm>
          <a:prstGeom prst="roundRect">
            <a:avLst>
              <a:gd name="adj" fmla="val 3649"/>
            </a:avLst>
          </a:prstGeom>
          <a:solidFill>
            <a:srgbClr val="FFFFFF"/>
          </a:solidFill>
          <a:ln w="25399">
            <a:solidFill>
              <a:srgbClr val="C5D2CF"/>
            </a:solidFill>
            <a:prstDash val="solid"/>
          </a:ln>
        </p:spPr>
        <p:txBody>
          <a:bodyPr/>
          <a:lstStyle/>
          <a:p>
            <a:endParaRPr lang="en-US"/>
          </a:p>
        </p:txBody>
      </p:sp>
      <p:sp>
        <p:nvSpPr>
          <p:cNvPr id="10" name="Text 8"/>
          <p:cNvSpPr/>
          <p:nvPr/>
        </p:nvSpPr>
        <p:spPr>
          <a:xfrm>
            <a:off x="875881" y="4165501"/>
            <a:ext cx="4929957" cy="295275"/>
          </a:xfrm>
          <a:prstGeom prst="rect">
            <a:avLst/>
          </a:prstGeom>
          <a:noFill/>
          <a:ln/>
        </p:spPr>
        <p:txBody>
          <a:bodyPr wrap="none" lIns="0" tIns="0" rIns="0" bIns="0" rtlCol="0" anchor="t"/>
          <a:lstStyle/>
          <a:p>
            <a:pPr marL="0" indent="0" algn="l">
              <a:lnSpc>
                <a:spcPct val="104000"/>
              </a:lnSpc>
              <a:buNone/>
            </a:pPr>
            <a:r>
              <a:rPr lang="en-US" sz="1850" b="1" dirty="0">
                <a:solidFill>
                  <a:srgbClr val="2C3249"/>
                </a:solidFill>
                <a:latin typeface="Kanit Light" pitchFamily="34" charset="0"/>
                <a:ea typeface="Kanit Light" pitchFamily="34" charset="-122"/>
                <a:cs typeface="Kanit Light" pitchFamily="34" charset="-120"/>
              </a:rPr>
              <a:t>Credit Note</a:t>
            </a:r>
            <a:endParaRPr lang="en-US" sz="1850" b="1" dirty="0"/>
          </a:p>
        </p:txBody>
      </p:sp>
      <p:sp>
        <p:nvSpPr>
          <p:cNvPr id="11" name="Text 9"/>
          <p:cNvSpPr/>
          <p:nvPr/>
        </p:nvSpPr>
        <p:spPr>
          <a:xfrm>
            <a:off x="875881" y="4551462"/>
            <a:ext cx="4929957" cy="1360785"/>
          </a:xfrm>
          <a:prstGeom prst="rect">
            <a:avLst/>
          </a:prstGeom>
          <a:noFill/>
          <a:ln/>
        </p:spPr>
        <p:txBody>
          <a:bodyPr wrap="square" lIns="0" tIns="0" rIns="0" bIns="0" rtlCol="0" anchor="t">
            <a:normAutofit/>
          </a:bodyPr>
          <a:lstStyle/>
          <a:p>
            <a:pPr algn="just">
              <a:lnSpc>
                <a:spcPct val="120000"/>
              </a:lnSpc>
            </a:pPr>
            <a:r>
              <a:rPr lang="en-US" sz="1450" dirty="0">
                <a:solidFill>
                  <a:srgbClr val="2C3249"/>
                </a:solidFill>
                <a:latin typeface="Martel Sans" pitchFamily="34" charset="0"/>
                <a:cs typeface="Martel Sans" pitchFamily="34" charset="-120"/>
              </a:rPr>
              <a:t>Issued by a seller to reduce the amount previously invoiced to a customer, commonly due to goods returned, overcharging, discounts or other adjustments. Reduces the customer's amount payable and the seller's receivable/revenue.</a:t>
            </a:r>
          </a:p>
        </p:txBody>
      </p:sp>
      <p:sp>
        <p:nvSpPr>
          <p:cNvPr id="12" name="Shape 10"/>
          <p:cNvSpPr/>
          <p:nvPr/>
        </p:nvSpPr>
        <p:spPr>
          <a:xfrm>
            <a:off x="6171450" y="3951089"/>
            <a:ext cx="5358770" cy="2175570"/>
          </a:xfrm>
          <a:prstGeom prst="roundRect">
            <a:avLst>
              <a:gd name="adj" fmla="val 3649"/>
            </a:avLst>
          </a:prstGeom>
          <a:solidFill>
            <a:srgbClr val="FFFFFF"/>
          </a:solidFill>
          <a:ln w="25399">
            <a:solidFill>
              <a:srgbClr val="C5D2CF"/>
            </a:solidFill>
            <a:prstDash val="solid"/>
          </a:ln>
        </p:spPr>
        <p:txBody>
          <a:bodyPr/>
          <a:lstStyle/>
          <a:p>
            <a:endParaRPr lang="en-US"/>
          </a:p>
        </p:txBody>
      </p:sp>
      <p:sp>
        <p:nvSpPr>
          <p:cNvPr id="13" name="Text 11"/>
          <p:cNvSpPr/>
          <p:nvPr/>
        </p:nvSpPr>
        <p:spPr>
          <a:xfrm>
            <a:off x="6385857" y="4165501"/>
            <a:ext cx="4929957" cy="295275"/>
          </a:xfrm>
          <a:prstGeom prst="rect">
            <a:avLst/>
          </a:prstGeom>
          <a:noFill/>
          <a:ln/>
        </p:spPr>
        <p:txBody>
          <a:bodyPr wrap="none" lIns="0" tIns="0" rIns="0" bIns="0" rtlCol="0" anchor="t"/>
          <a:lstStyle/>
          <a:p>
            <a:pPr marL="0" indent="0" algn="l">
              <a:lnSpc>
                <a:spcPct val="104000"/>
              </a:lnSpc>
              <a:buNone/>
            </a:pPr>
            <a:r>
              <a:rPr lang="en-US" sz="1850" b="1" dirty="0">
                <a:solidFill>
                  <a:srgbClr val="2C3249"/>
                </a:solidFill>
                <a:latin typeface="Kanit Light" pitchFamily="34" charset="0"/>
                <a:ea typeface="Kanit Light" pitchFamily="34" charset="-122"/>
                <a:cs typeface="Kanit Light" pitchFamily="34" charset="-120"/>
              </a:rPr>
              <a:t>Debit Note</a:t>
            </a:r>
            <a:endParaRPr lang="en-US" sz="1850" b="1" dirty="0"/>
          </a:p>
        </p:txBody>
      </p:sp>
      <p:sp>
        <p:nvSpPr>
          <p:cNvPr id="14" name="Text 12"/>
          <p:cNvSpPr/>
          <p:nvPr/>
        </p:nvSpPr>
        <p:spPr>
          <a:xfrm>
            <a:off x="6385857" y="4551462"/>
            <a:ext cx="4929957" cy="1360785"/>
          </a:xfrm>
          <a:prstGeom prst="rect">
            <a:avLst/>
          </a:prstGeom>
          <a:noFill/>
          <a:ln/>
        </p:spPr>
        <p:txBody>
          <a:bodyPr wrap="square" lIns="0" tIns="0" rIns="0" bIns="0" rtlCol="0" anchor="t">
            <a:normAutofit/>
          </a:bodyPr>
          <a:lstStyle/>
          <a:p>
            <a:pPr algn="just">
              <a:lnSpc>
                <a:spcPct val="120000"/>
              </a:lnSpc>
            </a:pPr>
            <a:r>
              <a:rPr lang="en-US" sz="1450" dirty="0">
                <a:solidFill>
                  <a:srgbClr val="2C3249"/>
                </a:solidFill>
                <a:latin typeface="Martel Sans" pitchFamily="34" charset="0"/>
                <a:cs typeface="Martel Sans" pitchFamily="34" charset="-120"/>
              </a:rPr>
              <a:t>Used to increase or adjust an amount previously invoiced, e.g. where the seller undercharged or additional charges arise. A buyer may also issue a debit note to notify a supplier of goods returned or an amount being claimed.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37077" y="360313"/>
            <a:ext cx="10868745"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272D45"/>
                </a:solidFill>
                <a:latin typeface="Kanit Light" pitchFamily="34" charset="0"/>
                <a:ea typeface="Kanit Light" pitchFamily="34" charset="-122"/>
                <a:cs typeface="Kanit Light" pitchFamily="34" charset="-120"/>
              </a:rPr>
              <a:t>Source Documents: Cash, Vouchers, Bank Statements &amp; Ownership</a:t>
            </a:r>
            <a:endParaRPr lang="en-US" sz="3700" dirty="0"/>
          </a:p>
        </p:txBody>
      </p:sp>
      <p:sp>
        <p:nvSpPr>
          <p:cNvPr id="3" name="Shape 1"/>
          <p:cNvSpPr/>
          <p:nvPr/>
        </p:nvSpPr>
        <p:spPr>
          <a:xfrm>
            <a:off x="661475" y="2229941"/>
            <a:ext cx="5358770" cy="1865312"/>
          </a:xfrm>
          <a:prstGeom prst="roundRect">
            <a:avLst>
              <a:gd name="adj" fmla="val 4256"/>
            </a:avLst>
          </a:prstGeom>
          <a:solidFill>
            <a:srgbClr val="DFECE9"/>
          </a:solidFill>
          <a:ln w="6350">
            <a:solidFill>
              <a:srgbClr val="C5D2CF"/>
            </a:solidFill>
            <a:prstDash val="solid"/>
          </a:ln>
        </p:spPr>
        <p:txBody>
          <a:bodyPr/>
          <a:lstStyle/>
          <a:p>
            <a:endParaRPr lang="en-US"/>
          </a:p>
        </p:txBody>
      </p:sp>
      <p:sp>
        <p:nvSpPr>
          <p:cNvPr id="4" name="Text 2"/>
          <p:cNvSpPr/>
          <p:nvPr/>
        </p:nvSpPr>
        <p:spPr>
          <a:xfrm>
            <a:off x="856832" y="2373723"/>
            <a:ext cx="4968056" cy="295275"/>
          </a:xfrm>
          <a:prstGeom prst="rect">
            <a:avLst/>
          </a:prstGeom>
          <a:noFill/>
          <a:ln/>
        </p:spPr>
        <p:txBody>
          <a:bodyPr wrap="none" lIns="0" tIns="0" rIns="0" bIns="0" rtlCol="0" anchor="t"/>
          <a:lstStyle/>
          <a:p>
            <a:pPr marL="0" indent="0" algn="l">
              <a:lnSpc>
                <a:spcPct val="104000"/>
              </a:lnSpc>
              <a:buNone/>
            </a:pPr>
            <a:r>
              <a:rPr lang="en-US" sz="1850" b="1" dirty="0">
                <a:solidFill>
                  <a:srgbClr val="2C3249"/>
                </a:solidFill>
                <a:latin typeface="Kanit Light" pitchFamily="34" charset="0"/>
                <a:ea typeface="Kanit Light" pitchFamily="34" charset="-122"/>
                <a:cs typeface="Kanit Light" pitchFamily="34" charset="-120"/>
              </a:rPr>
              <a:t>Cash Receipts</a:t>
            </a:r>
            <a:endParaRPr lang="en-US" sz="1850" b="1" dirty="0"/>
          </a:p>
        </p:txBody>
      </p:sp>
      <p:sp>
        <p:nvSpPr>
          <p:cNvPr id="5" name="Text 3"/>
          <p:cNvSpPr/>
          <p:nvPr/>
        </p:nvSpPr>
        <p:spPr>
          <a:xfrm>
            <a:off x="856832" y="2811264"/>
            <a:ext cx="4968056" cy="1088628"/>
          </a:xfrm>
          <a:prstGeom prst="rect">
            <a:avLst/>
          </a:prstGeom>
          <a:noFill/>
          <a:ln/>
        </p:spPr>
        <p:txBody>
          <a:bodyPr wrap="square" lIns="0" tIns="0" rIns="0" bIns="0" rtlCol="0" anchor="t">
            <a:normAutofit/>
          </a:bodyPr>
          <a:lstStyle/>
          <a:p>
            <a:pPr marL="0" indent="0" algn="just">
              <a:lnSpc>
                <a:spcPct val="120000"/>
              </a:lnSpc>
              <a:buNone/>
            </a:pPr>
            <a:r>
              <a:rPr lang="en-US" sz="1450" dirty="0">
                <a:solidFill>
                  <a:srgbClr val="2C3249"/>
                </a:solidFill>
                <a:latin typeface="Martel Sans" pitchFamily="34" charset="0"/>
                <a:ea typeface="Martel Sans" pitchFamily="34" charset="-122"/>
                <a:cs typeface="Martel Sans" pitchFamily="34" charset="-120"/>
              </a:rPr>
              <a:t>Documents providing evidence that the organization has received cash or money,  from customers, sale of assets or other income. They support recording of cash/bank receipts.</a:t>
            </a:r>
            <a:endParaRPr lang="en-US" sz="1450" dirty="0"/>
          </a:p>
        </p:txBody>
      </p:sp>
      <p:sp>
        <p:nvSpPr>
          <p:cNvPr id="6" name="Shape 4"/>
          <p:cNvSpPr/>
          <p:nvPr/>
        </p:nvSpPr>
        <p:spPr>
          <a:xfrm>
            <a:off x="6171450" y="2229941"/>
            <a:ext cx="5358770" cy="1865312"/>
          </a:xfrm>
          <a:prstGeom prst="roundRect">
            <a:avLst>
              <a:gd name="adj" fmla="val 4256"/>
            </a:avLst>
          </a:prstGeom>
          <a:solidFill>
            <a:srgbClr val="DFECE9"/>
          </a:solidFill>
          <a:ln w="6350">
            <a:solidFill>
              <a:srgbClr val="C5D2CF"/>
            </a:solidFill>
            <a:prstDash val="solid"/>
          </a:ln>
        </p:spPr>
        <p:txBody>
          <a:bodyPr/>
          <a:lstStyle/>
          <a:p>
            <a:endParaRPr lang="en-US"/>
          </a:p>
        </p:txBody>
      </p:sp>
      <p:sp>
        <p:nvSpPr>
          <p:cNvPr id="7" name="Text 5"/>
          <p:cNvSpPr/>
          <p:nvPr/>
        </p:nvSpPr>
        <p:spPr>
          <a:xfrm>
            <a:off x="6366807" y="2425303"/>
            <a:ext cx="4968056" cy="295275"/>
          </a:xfrm>
          <a:prstGeom prst="rect">
            <a:avLst/>
          </a:prstGeom>
          <a:noFill/>
          <a:ln/>
        </p:spPr>
        <p:txBody>
          <a:bodyPr wrap="none" lIns="0" tIns="0" rIns="0" bIns="0" rtlCol="0" anchor="t"/>
          <a:lstStyle/>
          <a:p>
            <a:pPr>
              <a:lnSpc>
                <a:spcPct val="104000"/>
              </a:lnSpc>
            </a:pPr>
            <a:r>
              <a:rPr lang="en-US" sz="1850" b="1" dirty="0">
                <a:solidFill>
                  <a:srgbClr val="2C3249"/>
                </a:solidFill>
                <a:latin typeface="Kanit Light" pitchFamily="34" charset="0"/>
                <a:cs typeface="Kanit Light" pitchFamily="34" charset="-120"/>
              </a:rPr>
              <a:t>Cash Vouchers</a:t>
            </a:r>
          </a:p>
        </p:txBody>
      </p:sp>
      <p:sp>
        <p:nvSpPr>
          <p:cNvPr id="8" name="Text 6"/>
          <p:cNvSpPr/>
          <p:nvPr/>
        </p:nvSpPr>
        <p:spPr>
          <a:xfrm>
            <a:off x="6366807" y="2811264"/>
            <a:ext cx="4968056" cy="1088628"/>
          </a:xfrm>
          <a:prstGeom prst="rect">
            <a:avLst/>
          </a:prstGeom>
          <a:noFill/>
          <a:ln/>
        </p:spPr>
        <p:txBody>
          <a:bodyPr wrap="square" lIns="0" tIns="0" rIns="0" bIns="0" rtlCol="0" anchor="t">
            <a:normAutofit/>
          </a:bodyPr>
          <a:lstStyle/>
          <a:p>
            <a:pPr marL="0" indent="0" algn="just">
              <a:lnSpc>
                <a:spcPct val="120000"/>
              </a:lnSpc>
              <a:buNone/>
            </a:pPr>
            <a:r>
              <a:rPr lang="en-US" sz="1450" dirty="0">
                <a:solidFill>
                  <a:srgbClr val="2C3249"/>
                </a:solidFill>
                <a:latin typeface="Martel Sans" pitchFamily="34" charset="0"/>
                <a:ea typeface="Martel Sans" pitchFamily="34" charset="-122"/>
                <a:cs typeface="Martel Sans" pitchFamily="34" charset="-120"/>
              </a:rPr>
              <a:t>Documents prepared to provide evidence and authorization for cash payments or disbursements, such as payment for petty expenses, transport or supplies.</a:t>
            </a:r>
            <a:endParaRPr lang="en-US" sz="1450" dirty="0"/>
          </a:p>
        </p:txBody>
      </p:sp>
      <p:sp>
        <p:nvSpPr>
          <p:cNvPr id="9" name="Shape 7"/>
          <p:cNvSpPr/>
          <p:nvPr/>
        </p:nvSpPr>
        <p:spPr>
          <a:xfrm>
            <a:off x="661475" y="4246463"/>
            <a:ext cx="5358770" cy="1865312"/>
          </a:xfrm>
          <a:prstGeom prst="roundRect">
            <a:avLst>
              <a:gd name="adj" fmla="val 4256"/>
            </a:avLst>
          </a:prstGeom>
          <a:solidFill>
            <a:srgbClr val="DFECE9"/>
          </a:solidFill>
          <a:ln w="6350">
            <a:solidFill>
              <a:srgbClr val="C5D2CF"/>
            </a:solidFill>
            <a:prstDash val="solid"/>
          </a:ln>
        </p:spPr>
        <p:txBody>
          <a:bodyPr/>
          <a:lstStyle/>
          <a:p>
            <a:endParaRPr lang="en-US"/>
          </a:p>
        </p:txBody>
      </p:sp>
      <p:sp>
        <p:nvSpPr>
          <p:cNvPr id="10" name="Text 8"/>
          <p:cNvSpPr/>
          <p:nvPr/>
        </p:nvSpPr>
        <p:spPr>
          <a:xfrm>
            <a:off x="856832" y="4441825"/>
            <a:ext cx="4968056" cy="295275"/>
          </a:xfrm>
          <a:prstGeom prst="rect">
            <a:avLst/>
          </a:prstGeom>
          <a:noFill/>
          <a:ln/>
        </p:spPr>
        <p:txBody>
          <a:bodyPr wrap="none" lIns="0" tIns="0" rIns="0" bIns="0" rtlCol="0" anchor="t"/>
          <a:lstStyle/>
          <a:p>
            <a:pPr>
              <a:lnSpc>
                <a:spcPct val="104000"/>
              </a:lnSpc>
            </a:pPr>
            <a:r>
              <a:rPr lang="en-US" sz="1850" b="1" dirty="0">
                <a:solidFill>
                  <a:srgbClr val="2C3249"/>
                </a:solidFill>
                <a:latin typeface="Kanit Light" pitchFamily="34" charset="0"/>
                <a:cs typeface="Kanit Light" pitchFamily="34" charset="-120"/>
              </a:rPr>
              <a:t>Bank Statements</a:t>
            </a:r>
          </a:p>
        </p:txBody>
      </p:sp>
      <p:sp>
        <p:nvSpPr>
          <p:cNvPr id="11" name="Text 9"/>
          <p:cNvSpPr/>
          <p:nvPr/>
        </p:nvSpPr>
        <p:spPr>
          <a:xfrm>
            <a:off x="856832" y="4827786"/>
            <a:ext cx="4968056" cy="1088628"/>
          </a:xfrm>
          <a:prstGeom prst="rect">
            <a:avLst/>
          </a:prstGeom>
          <a:noFill/>
          <a:ln/>
        </p:spPr>
        <p:txBody>
          <a:bodyPr wrap="square" lIns="0" tIns="0" rIns="0" bIns="0" rtlCol="0" anchor="t">
            <a:normAutofit/>
          </a:bodyPr>
          <a:lstStyle/>
          <a:p>
            <a:pPr marL="0" indent="0" algn="just">
              <a:lnSpc>
                <a:spcPct val="120000"/>
              </a:lnSpc>
              <a:buNone/>
            </a:pPr>
            <a:r>
              <a:rPr lang="en-US" sz="1450" dirty="0">
                <a:solidFill>
                  <a:srgbClr val="2C3249"/>
                </a:solidFill>
                <a:latin typeface="Martel Sans" pitchFamily="34" charset="0"/>
                <a:ea typeface="Martel Sans" pitchFamily="34" charset="-122"/>
                <a:cs typeface="Martel Sans" pitchFamily="34" charset="-120"/>
              </a:rPr>
              <a:t>Periodic statements issued by a bank showing deposits, withdrawals, transfers, bank charges, interest and the resulting bank balance. Used for recording and reconciling bank transactions.</a:t>
            </a:r>
            <a:endParaRPr lang="en-US" sz="1450" dirty="0"/>
          </a:p>
        </p:txBody>
      </p:sp>
      <p:sp>
        <p:nvSpPr>
          <p:cNvPr id="12" name="Shape 10"/>
          <p:cNvSpPr/>
          <p:nvPr/>
        </p:nvSpPr>
        <p:spPr>
          <a:xfrm>
            <a:off x="6171450" y="4246463"/>
            <a:ext cx="5358770" cy="1865312"/>
          </a:xfrm>
          <a:prstGeom prst="roundRect">
            <a:avLst>
              <a:gd name="adj" fmla="val 4256"/>
            </a:avLst>
          </a:prstGeom>
          <a:solidFill>
            <a:srgbClr val="DFECE9"/>
          </a:solidFill>
          <a:ln w="6350">
            <a:solidFill>
              <a:srgbClr val="C5D2CF"/>
            </a:solidFill>
            <a:prstDash val="solid"/>
          </a:ln>
        </p:spPr>
        <p:txBody>
          <a:bodyPr/>
          <a:lstStyle/>
          <a:p>
            <a:endParaRPr lang="en-US"/>
          </a:p>
        </p:txBody>
      </p:sp>
      <p:sp>
        <p:nvSpPr>
          <p:cNvPr id="13" name="Text 11"/>
          <p:cNvSpPr/>
          <p:nvPr/>
        </p:nvSpPr>
        <p:spPr>
          <a:xfrm>
            <a:off x="6366807" y="4441825"/>
            <a:ext cx="4968056" cy="295275"/>
          </a:xfrm>
          <a:prstGeom prst="rect">
            <a:avLst/>
          </a:prstGeom>
          <a:noFill/>
          <a:ln/>
        </p:spPr>
        <p:txBody>
          <a:bodyPr wrap="none" lIns="0" tIns="0" rIns="0" bIns="0" rtlCol="0" anchor="t"/>
          <a:lstStyle/>
          <a:p>
            <a:pPr>
              <a:lnSpc>
                <a:spcPct val="104000"/>
              </a:lnSpc>
            </a:pPr>
            <a:r>
              <a:rPr lang="en-US" sz="1850" b="1" dirty="0">
                <a:solidFill>
                  <a:srgbClr val="2C3249"/>
                </a:solidFill>
                <a:latin typeface="Kanit Light" pitchFamily="34" charset="0"/>
                <a:cs typeface="Kanit Light" pitchFamily="34" charset="-120"/>
              </a:rPr>
              <a:t>Ownership Documents</a:t>
            </a:r>
          </a:p>
        </p:txBody>
      </p:sp>
      <p:sp>
        <p:nvSpPr>
          <p:cNvPr id="14" name="Text 12"/>
          <p:cNvSpPr/>
          <p:nvPr/>
        </p:nvSpPr>
        <p:spPr>
          <a:xfrm>
            <a:off x="6366807" y="4827786"/>
            <a:ext cx="4968056" cy="1088628"/>
          </a:xfrm>
          <a:prstGeom prst="rect">
            <a:avLst/>
          </a:prstGeom>
          <a:noFill/>
          <a:ln/>
        </p:spPr>
        <p:txBody>
          <a:bodyPr wrap="square" lIns="0" tIns="0" rIns="0" bIns="0" rtlCol="0" anchor="t">
            <a:normAutofit/>
          </a:bodyPr>
          <a:lstStyle/>
          <a:p>
            <a:pPr marL="0" indent="0" algn="just">
              <a:lnSpc>
                <a:spcPct val="120000"/>
              </a:lnSpc>
              <a:buNone/>
            </a:pPr>
            <a:r>
              <a:rPr lang="en-US" sz="1450" dirty="0">
                <a:solidFill>
                  <a:srgbClr val="2C3249"/>
                </a:solidFill>
                <a:latin typeface="Martel Sans" pitchFamily="34" charset="0"/>
                <a:ea typeface="Martel Sans" pitchFamily="34" charset="-122"/>
                <a:cs typeface="Martel Sans" pitchFamily="34" charset="-120"/>
              </a:rPr>
              <a:t>Legal documents evidencing ownership or rights over assets e.g. vehicle logbooks, title deeds for land/buildings, and share certificates as evidence of ownership of shares in another company.</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91384"/>
            <a:ext cx="10868745" cy="654050"/>
          </a:xfrm>
          <a:prstGeom prst="rect">
            <a:avLst/>
          </a:prstGeom>
          <a:noFill/>
          <a:ln/>
        </p:spPr>
        <p:txBody>
          <a:bodyPr wrap="none" lIns="0" tIns="0" rIns="0" bIns="0" rtlCol="0" anchor="t"/>
          <a:lstStyle/>
          <a:p>
            <a:pPr marL="0" indent="0" algn="l">
              <a:lnSpc>
                <a:spcPct val="104000"/>
              </a:lnSpc>
              <a:buNone/>
            </a:pPr>
            <a:r>
              <a:rPr lang="en-US" sz="4100" dirty="0">
                <a:solidFill>
                  <a:srgbClr val="272D45"/>
                </a:solidFill>
                <a:latin typeface="Kanit Light" pitchFamily="34" charset="0"/>
                <a:ea typeface="Kanit Light" pitchFamily="34" charset="-122"/>
                <a:cs typeface="Kanit Light" pitchFamily="34" charset="-120"/>
              </a:rPr>
              <a:t>Books of Prime Entry: Overview</a:t>
            </a:r>
            <a:endParaRPr lang="en-US" sz="4100" dirty="0"/>
          </a:p>
        </p:txBody>
      </p:sp>
      <p:sp>
        <p:nvSpPr>
          <p:cNvPr id="3" name="Text 1"/>
          <p:cNvSpPr/>
          <p:nvPr/>
        </p:nvSpPr>
        <p:spPr>
          <a:xfrm>
            <a:off x="661376" y="1239044"/>
            <a:ext cx="10868745" cy="947440"/>
          </a:xfrm>
          <a:prstGeom prst="rect">
            <a:avLst/>
          </a:prstGeom>
          <a:noFill/>
          <a:ln/>
        </p:spPr>
        <p:txBody>
          <a:bodyPr wrap="square" lIns="0" tIns="0" rIns="0" bIns="0" rtlCol="0" anchor="t">
            <a:noAutofit/>
          </a:bodyPr>
          <a:lstStyle/>
          <a:p>
            <a:pPr marL="0" indent="0" algn="just">
              <a:lnSpc>
                <a:spcPct val="126000"/>
              </a:lnSpc>
              <a:buNone/>
            </a:pPr>
            <a:r>
              <a:rPr lang="en-US" dirty="0">
                <a:solidFill>
                  <a:srgbClr val="2C3249"/>
                </a:solidFill>
                <a:latin typeface="Martel Sans" pitchFamily="34" charset="0"/>
                <a:ea typeface="Martel Sans" pitchFamily="34" charset="-122"/>
                <a:cs typeface="Martel Sans" pitchFamily="34" charset="-120"/>
              </a:rPr>
              <a:t>A </a:t>
            </a:r>
            <a:r>
              <a:rPr lang="en-US" b="1" dirty="0">
                <a:solidFill>
                  <a:srgbClr val="2C3249"/>
                </a:solidFill>
                <a:latin typeface="Martel Sans Bold" pitchFamily="34" charset="0"/>
                <a:ea typeface="Martel Sans Bold" pitchFamily="34" charset="-122"/>
                <a:cs typeface="Martel Sans Bold" pitchFamily="34" charset="-120"/>
              </a:rPr>
              <a:t>Book of Prime Entry</a:t>
            </a:r>
            <a:r>
              <a:rPr lang="en-US" dirty="0">
                <a:solidFill>
                  <a:srgbClr val="2C3249"/>
                </a:solidFill>
                <a:latin typeface="Martel Sans" pitchFamily="34" charset="0"/>
                <a:ea typeface="Martel Sans" pitchFamily="34" charset="-122"/>
                <a:cs typeface="Martel Sans" pitchFamily="34" charset="-120"/>
              </a:rPr>
              <a:t> (also called a Book of Original Entry) is an accounting record in which financial transactions are first recorded from source documents before the relevant information is posted to the ledger accounts. These books help organize transactions by type and provide an important audit trail.</a:t>
            </a:r>
            <a:endParaRPr lang="en-US" dirty="0"/>
          </a:p>
        </p:txBody>
      </p:sp>
      <p:sp>
        <p:nvSpPr>
          <p:cNvPr id="4" name="Shape 2"/>
          <p:cNvSpPr/>
          <p:nvPr/>
        </p:nvSpPr>
        <p:spPr>
          <a:xfrm>
            <a:off x="661475" y="3040063"/>
            <a:ext cx="3499259" cy="2958802"/>
          </a:xfrm>
          <a:prstGeom prst="roundRect">
            <a:avLst>
              <a:gd name="adj" fmla="val 2971"/>
            </a:avLst>
          </a:prstGeom>
          <a:solidFill>
            <a:srgbClr val="DFECE9"/>
          </a:solidFill>
          <a:ln w="12700">
            <a:solidFill>
              <a:srgbClr val="C5D2CF"/>
            </a:solidFill>
            <a:prstDash val="solid"/>
          </a:ln>
        </p:spPr>
        <p:txBody>
          <a:bodyPr/>
          <a:lstStyle/>
          <a:p>
            <a:endParaRPr lang="en-US"/>
          </a:p>
        </p:txBody>
      </p:sp>
      <p:sp>
        <p:nvSpPr>
          <p:cNvPr id="5" name="Shape 3"/>
          <p:cNvSpPr/>
          <p:nvPr/>
        </p:nvSpPr>
        <p:spPr>
          <a:xfrm>
            <a:off x="883422" y="3262015"/>
            <a:ext cx="627940" cy="627955"/>
          </a:xfrm>
          <a:prstGeom prst="ellipse">
            <a:avLst/>
          </a:prstGeom>
          <a:solidFill>
            <a:srgbClr val="437066"/>
          </a:solidFill>
          <a:ln/>
        </p:spPr>
        <p:txBody>
          <a:bodyPr/>
          <a:lstStyle/>
          <a:p>
            <a:endParaRPr lang="en-US"/>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6058" y="3434655"/>
            <a:ext cx="282568" cy="282575"/>
          </a:xfrm>
          <a:prstGeom prst="rect">
            <a:avLst/>
          </a:prstGeom>
        </p:spPr>
      </p:pic>
      <p:sp>
        <p:nvSpPr>
          <p:cNvPr id="7" name="Text 4"/>
          <p:cNvSpPr/>
          <p:nvPr/>
        </p:nvSpPr>
        <p:spPr>
          <a:xfrm>
            <a:off x="883422" y="4075410"/>
            <a:ext cx="3055365" cy="327025"/>
          </a:xfrm>
          <a:prstGeom prst="rect">
            <a:avLst/>
          </a:prstGeom>
          <a:noFill/>
          <a:ln/>
        </p:spPr>
        <p:txBody>
          <a:bodyPr wrap="none" lIns="0" tIns="0" rIns="0" bIns="0" rtlCol="0" anchor="t"/>
          <a:lstStyle/>
          <a:p>
            <a:pPr marL="0" indent="0" algn="l">
              <a:lnSpc>
                <a:spcPct val="104000"/>
              </a:lnSpc>
              <a:buNone/>
            </a:pPr>
            <a:r>
              <a:rPr lang="en-US" sz="2050" b="1" dirty="0">
                <a:solidFill>
                  <a:srgbClr val="2C3249"/>
                </a:solidFill>
                <a:latin typeface="Kanit Light" pitchFamily="34" charset="0"/>
                <a:ea typeface="Kanit Light" pitchFamily="34" charset="-122"/>
                <a:cs typeface="Kanit Light" pitchFamily="34" charset="-120"/>
              </a:rPr>
              <a:t>Journals</a:t>
            </a:r>
            <a:endParaRPr lang="en-US" sz="2050" b="1" dirty="0"/>
          </a:p>
        </p:txBody>
      </p:sp>
      <p:sp>
        <p:nvSpPr>
          <p:cNvPr id="8" name="Text 5"/>
          <p:cNvSpPr/>
          <p:nvPr/>
        </p:nvSpPr>
        <p:spPr>
          <a:xfrm>
            <a:off x="883422" y="4513659"/>
            <a:ext cx="3055365" cy="1263253"/>
          </a:xfrm>
          <a:prstGeom prst="rect">
            <a:avLst/>
          </a:prstGeom>
          <a:noFill/>
          <a:ln/>
        </p:spPr>
        <p:txBody>
          <a:bodyPr wrap="square" lIns="0" tIns="0" rIns="0" bIns="0" rtlCol="0" anchor="t">
            <a:normAutofit/>
          </a:bodyPr>
          <a:lstStyle/>
          <a:p>
            <a:pPr marL="0" indent="0" algn="l">
              <a:lnSpc>
                <a:spcPct val="126000"/>
              </a:lnSpc>
              <a:buNone/>
            </a:pPr>
            <a:r>
              <a:rPr lang="en-US" sz="1600" dirty="0">
                <a:solidFill>
                  <a:srgbClr val="2C3249"/>
                </a:solidFill>
                <a:latin typeface="Martel Sans" pitchFamily="34" charset="0"/>
                <a:ea typeface="Martel Sans" pitchFamily="34" charset="-122"/>
                <a:cs typeface="Martel Sans" pitchFamily="34" charset="-120"/>
              </a:rPr>
              <a:t>Record transactions according to their nature and type, particularly credit transactions and adjustments.</a:t>
            </a:r>
            <a:endParaRPr lang="en-US" sz="1600" dirty="0"/>
          </a:p>
        </p:txBody>
      </p:sp>
      <p:sp>
        <p:nvSpPr>
          <p:cNvPr id="9" name="Shape 6"/>
          <p:cNvSpPr/>
          <p:nvPr/>
        </p:nvSpPr>
        <p:spPr>
          <a:xfrm>
            <a:off x="4346169" y="3040063"/>
            <a:ext cx="3499259" cy="2958802"/>
          </a:xfrm>
          <a:prstGeom prst="roundRect">
            <a:avLst>
              <a:gd name="adj" fmla="val 2971"/>
            </a:avLst>
          </a:prstGeom>
          <a:solidFill>
            <a:srgbClr val="DFECE9"/>
          </a:solidFill>
          <a:ln w="12700">
            <a:solidFill>
              <a:srgbClr val="C5D2CF"/>
            </a:solidFill>
            <a:prstDash val="solid"/>
          </a:ln>
        </p:spPr>
        <p:txBody>
          <a:bodyPr/>
          <a:lstStyle/>
          <a:p>
            <a:endParaRPr lang="en-US"/>
          </a:p>
        </p:txBody>
      </p:sp>
      <p:sp>
        <p:nvSpPr>
          <p:cNvPr id="10" name="Shape 7"/>
          <p:cNvSpPr/>
          <p:nvPr/>
        </p:nvSpPr>
        <p:spPr>
          <a:xfrm>
            <a:off x="4568115" y="3262015"/>
            <a:ext cx="627940" cy="627955"/>
          </a:xfrm>
          <a:prstGeom prst="ellipse">
            <a:avLst/>
          </a:prstGeom>
          <a:solidFill>
            <a:srgbClr val="437066"/>
          </a:solidFill>
          <a:ln/>
        </p:spPr>
        <p:txBody>
          <a:bodyPr/>
          <a:lstStyle/>
          <a:p>
            <a:endParaRPr lang="en-US"/>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40752" y="3434655"/>
            <a:ext cx="282568" cy="282575"/>
          </a:xfrm>
          <a:prstGeom prst="rect">
            <a:avLst/>
          </a:prstGeom>
        </p:spPr>
      </p:pic>
      <p:sp>
        <p:nvSpPr>
          <p:cNvPr id="12" name="Text 8"/>
          <p:cNvSpPr/>
          <p:nvPr/>
        </p:nvSpPr>
        <p:spPr>
          <a:xfrm>
            <a:off x="4568115" y="4075410"/>
            <a:ext cx="3055365" cy="327025"/>
          </a:xfrm>
          <a:prstGeom prst="rect">
            <a:avLst/>
          </a:prstGeom>
          <a:noFill/>
          <a:ln/>
        </p:spPr>
        <p:txBody>
          <a:bodyPr wrap="none" lIns="0" tIns="0" rIns="0" bIns="0" rtlCol="0" anchor="t"/>
          <a:lstStyle/>
          <a:p>
            <a:pPr marL="0" indent="0" algn="l">
              <a:lnSpc>
                <a:spcPct val="104000"/>
              </a:lnSpc>
              <a:buNone/>
            </a:pPr>
            <a:r>
              <a:rPr lang="en-US" sz="2050" b="1" dirty="0">
                <a:solidFill>
                  <a:srgbClr val="2C3249"/>
                </a:solidFill>
                <a:latin typeface="Kanit Light" pitchFamily="34" charset="0"/>
                <a:ea typeface="Kanit Light" pitchFamily="34" charset="-122"/>
                <a:cs typeface="Kanit Light" pitchFamily="34" charset="-120"/>
              </a:rPr>
              <a:t>Cash Books</a:t>
            </a:r>
            <a:endParaRPr lang="en-US" sz="2050" b="1" dirty="0"/>
          </a:p>
        </p:txBody>
      </p:sp>
      <p:sp>
        <p:nvSpPr>
          <p:cNvPr id="13" name="Text 9"/>
          <p:cNvSpPr/>
          <p:nvPr/>
        </p:nvSpPr>
        <p:spPr>
          <a:xfrm>
            <a:off x="4568115" y="4513659"/>
            <a:ext cx="3055365" cy="631627"/>
          </a:xfrm>
          <a:prstGeom prst="rect">
            <a:avLst/>
          </a:prstGeom>
          <a:noFill/>
          <a:ln/>
        </p:spPr>
        <p:txBody>
          <a:bodyPr wrap="square" lIns="0" tIns="0" rIns="0" bIns="0" rtlCol="0" anchor="t">
            <a:normAutofit/>
          </a:bodyPr>
          <a:lstStyle/>
          <a:p>
            <a:pPr marL="0" indent="0" algn="l">
              <a:lnSpc>
                <a:spcPct val="126000"/>
              </a:lnSpc>
              <a:buNone/>
            </a:pPr>
            <a:r>
              <a:rPr lang="en-US" sz="1600" dirty="0">
                <a:solidFill>
                  <a:srgbClr val="2C3249"/>
                </a:solidFill>
                <a:latin typeface="Martel Sans" pitchFamily="34" charset="0"/>
                <a:ea typeface="Martel Sans" pitchFamily="34" charset="-122"/>
                <a:cs typeface="Martel Sans" pitchFamily="34" charset="-120"/>
              </a:rPr>
              <a:t>Record cash and bank receipts and payments.</a:t>
            </a:r>
            <a:endParaRPr lang="en-US" sz="1600" dirty="0"/>
          </a:p>
        </p:txBody>
      </p:sp>
      <p:sp>
        <p:nvSpPr>
          <p:cNvPr id="14" name="Shape 10"/>
          <p:cNvSpPr/>
          <p:nvPr/>
        </p:nvSpPr>
        <p:spPr>
          <a:xfrm>
            <a:off x="8030862" y="3040063"/>
            <a:ext cx="3499259" cy="2958802"/>
          </a:xfrm>
          <a:prstGeom prst="roundRect">
            <a:avLst>
              <a:gd name="adj" fmla="val 2971"/>
            </a:avLst>
          </a:prstGeom>
          <a:solidFill>
            <a:srgbClr val="DFECE9"/>
          </a:solidFill>
          <a:ln w="12700">
            <a:solidFill>
              <a:srgbClr val="C5D2CF"/>
            </a:solidFill>
            <a:prstDash val="solid"/>
          </a:ln>
        </p:spPr>
        <p:txBody>
          <a:bodyPr/>
          <a:lstStyle/>
          <a:p>
            <a:endParaRPr lang="en-US"/>
          </a:p>
        </p:txBody>
      </p:sp>
      <p:sp>
        <p:nvSpPr>
          <p:cNvPr id="15" name="Shape 11"/>
          <p:cNvSpPr/>
          <p:nvPr/>
        </p:nvSpPr>
        <p:spPr>
          <a:xfrm>
            <a:off x="8252809" y="3262015"/>
            <a:ext cx="627940" cy="627955"/>
          </a:xfrm>
          <a:prstGeom prst="ellipse">
            <a:avLst/>
          </a:prstGeom>
          <a:solidFill>
            <a:srgbClr val="437066"/>
          </a:solidFill>
          <a:ln/>
        </p:spPr>
        <p:txBody>
          <a:bodyPr/>
          <a:lstStyle/>
          <a:p>
            <a:endParaRPr lang="en-US"/>
          </a:p>
        </p:txBody>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25445" y="3434655"/>
            <a:ext cx="282568" cy="282575"/>
          </a:xfrm>
          <a:prstGeom prst="rect">
            <a:avLst/>
          </a:prstGeom>
        </p:spPr>
      </p:pic>
      <p:sp>
        <p:nvSpPr>
          <p:cNvPr id="17" name="Text 12"/>
          <p:cNvSpPr/>
          <p:nvPr/>
        </p:nvSpPr>
        <p:spPr>
          <a:xfrm>
            <a:off x="8252809" y="4075410"/>
            <a:ext cx="3055365" cy="327025"/>
          </a:xfrm>
          <a:prstGeom prst="rect">
            <a:avLst/>
          </a:prstGeom>
          <a:noFill/>
          <a:ln/>
        </p:spPr>
        <p:txBody>
          <a:bodyPr wrap="none" lIns="0" tIns="0" rIns="0" bIns="0" rtlCol="0" anchor="t"/>
          <a:lstStyle/>
          <a:p>
            <a:pPr marL="0" indent="0" algn="l">
              <a:lnSpc>
                <a:spcPct val="104000"/>
              </a:lnSpc>
              <a:buNone/>
            </a:pPr>
            <a:r>
              <a:rPr lang="en-US" sz="2050" b="1" dirty="0">
                <a:solidFill>
                  <a:srgbClr val="2C3249"/>
                </a:solidFill>
                <a:latin typeface="Kanit Light" pitchFamily="34" charset="0"/>
                <a:ea typeface="Kanit Light" pitchFamily="34" charset="-122"/>
                <a:cs typeface="Kanit Light" pitchFamily="34" charset="-120"/>
              </a:rPr>
              <a:t>Registers</a:t>
            </a:r>
            <a:endParaRPr lang="en-US" sz="2050" b="1" dirty="0"/>
          </a:p>
        </p:txBody>
      </p:sp>
      <p:sp>
        <p:nvSpPr>
          <p:cNvPr id="18" name="Text 13"/>
          <p:cNvSpPr/>
          <p:nvPr/>
        </p:nvSpPr>
        <p:spPr>
          <a:xfrm>
            <a:off x="8252809" y="4513659"/>
            <a:ext cx="3055365" cy="1263253"/>
          </a:xfrm>
          <a:prstGeom prst="rect">
            <a:avLst/>
          </a:prstGeom>
          <a:noFill/>
          <a:ln/>
        </p:spPr>
        <p:txBody>
          <a:bodyPr wrap="square" lIns="0" tIns="0" rIns="0" bIns="0" rtlCol="0" anchor="t">
            <a:normAutofit/>
          </a:bodyPr>
          <a:lstStyle/>
          <a:p>
            <a:pPr marL="0" indent="0" algn="l">
              <a:lnSpc>
                <a:spcPct val="126000"/>
              </a:lnSpc>
              <a:buNone/>
            </a:pPr>
            <a:r>
              <a:rPr lang="en-US" sz="1600" dirty="0">
                <a:solidFill>
                  <a:srgbClr val="2C3249"/>
                </a:solidFill>
                <a:latin typeface="Martel Sans" pitchFamily="34" charset="0"/>
                <a:ea typeface="Martel Sans" pitchFamily="34" charset="-122"/>
                <a:cs typeface="Martel Sans" pitchFamily="34" charset="-120"/>
              </a:rPr>
              <a:t>Maintain detailed subsidiary records about assets, inventory, customers, suppliers and shareholders.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322957"/>
            <a:ext cx="10868745" cy="664468"/>
          </a:xfrm>
          <a:prstGeom prst="rect">
            <a:avLst/>
          </a:prstGeom>
          <a:noFill/>
          <a:ln/>
        </p:spPr>
        <p:txBody>
          <a:bodyPr wrap="none" lIns="0" tIns="0" rIns="0" bIns="0" rtlCol="0" anchor="t"/>
          <a:lstStyle/>
          <a:p>
            <a:pPr marL="0" indent="0" algn="l">
              <a:lnSpc>
                <a:spcPct val="104000"/>
              </a:lnSpc>
              <a:buNone/>
            </a:pPr>
            <a:r>
              <a:rPr lang="en-US" sz="4150" dirty="0">
                <a:solidFill>
                  <a:srgbClr val="272D45"/>
                </a:solidFill>
                <a:latin typeface="Kanit Light" pitchFamily="34" charset="0"/>
                <a:ea typeface="Kanit Light" pitchFamily="34" charset="-122"/>
                <a:cs typeface="Kanit Light" pitchFamily="34" charset="-120"/>
              </a:rPr>
              <a:t>Journals: Sales, Purchases and Returns</a:t>
            </a:r>
            <a:endParaRPr lang="en-US" sz="41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802805"/>
            <a:ext cx="5338728" cy="1892498"/>
          </a:xfrm>
          <a:prstGeom prst="rect">
            <a:avLst/>
          </a:prstGeom>
        </p:spPr>
      </p:pic>
      <p:sp>
        <p:nvSpPr>
          <p:cNvPr id="4" name="Text 1"/>
          <p:cNvSpPr/>
          <p:nvPr/>
        </p:nvSpPr>
        <p:spPr>
          <a:xfrm>
            <a:off x="1001092" y="2040830"/>
            <a:ext cx="4761091" cy="332184"/>
          </a:xfrm>
          <a:prstGeom prst="rect">
            <a:avLst/>
          </a:prstGeom>
          <a:noFill/>
          <a:ln/>
        </p:spPr>
        <p:txBody>
          <a:bodyPr wrap="none" lIns="0" tIns="0" rIns="0" bIns="0" rtlCol="0" anchor="t"/>
          <a:lstStyle/>
          <a:p>
            <a:pPr marL="0" indent="0" algn="l">
              <a:lnSpc>
                <a:spcPct val="104000"/>
              </a:lnSpc>
              <a:buNone/>
            </a:pPr>
            <a:r>
              <a:rPr lang="en-US" sz="2050" b="1" dirty="0">
                <a:solidFill>
                  <a:srgbClr val="2C3249"/>
                </a:solidFill>
                <a:latin typeface="Kanit Light" pitchFamily="34" charset="0"/>
                <a:ea typeface="Kanit Light" pitchFamily="34" charset="-122"/>
                <a:cs typeface="Kanit Light" pitchFamily="34" charset="-120"/>
              </a:rPr>
              <a:t>Sales Journal</a:t>
            </a:r>
            <a:endParaRPr lang="en-US" sz="2050" b="1" dirty="0"/>
          </a:p>
        </p:txBody>
      </p:sp>
      <p:sp>
        <p:nvSpPr>
          <p:cNvPr id="5" name="Text 2"/>
          <p:cNvSpPr/>
          <p:nvPr/>
        </p:nvSpPr>
        <p:spPr>
          <a:xfrm>
            <a:off x="1001092" y="2487811"/>
            <a:ext cx="4761091" cy="969466"/>
          </a:xfrm>
          <a:prstGeom prst="rect">
            <a:avLst/>
          </a:prstGeom>
          <a:noFill/>
          <a:ln/>
        </p:spPr>
        <p:txBody>
          <a:bodyPr wrap="square" lIns="0" tIns="0" rIns="0" bIns="0" rtlCol="0" anchor="t">
            <a:normAutofit/>
          </a:bodyPr>
          <a:lstStyle/>
          <a:p>
            <a:pPr marL="0" indent="0" algn="just">
              <a:lnSpc>
                <a:spcPct val="127000"/>
              </a:lnSpc>
              <a:buNone/>
            </a:pPr>
            <a:r>
              <a:rPr lang="en-US" sz="1650" dirty="0">
                <a:solidFill>
                  <a:srgbClr val="2C3249"/>
                </a:solidFill>
                <a:latin typeface="Martel Sans" pitchFamily="34" charset="0"/>
                <a:ea typeface="Martel Sans" pitchFamily="34" charset="-122"/>
                <a:cs typeface="Martel Sans" pitchFamily="34" charset="-120"/>
              </a:rPr>
              <a:t>Records </a:t>
            </a:r>
            <a:r>
              <a:rPr lang="en-US" sz="1650" b="1" dirty="0">
                <a:solidFill>
                  <a:srgbClr val="2C3249"/>
                </a:solidFill>
                <a:latin typeface="Martel Sans Bold" pitchFamily="34" charset="0"/>
                <a:ea typeface="Martel Sans Bold" pitchFamily="34" charset="-122"/>
                <a:cs typeface="Martel Sans Bold" pitchFamily="34" charset="-120"/>
              </a:rPr>
              <a:t>credit sales</a:t>
            </a:r>
            <a:r>
              <a:rPr lang="en-US" sz="1650" dirty="0">
                <a:solidFill>
                  <a:srgbClr val="2C3249"/>
                </a:solidFill>
                <a:latin typeface="Martel Sans" pitchFamily="34" charset="0"/>
                <a:ea typeface="Martel Sans" pitchFamily="34" charset="-122"/>
                <a:cs typeface="Martel Sans" pitchFamily="34" charset="-120"/>
              </a:rPr>
              <a:t> of goods or services made by the organization. Excludes cash sales. Example: credit sales to customers.</a:t>
            </a:r>
            <a:endParaRPr lang="en-US" sz="16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91492" y="1802805"/>
            <a:ext cx="5338728" cy="1892498"/>
          </a:xfrm>
          <a:prstGeom prst="rect">
            <a:avLst/>
          </a:prstGeom>
        </p:spPr>
      </p:pic>
      <p:sp>
        <p:nvSpPr>
          <p:cNvPr id="7" name="Text 3"/>
          <p:cNvSpPr/>
          <p:nvPr/>
        </p:nvSpPr>
        <p:spPr>
          <a:xfrm>
            <a:off x="6531109" y="2040830"/>
            <a:ext cx="4761091" cy="332184"/>
          </a:xfrm>
          <a:prstGeom prst="rect">
            <a:avLst/>
          </a:prstGeom>
          <a:noFill/>
          <a:ln/>
        </p:spPr>
        <p:txBody>
          <a:bodyPr wrap="none" lIns="0" tIns="0" rIns="0" bIns="0" rtlCol="0" anchor="t"/>
          <a:lstStyle/>
          <a:p>
            <a:pPr marL="0" indent="0" algn="l">
              <a:lnSpc>
                <a:spcPct val="104000"/>
              </a:lnSpc>
              <a:buNone/>
            </a:pPr>
            <a:r>
              <a:rPr lang="en-US" sz="2050" b="1" dirty="0">
                <a:solidFill>
                  <a:srgbClr val="2C3249"/>
                </a:solidFill>
                <a:latin typeface="Kanit Light" pitchFamily="34" charset="0"/>
                <a:ea typeface="Kanit Light" pitchFamily="34" charset="-122"/>
                <a:cs typeface="Kanit Light" pitchFamily="34" charset="-120"/>
              </a:rPr>
              <a:t>Purchases Journal</a:t>
            </a:r>
            <a:endParaRPr lang="en-US" sz="2050" b="1" dirty="0"/>
          </a:p>
        </p:txBody>
      </p:sp>
      <p:sp>
        <p:nvSpPr>
          <p:cNvPr id="8" name="Text 4"/>
          <p:cNvSpPr/>
          <p:nvPr/>
        </p:nvSpPr>
        <p:spPr>
          <a:xfrm>
            <a:off x="6531109" y="2487811"/>
            <a:ext cx="4761091" cy="969466"/>
          </a:xfrm>
          <a:prstGeom prst="rect">
            <a:avLst/>
          </a:prstGeom>
          <a:noFill/>
          <a:ln/>
        </p:spPr>
        <p:txBody>
          <a:bodyPr wrap="square" lIns="0" tIns="0" rIns="0" bIns="0" rtlCol="0" anchor="t">
            <a:normAutofit/>
          </a:bodyPr>
          <a:lstStyle/>
          <a:p>
            <a:pPr marL="0" indent="0" algn="just">
              <a:lnSpc>
                <a:spcPct val="127000"/>
              </a:lnSpc>
              <a:buNone/>
            </a:pPr>
            <a:r>
              <a:rPr lang="en-US" sz="1650" dirty="0">
                <a:solidFill>
                  <a:srgbClr val="2C3249"/>
                </a:solidFill>
                <a:latin typeface="Martel Sans" pitchFamily="34" charset="0"/>
                <a:ea typeface="Martel Sans" pitchFamily="34" charset="-122"/>
                <a:cs typeface="Martel Sans" pitchFamily="34" charset="-120"/>
              </a:rPr>
              <a:t>Records </a:t>
            </a:r>
            <a:r>
              <a:rPr lang="en-US" sz="1650" b="1" dirty="0">
                <a:solidFill>
                  <a:srgbClr val="2C3249"/>
                </a:solidFill>
                <a:latin typeface="Martel Sans Bold" pitchFamily="34" charset="0"/>
                <a:ea typeface="Martel Sans Bold" pitchFamily="34" charset="-122"/>
                <a:cs typeface="Martel Sans Bold" pitchFamily="34" charset="-120"/>
              </a:rPr>
              <a:t>credit purchases</a:t>
            </a:r>
            <a:r>
              <a:rPr lang="en-US" sz="1650" dirty="0">
                <a:solidFill>
                  <a:srgbClr val="2C3249"/>
                </a:solidFill>
                <a:latin typeface="Martel Sans" pitchFamily="34" charset="0"/>
                <a:ea typeface="Martel Sans" pitchFamily="34" charset="-122"/>
                <a:cs typeface="Martel Sans" pitchFamily="34" charset="-120"/>
              </a:rPr>
              <a:t> of goods or services from suppliers. Example: credit purchases of inventory or other items bought on credit.</a:t>
            </a:r>
            <a:endParaRPr lang="en-US" sz="165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475" y="3886597"/>
            <a:ext cx="5338728" cy="2215654"/>
          </a:xfrm>
          <a:prstGeom prst="rect">
            <a:avLst/>
          </a:prstGeom>
        </p:spPr>
      </p:pic>
      <p:sp>
        <p:nvSpPr>
          <p:cNvPr id="10" name="Text 5"/>
          <p:cNvSpPr/>
          <p:nvPr/>
        </p:nvSpPr>
        <p:spPr>
          <a:xfrm>
            <a:off x="1001092" y="4124623"/>
            <a:ext cx="4761091" cy="332184"/>
          </a:xfrm>
          <a:prstGeom prst="rect">
            <a:avLst/>
          </a:prstGeom>
          <a:noFill/>
          <a:ln/>
        </p:spPr>
        <p:txBody>
          <a:bodyPr wrap="none" lIns="0" tIns="0" rIns="0" bIns="0" rtlCol="0" anchor="t"/>
          <a:lstStyle/>
          <a:p>
            <a:pPr marL="0" indent="0" algn="l">
              <a:lnSpc>
                <a:spcPct val="104000"/>
              </a:lnSpc>
              <a:buNone/>
            </a:pPr>
            <a:r>
              <a:rPr lang="en-US" sz="2050" b="1" dirty="0">
                <a:solidFill>
                  <a:srgbClr val="2C3249"/>
                </a:solidFill>
                <a:latin typeface="Kanit Light" pitchFamily="34" charset="0"/>
                <a:ea typeface="Kanit Light" pitchFamily="34" charset="-122"/>
                <a:cs typeface="Kanit Light" pitchFamily="34" charset="-120"/>
              </a:rPr>
              <a:t>Returns Inwards Journal</a:t>
            </a:r>
            <a:endParaRPr lang="en-US" sz="2050" b="1" dirty="0"/>
          </a:p>
        </p:txBody>
      </p:sp>
      <p:sp>
        <p:nvSpPr>
          <p:cNvPr id="11" name="Text 6"/>
          <p:cNvSpPr/>
          <p:nvPr/>
        </p:nvSpPr>
        <p:spPr>
          <a:xfrm>
            <a:off x="1001092" y="4571603"/>
            <a:ext cx="4761091" cy="1292622"/>
          </a:xfrm>
          <a:prstGeom prst="rect">
            <a:avLst/>
          </a:prstGeom>
          <a:noFill/>
          <a:ln/>
        </p:spPr>
        <p:txBody>
          <a:bodyPr wrap="square" lIns="0" tIns="0" rIns="0" bIns="0" rtlCol="0" anchor="t">
            <a:normAutofit/>
          </a:bodyPr>
          <a:lstStyle/>
          <a:p>
            <a:pPr marL="0" indent="0" algn="just">
              <a:lnSpc>
                <a:spcPct val="127000"/>
              </a:lnSpc>
              <a:buNone/>
            </a:pPr>
            <a:r>
              <a:rPr lang="en-US" sz="1650" dirty="0">
                <a:solidFill>
                  <a:srgbClr val="2C3249"/>
                </a:solidFill>
                <a:latin typeface="Martel Sans" pitchFamily="34" charset="0"/>
                <a:ea typeface="Martel Sans" pitchFamily="34" charset="-122"/>
                <a:cs typeface="Martel Sans" pitchFamily="34" charset="-120"/>
              </a:rPr>
              <a:t>Also called the </a:t>
            </a:r>
            <a:r>
              <a:rPr lang="en-US" sz="1650" b="1" dirty="0">
                <a:solidFill>
                  <a:srgbClr val="2C3249"/>
                </a:solidFill>
                <a:latin typeface="Martel Sans Bold" pitchFamily="34" charset="0"/>
                <a:ea typeface="Martel Sans Bold" pitchFamily="34" charset="-122"/>
                <a:cs typeface="Martel Sans Bold" pitchFamily="34" charset="-120"/>
              </a:rPr>
              <a:t>Sales Returns Journal</a:t>
            </a:r>
            <a:r>
              <a:rPr lang="en-US" sz="1650" dirty="0">
                <a:solidFill>
                  <a:srgbClr val="2C3249"/>
                </a:solidFill>
                <a:latin typeface="Martel Sans" pitchFamily="34" charset="0"/>
                <a:ea typeface="Martel Sans" pitchFamily="34" charset="-122"/>
                <a:cs typeface="Martel Sans" pitchFamily="34" charset="-120"/>
              </a:rPr>
              <a:t>. Records goods returned by customers to the organization e.g. defective, damaged or incorrectly supplied goods.</a:t>
            </a:r>
            <a:endParaRPr lang="en-US" sz="165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91492" y="3886597"/>
            <a:ext cx="5338728" cy="2215654"/>
          </a:xfrm>
          <a:prstGeom prst="rect">
            <a:avLst/>
          </a:prstGeom>
        </p:spPr>
      </p:pic>
      <p:sp>
        <p:nvSpPr>
          <p:cNvPr id="13" name="Text 7"/>
          <p:cNvSpPr/>
          <p:nvPr/>
        </p:nvSpPr>
        <p:spPr>
          <a:xfrm>
            <a:off x="6531109" y="4124623"/>
            <a:ext cx="4761091" cy="332184"/>
          </a:xfrm>
          <a:prstGeom prst="rect">
            <a:avLst/>
          </a:prstGeom>
          <a:noFill/>
          <a:ln/>
        </p:spPr>
        <p:txBody>
          <a:bodyPr wrap="none" lIns="0" tIns="0" rIns="0" bIns="0" rtlCol="0" anchor="t"/>
          <a:lstStyle/>
          <a:p>
            <a:pPr marL="0" indent="0" algn="l">
              <a:lnSpc>
                <a:spcPct val="104000"/>
              </a:lnSpc>
              <a:buNone/>
            </a:pPr>
            <a:r>
              <a:rPr lang="en-US" sz="2050" b="1" dirty="0">
                <a:solidFill>
                  <a:srgbClr val="2C3249"/>
                </a:solidFill>
                <a:latin typeface="Kanit Light" pitchFamily="34" charset="0"/>
                <a:ea typeface="Kanit Light" pitchFamily="34" charset="-122"/>
                <a:cs typeface="Kanit Light" pitchFamily="34" charset="-120"/>
              </a:rPr>
              <a:t>Returns Outwards Journal</a:t>
            </a:r>
            <a:endParaRPr lang="en-US" sz="2050" b="1" dirty="0"/>
          </a:p>
        </p:txBody>
      </p:sp>
      <p:sp>
        <p:nvSpPr>
          <p:cNvPr id="14" name="Text 8"/>
          <p:cNvSpPr/>
          <p:nvPr/>
        </p:nvSpPr>
        <p:spPr>
          <a:xfrm>
            <a:off x="6531109" y="4571603"/>
            <a:ext cx="4761091" cy="1292622"/>
          </a:xfrm>
          <a:prstGeom prst="rect">
            <a:avLst/>
          </a:prstGeom>
          <a:noFill/>
          <a:ln/>
        </p:spPr>
        <p:txBody>
          <a:bodyPr wrap="square" lIns="0" tIns="0" rIns="0" bIns="0" rtlCol="0" anchor="t">
            <a:normAutofit/>
          </a:bodyPr>
          <a:lstStyle/>
          <a:p>
            <a:pPr marL="0" indent="0" algn="just">
              <a:lnSpc>
                <a:spcPct val="127000"/>
              </a:lnSpc>
              <a:buNone/>
            </a:pPr>
            <a:r>
              <a:rPr lang="en-US" sz="1650" dirty="0">
                <a:solidFill>
                  <a:srgbClr val="2C3249"/>
                </a:solidFill>
                <a:latin typeface="Martel Sans" pitchFamily="34" charset="0"/>
                <a:ea typeface="Martel Sans" pitchFamily="34" charset="-122"/>
                <a:cs typeface="Martel Sans" pitchFamily="34" charset="-120"/>
              </a:rPr>
              <a:t>Also called the </a:t>
            </a:r>
            <a:r>
              <a:rPr lang="en-US" sz="1650" b="1" dirty="0">
                <a:solidFill>
                  <a:srgbClr val="2C3249"/>
                </a:solidFill>
                <a:latin typeface="Martel Sans Bold" pitchFamily="34" charset="0"/>
                <a:ea typeface="Martel Sans Bold" pitchFamily="34" charset="-122"/>
                <a:cs typeface="Martel Sans Bold" pitchFamily="34" charset="-120"/>
              </a:rPr>
              <a:t>Purchases Returns Journal</a:t>
            </a:r>
            <a:r>
              <a:rPr lang="en-US" sz="1650" dirty="0">
                <a:solidFill>
                  <a:srgbClr val="2C3249"/>
                </a:solidFill>
                <a:latin typeface="Martel Sans" pitchFamily="34" charset="0"/>
                <a:ea typeface="Martel Sans" pitchFamily="34" charset="-122"/>
                <a:cs typeface="Martel Sans" pitchFamily="34" charset="-120"/>
              </a:rPr>
              <a:t>. Records goods returned by the organization to suppliers  e.g. defective, damaged or incorrectly supplied goods.</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7825" y="273695"/>
            <a:ext cx="10868745" cy="1402953"/>
          </a:xfrm>
          <a:prstGeom prst="rect">
            <a:avLst/>
          </a:prstGeom>
          <a:noFill/>
          <a:ln/>
        </p:spPr>
        <p:txBody>
          <a:bodyPr wrap="square" lIns="0" tIns="0" rIns="0" bIns="0" rtlCol="0" anchor="t">
            <a:normAutofit/>
          </a:bodyPr>
          <a:lstStyle/>
          <a:p>
            <a:pPr marL="0" indent="0" algn="l">
              <a:lnSpc>
                <a:spcPct val="104000"/>
              </a:lnSpc>
              <a:buNone/>
            </a:pPr>
            <a:r>
              <a:rPr lang="en-US" sz="4400" dirty="0">
                <a:solidFill>
                  <a:srgbClr val="272D45"/>
                </a:solidFill>
                <a:latin typeface="Kanit Light" pitchFamily="34" charset="0"/>
                <a:ea typeface="Kanit Light" pitchFamily="34" charset="-122"/>
                <a:cs typeface="Kanit Light" pitchFamily="34" charset="-120"/>
              </a:rPr>
              <a:t>Journals: General Journal and Payroll Journal</a:t>
            </a:r>
            <a:endParaRPr lang="en-US" sz="4400" dirty="0"/>
          </a:p>
        </p:txBody>
      </p:sp>
      <p:sp>
        <p:nvSpPr>
          <p:cNvPr id="3" name="Shape 1"/>
          <p:cNvSpPr/>
          <p:nvPr/>
        </p:nvSpPr>
        <p:spPr>
          <a:xfrm>
            <a:off x="499852" y="2050473"/>
            <a:ext cx="5483782" cy="4045527"/>
          </a:xfrm>
          <a:prstGeom prst="roundRect">
            <a:avLst>
              <a:gd name="adj" fmla="val 4475"/>
            </a:avLst>
          </a:prstGeom>
          <a:solidFill>
            <a:srgbClr val="437066"/>
          </a:solidFill>
          <a:ln/>
        </p:spPr>
        <p:txBody>
          <a:bodyPr/>
          <a:lstStyle/>
          <a:p>
            <a:endParaRPr lang="en-US"/>
          </a:p>
        </p:txBody>
      </p:sp>
      <p:sp>
        <p:nvSpPr>
          <p:cNvPr id="4" name="Text 2"/>
          <p:cNvSpPr/>
          <p:nvPr/>
        </p:nvSpPr>
        <p:spPr>
          <a:xfrm>
            <a:off x="724279" y="2293913"/>
            <a:ext cx="5034928" cy="350738"/>
          </a:xfrm>
          <a:prstGeom prst="rect">
            <a:avLst/>
          </a:prstGeom>
          <a:noFill/>
          <a:ln/>
        </p:spPr>
        <p:txBody>
          <a:bodyPr wrap="none" lIns="0" tIns="0" rIns="0" bIns="0" rtlCol="0" anchor="t"/>
          <a:lstStyle/>
          <a:p>
            <a:pPr marL="0" indent="0" algn="l">
              <a:lnSpc>
                <a:spcPct val="104000"/>
              </a:lnSpc>
              <a:buNone/>
            </a:pPr>
            <a:r>
              <a:rPr lang="en-US" sz="2200" dirty="0">
                <a:solidFill>
                  <a:srgbClr val="FFFFFF"/>
                </a:solidFill>
                <a:latin typeface="Kanit Light" pitchFamily="34" charset="0"/>
                <a:ea typeface="Kanit Light" pitchFamily="34" charset="-122"/>
                <a:cs typeface="Kanit Light" pitchFamily="34" charset="-120"/>
              </a:rPr>
              <a:t>General Journal</a:t>
            </a:r>
            <a:endParaRPr lang="en-US" sz="2200" dirty="0"/>
          </a:p>
        </p:txBody>
      </p:sp>
      <p:sp>
        <p:nvSpPr>
          <p:cNvPr id="5" name="Text 3"/>
          <p:cNvSpPr/>
          <p:nvPr/>
        </p:nvSpPr>
        <p:spPr>
          <a:xfrm>
            <a:off x="724279" y="3018476"/>
            <a:ext cx="5034928" cy="2642195"/>
          </a:xfrm>
          <a:prstGeom prst="rect">
            <a:avLst/>
          </a:prstGeom>
          <a:noFill/>
          <a:ln/>
        </p:spPr>
        <p:txBody>
          <a:bodyPr wrap="square" lIns="0" tIns="0" rIns="0" bIns="0" rtlCol="0" anchor="t">
            <a:noAutofit/>
          </a:bodyPr>
          <a:lstStyle/>
          <a:p>
            <a:pPr marL="0" indent="0" algn="just">
              <a:lnSpc>
                <a:spcPct val="130000"/>
              </a:lnSpc>
              <a:spcAft>
                <a:spcPts val="1500"/>
              </a:spcAft>
              <a:buNone/>
            </a:pPr>
            <a:r>
              <a:rPr lang="en-US" dirty="0">
                <a:solidFill>
                  <a:srgbClr val="FFFFFF"/>
                </a:solidFill>
                <a:latin typeface="Martel Sans" pitchFamily="34" charset="0"/>
                <a:ea typeface="Martel Sans" pitchFamily="34" charset="-122"/>
                <a:cs typeface="Martel Sans" pitchFamily="34" charset="-120"/>
              </a:rPr>
              <a:t>Records transactions that do not normally fit into the specialized journals, together with appropriate explanations and supporting references.</a:t>
            </a:r>
            <a:endParaRPr lang="en-US" dirty="0"/>
          </a:p>
          <a:p>
            <a:pPr marL="0" indent="0" algn="just">
              <a:lnSpc>
                <a:spcPct val="130000"/>
              </a:lnSpc>
              <a:buNone/>
            </a:pPr>
            <a:r>
              <a:rPr lang="en-US" b="1" dirty="0">
                <a:solidFill>
                  <a:srgbClr val="FFFFFF"/>
                </a:solidFill>
                <a:latin typeface="Martel Sans Bold" pitchFamily="34" charset="0"/>
                <a:ea typeface="Martel Sans Bold" pitchFamily="34" charset="-122"/>
                <a:cs typeface="Martel Sans Bold" pitchFamily="34" charset="-120"/>
              </a:rPr>
              <a:t>Examples:</a:t>
            </a:r>
            <a:r>
              <a:rPr lang="en-US" dirty="0">
                <a:solidFill>
                  <a:srgbClr val="FFFFFF"/>
                </a:solidFill>
                <a:latin typeface="Martel Sans" pitchFamily="34" charset="0"/>
                <a:ea typeface="Martel Sans" pitchFamily="34" charset="-122"/>
                <a:cs typeface="Martel Sans" pitchFamily="34" charset="-120"/>
              </a:rPr>
              <a:t> Opening entries, correction of errors, depreciation, bad debts, transfers, accruals and other adjustments.</a:t>
            </a:r>
            <a:endParaRPr lang="en-US" dirty="0"/>
          </a:p>
        </p:txBody>
      </p:sp>
      <p:sp>
        <p:nvSpPr>
          <p:cNvPr id="6" name="Text 4"/>
          <p:cNvSpPr/>
          <p:nvPr/>
        </p:nvSpPr>
        <p:spPr>
          <a:xfrm>
            <a:off x="6376034" y="2276378"/>
            <a:ext cx="5160536" cy="350738"/>
          </a:xfrm>
          <a:prstGeom prst="rect">
            <a:avLst/>
          </a:prstGeom>
          <a:noFill/>
          <a:ln/>
        </p:spPr>
        <p:txBody>
          <a:bodyPr wrap="none" lIns="0" tIns="0" rIns="0" bIns="0" rtlCol="0" anchor="t"/>
          <a:lstStyle/>
          <a:p>
            <a:pPr marL="0" indent="0" algn="l">
              <a:lnSpc>
                <a:spcPct val="104000"/>
              </a:lnSpc>
              <a:buNone/>
            </a:pPr>
            <a:r>
              <a:rPr lang="en-US" sz="2200" dirty="0">
                <a:solidFill>
                  <a:srgbClr val="272D45"/>
                </a:solidFill>
                <a:latin typeface="Kanit Light" pitchFamily="34" charset="0"/>
                <a:ea typeface="Kanit Light" pitchFamily="34" charset="-122"/>
                <a:cs typeface="Kanit Light" pitchFamily="34" charset="-120"/>
              </a:rPr>
              <a:t>Payroll Journal / Payroll Records</a:t>
            </a:r>
            <a:endParaRPr lang="en-US" sz="2200" dirty="0"/>
          </a:p>
        </p:txBody>
      </p:sp>
      <p:sp>
        <p:nvSpPr>
          <p:cNvPr id="7" name="Text 5"/>
          <p:cNvSpPr/>
          <p:nvPr/>
        </p:nvSpPr>
        <p:spPr>
          <a:xfrm>
            <a:off x="6376034" y="3038428"/>
            <a:ext cx="5160536" cy="2642195"/>
          </a:xfrm>
          <a:prstGeom prst="rect">
            <a:avLst/>
          </a:prstGeom>
          <a:noFill/>
          <a:ln/>
        </p:spPr>
        <p:txBody>
          <a:bodyPr wrap="square" lIns="0" tIns="0" rIns="0" bIns="0" rtlCol="0" anchor="t">
            <a:normAutofit/>
          </a:bodyPr>
          <a:lstStyle/>
          <a:p>
            <a:pPr marL="0" indent="0" algn="just">
              <a:lnSpc>
                <a:spcPct val="130000"/>
              </a:lnSpc>
              <a:spcAft>
                <a:spcPts val="1500"/>
              </a:spcAft>
              <a:buNone/>
            </a:pPr>
            <a:r>
              <a:rPr lang="en-US" sz="1750" dirty="0">
                <a:solidFill>
                  <a:srgbClr val="2C3249"/>
                </a:solidFill>
                <a:latin typeface="Martel Sans" pitchFamily="34" charset="0"/>
                <a:ea typeface="Martel Sans" pitchFamily="34" charset="-122"/>
                <a:cs typeface="Martel Sans" pitchFamily="34" charset="-120"/>
              </a:rPr>
              <a:t>Records employees' gross pay, deductions and net pay, providing the basis for recording payroll costs and amounts payable to employees and authorities.</a:t>
            </a:r>
            <a:endParaRPr lang="en-US" sz="1750" dirty="0"/>
          </a:p>
          <a:p>
            <a:pPr marL="0" indent="0" algn="just">
              <a:lnSpc>
                <a:spcPct val="130000"/>
              </a:lnSpc>
              <a:buNone/>
            </a:pPr>
            <a:r>
              <a:rPr lang="en-US" sz="1750" b="1" dirty="0">
                <a:solidFill>
                  <a:srgbClr val="2C3249"/>
                </a:solidFill>
                <a:latin typeface="Martel Sans Bold" pitchFamily="34" charset="0"/>
                <a:ea typeface="Martel Sans Bold" pitchFamily="34" charset="-122"/>
                <a:cs typeface="Martel Sans Bold" pitchFamily="34" charset="-120"/>
              </a:rPr>
              <a:t>Examples:</a:t>
            </a:r>
            <a:r>
              <a:rPr lang="en-US" sz="1750" dirty="0">
                <a:solidFill>
                  <a:srgbClr val="2C3249"/>
                </a:solidFill>
                <a:latin typeface="Martel Sans" pitchFamily="34" charset="0"/>
                <a:ea typeface="Martel Sans" pitchFamily="34" charset="-122"/>
                <a:cs typeface="Martel Sans" pitchFamily="34" charset="-120"/>
              </a:rPr>
              <a:t> Salaries, PAYE/tax deductions, pension contributions, insurance deductions and net salaries payable.</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215693"/>
            <a:ext cx="6296860" cy="590649"/>
          </a:xfrm>
          <a:prstGeom prst="rect">
            <a:avLst/>
          </a:prstGeom>
          <a:noFill/>
          <a:ln/>
        </p:spPr>
        <p:txBody>
          <a:bodyPr wrap="none" lIns="0" tIns="0" rIns="0" bIns="0" rtlCol="0" anchor="t"/>
          <a:lstStyle/>
          <a:p>
            <a:pPr marL="0" indent="0" algn="l">
              <a:lnSpc>
                <a:spcPct val="104000"/>
              </a:lnSpc>
              <a:buNone/>
            </a:pPr>
            <a:r>
              <a:rPr lang="en-US" sz="3700" dirty="0">
                <a:solidFill>
                  <a:srgbClr val="272D45"/>
                </a:solidFill>
                <a:latin typeface="Kanit Light" pitchFamily="34" charset="0"/>
                <a:ea typeface="Kanit Light" pitchFamily="34" charset="-122"/>
                <a:cs typeface="Kanit Light" pitchFamily="34" charset="-120"/>
              </a:rPr>
              <a:t>Cash Books</a:t>
            </a:r>
            <a:endParaRPr lang="en-US" sz="3700" dirty="0"/>
          </a:p>
        </p:txBody>
      </p:sp>
      <p:sp>
        <p:nvSpPr>
          <p:cNvPr id="4" name="Text 1"/>
          <p:cNvSpPr/>
          <p:nvPr/>
        </p:nvSpPr>
        <p:spPr>
          <a:xfrm>
            <a:off x="5233360" y="1284134"/>
            <a:ext cx="2917851" cy="295275"/>
          </a:xfrm>
          <a:prstGeom prst="rect">
            <a:avLst/>
          </a:prstGeom>
          <a:noFill/>
          <a:ln/>
        </p:spPr>
        <p:txBody>
          <a:bodyPr wrap="none" lIns="0" tIns="0" rIns="0" bIns="0" rtlCol="0" anchor="t"/>
          <a:lstStyle/>
          <a:p>
            <a:pPr marL="0" indent="0" algn="l">
              <a:lnSpc>
                <a:spcPct val="104000"/>
              </a:lnSpc>
              <a:buNone/>
            </a:pPr>
            <a:r>
              <a:rPr lang="en-US" sz="2000" dirty="0">
                <a:solidFill>
                  <a:srgbClr val="272D45"/>
                </a:solidFill>
                <a:latin typeface="Kanit Light" pitchFamily="34" charset="0"/>
                <a:ea typeface="Kanit Light" pitchFamily="34" charset="-122"/>
                <a:cs typeface="Kanit Light" pitchFamily="34" charset="-120"/>
              </a:rPr>
              <a:t>Petty Cash Book</a:t>
            </a:r>
            <a:endParaRPr lang="en-US" sz="2000" dirty="0"/>
          </a:p>
        </p:txBody>
      </p:sp>
      <p:sp>
        <p:nvSpPr>
          <p:cNvPr id="5" name="Text 2"/>
          <p:cNvSpPr/>
          <p:nvPr/>
        </p:nvSpPr>
        <p:spPr>
          <a:xfrm>
            <a:off x="5233359" y="2027436"/>
            <a:ext cx="2917851" cy="2041128"/>
          </a:xfrm>
          <a:prstGeom prst="rect">
            <a:avLst/>
          </a:prstGeom>
          <a:noFill/>
          <a:ln/>
        </p:spPr>
        <p:txBody>
          <a:bodyPr wrap="square" lIns="0" tIns="0" rIns="0" bIns="0" rtlCol="0" anchor="t">
            <a:noAutofit/>
          </a:bodyPr>
          <a:lstStyle/>
          <a:p>
            <a:pPr marL="0" indent="0" algn="just">
              <a:lnSpc>
                <a:spcPct val="120000"/>
              </a:lnSpc>
              <a:spcAft>
                <a:spcPts val="1050"/>
              </a:spcAft>
              <a:buNone/>
            </a:pPr>
            <a:r>
              <a:rPr lang="en-US" dirty="0">
                <a:solidFill>
                  <a:srgbClr val="2C3249"/>
                </a:solidFill>
                <a:latin typeface="Martel Sans" pitchFamily="34" charset="0"/>
                <a:ea typeface="Martel Sans" pitchFamily="34" charset="-122"/>
                <a:cs typeface="Martel Sans" pitchFamily="34" charset="-120"/>
              </a:rPr>
              <a:t>Records </a:t>
            </a:r>
            <a:r>
              <a:rPr lang="en-US" b="1" dirty="0">
                <a:solidFill>
                  <a:srgbClr val="2C3249"/>
                </a:solidFill>
                <a:latin typeface="Martel Sans Bold" pitchFamily="34" charset="0"/>
                <a:ea typeface="Martel Sans Bold" pitchFamily="34" charset="-122"/>
                <a:cs typeface="Martel Sans Bold" pitchFamily="34" charset="-120"/>
              </a:rPr>
              <a:t>small-value cash receipts and payments</a:t>
            </a:r>
            <a:r>
              <a:rPr lang="en-US" dirty="0">
                <a:solidFill>
                  <a:srgbClr val="2C3249"/>
                </a:solidFill>
                <a:latin typeface="Martel Sans" pitchFamily="34" charset="0"/>
                <a:ea typeface="Martel Sans" pitchFamily="34" charset="-122"/>
                <a:cs typeface="Martel Sans" pitchFamily="34" charset="-120"/>
              </a:rPr>
              <a:t> made from cash held on the organization's premises.</a:t>
            </a:r>
            <a:endParaRPr lang="en-US" dirty="0"/>
          </a:p>
          <a:p>
            <a:pPr marL="0" indent="0" algn="just">
              <a:lnSpc>
                <a:spcPct val="120000"/>
              </a:lnSpc>
              <a:buNone/>
            </a:pPr>
            <a:r>
              <a:rPr lang="en-US" b="1" dirty="0">
                <a:solidFill>
                  <a:srgbClr val="2C3249"/>
                </a:solidFill>
                <a:latin typeface="Martel Sans Bold" pitchFamily="34" charset="0"/>
                <a:ea typeface="Martel Sans Bold" pitchFamily="34" charset="-122"/>
                <a:cs typeface="Martel Sans Bold" pitchFamily="34" charset="-120"/>
              </a:rPr>
              <a:t>Examples:</a:t>
            </a:r>
            <a:r>
              <a:rPr lang="en-US" dirty="0">
                <a:solidFill>
                  <a:srgbClr val="2C3249"/>
                </a:solidFill>
                <a:latin typeface="Martel Sans" pitchFamily="34" charset="0"/>
                <a:ea typeface="Martel Sans" pitchFamily="34" charset="-122"/>
                <a:cs typeface="Martel Sans" pitchFamily="34" charset="-120"/>
              </a:rPr>
              <a:t> Stationery, postage, local transport, refreshments and minor office expenses.</a:t>
            </a:r>
            <a:endParaRPr lang="en-US" dirty="0"/>
          </a:p>
        </p:txBody>
      </p:sp>
      <p:sp>
        <p:nvSpPr>
          <p:cNvPr id="6" name="Text 3"/>
          <p:cNvSpPr/>
          <p:nvPr/>
        </p:nvSpPr>
        <p:spPr>
          <a:xfrm>
            <a:off x="8612369" y="1304718"/>
            <a:ext cx="2917851" cy="295275"/>
          </a:xfrm>
          <a:prstGeom prst="rect">
            <a:avLst/>
          </a:prstGeom>
          <a:noFill/>
          <a:ln/>
        </p:spPr>
        <p:txBody>
          <a:bodyPr wrap="none" lIns="0" tIns="0" rIns="0" bIns="0" rtlCol="0" anchor="t"/>
          <a:lstStyle/>
          <a:p>
            <a:pPr marL="0" indent="0" algn="l">
              <a:lnSpc>
                <a:spcPct val="104000"/>
              </a:lnSpc>
              <a:buNone/>
            </a:pPr>
            <a:r>
              <a:rPr lang="en-US" sz="1850" dirty="0">
                <a:solidFill>
                  <a:srgbClr val="272D45"/>
                </a:solidFill>
                <a:latin typeface="Kanit Light" pitchFamily="34" charset="0"/>
                <a:ea typeface="Kanit Light" pitchFamily="34" charset="-122"/>
                <a:cs typeface="Kanit Light" pitchFamily="34" charset="-120"/>
              </a:rPr>
              <a:t>Cash Book — Cash at Bank</a:t>
            </a:r>
            <a:endParaRPr lang="en-US" sz="1850" dirty="0"/>
          </a:p>
        </p:txBody>
      </p:sp>
      <p:sp>
        <p:nvSpPr>
          <p:cNvPr id="7" name="Text 4"/>
          <p:cNvSpPr/>
          <p:nvPr/>
        </p:nvSpPr>
        <p:spPr>
          <a:xfrm>
            <a:off x="8612368" y="2023449"/>
            <a:ext cx="3247123" cy="3129756"/>
          </a:xfrm>
          <a:prstGeom prst="rect">
            <a:avLst/>
          </a:prstGeom>
          <a:noFill/>
          <a:ln/>
        </p:spPr>
        <p:txBody>
          <a:bodyPr wrap="square" lIns="0" tIns="0" rIns="0" bIns="0" rtlCol="0" anchor="t">
            <a:noAutofit/>
          </a:bodyPr>
          <a:lstStyle/>
          <a:p>
            <a:pPr marL="0" indent="0" algn="just">
              <a:lnSpc>
                <a:spcPct val="120000"/>
              </a:lnSpc>
              <a:spcAft>
                <a:spcPts val="1050"/>
              </a:spcAft>
              <a:buNone/>
            </a:pPr>
            <a:r>
              <a:rPr lang="en-US" dirty="0">
                <a:solidFill>
                  <a:srgbClr val="2C3249"/>
                </a:solidFill>
                <a:latin typeface="Martel Sans" pitchFamily="34" charset="0"/>
                <a:ea typeface="Martel Sans" pitchFamily="34" charset="-122"/>
                <a:cs typeface="Martel Sans" pitchFamily="34" charset="-120"/>
              </a:rPr>
              <a:t>Records cash transactions conducted through the organization's bank account, including receipts, payments and transfers. It can also serve as </a:t>
            </a:r>
            <a:r>
              <a:rPr lang="en-US" b="1" dirty="0">
                <a:solidFill>
                  <a:srgbClr val="2C3249"/>
                </a:solidFill>
                <a:latin typeface="Martel Sans Bold" pitchFamily="34" charset="0"/>
                <a:ea typeface="Martel Sans Bold" pitchFamily="34" charset="-122"/>
                <a:cs typeface="Martel Sans Bold" pitchFamily="34" charset="-120"/>
              </a:rPr>
              <a:t>both a book of prime entry and part of the ledger</a:t>
            </a:r>
            <a:r>
              <a:rPr lang="en-US" dirty="0">
                <a:solidFill>
                  <a:srgbClr val="2C3249"/>
                </a:solidFill>
                <a:latin typeface="Martel Sans" pitchFamily="34" charset="0"/>
                <a:ea typeface="Martel Sans" pitchFamily="34" charset="-122"/>
                <a:cs typeface="Martel Sans" pitchFamily="34" charset="-120"/>
              </a:rPr>
              <a:t>.</a:t>
            </a:r>
            <a:endParaRPr lang="en-US" dirty="0"/>
          </a:p>
          <a:p>
            <a:pPr marL="0" indent="0" algn="just">
              <a:lnSpc>
                <a:spcPct val="120000"/>
              </a:lnSpc>
              <a:buNone/>
            </a:pPr>
            <a:r>
              <a:rPr lang="en-US" b="1" dirty="0">
                <a:solidFill>
                  <a:srgbClr val="2C3249"/>
                </a:solidFill>
                <a:latin typeface="Martel Sans Bold" pitchFamily="34" charset="0"/>
                <a:ea typeface="Martel Sans Bold" pitchFamily="34" charset="-122"/>
                <a:cs typeface="Martel Sans Bold" pitchFamily="34" charset="-120"/>
              </a:rPr>
              <a:t>Examples:</a:t>
            </a:r>
            <a:r>
              <a:rPr lang="en-US" dirty="0">
                <a:solidFill>
                  <a:srgbClr val="2C3249"/>
                </a:solidFill>
                <a:latin typeface="Martel Sans" pitchFamily="34" charset="0"/>
                <a:ea typeface="Martel Sans" pitchFamily="34" charset="-122"/>
                <a:cs typeface="Martel Sans" pitchFamily="34" charset="-120"/>
              </a:rPr>
              <a:t> Bank deposits, customer receipts, cheque/EFT payments, bank charges and transfers.</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3643745" y="209848"/>
            <a:ext cx="7747929" cy="553740"/>
          </a:xfrm>
          <a:prstGeom prst="rect">
            <a:avLst/>
          </a:prstGeom>
          <a:noFill/>
          <a:ln/>
        </p:spPr>
        <p:txBody>
          <a:bodyPr wrap="none" lIns="0" tIns="0" rIns="0" bIns="0" rtlCol="0" anchor="t"/>
          <a:lstStyle/>
          <a:p>
            <a:pPr marL="0" indent="0" algn="l">
              <a:lnSpc>
                <a:spcPct val="104000"/>
              </a:lnSpc>
              <a:buNone/>
            </a:pPr>
            <a:r>
              <a:rPr lang="en-US" sz="3450" dirty="0">
                <a:solidFill>
                  <a:srgbClr val="272D45"/>
                </a:solidFill>
                <a:latin typeface="Kanit Light" pitchFamily="34" charset="0"/>
                <a:ea typeface="Kanit Light" pitchFamily="34" charset="-122"/>
                <a:cs typeface="Kanit Light" pitchFamily="34" charset="-120"/>
              </a:rPr>
              <a:t>Registers</a:t>
            </a:r>
            <a:endParaRPr lang="en-US" sz="34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488877"/>
            <a:ext cx="443001" cy="443012"/>
          </a:xfrm>
          <a:prstGeom prst="rect">
            <a:avLst/>
          </a:prstGeom>
        </p:spPr>
      </p:pic>
      <p:sp>
        <p:nvSpPr>
          <p:cNvPr id="4" name="Text 1"/>
          <p:cNvSpPr/>
          <p:nvPr/>
        </p:nvSpPr>
        <p:spPr>
          <a:xfrm>
            <a:off x="1270564" y="1488877"/>
            <a:ext cx="2903068" cy="276920"/>
          </a:xfrm>
          <a:prstGeom prst="rect">
            <a:avLst/>
          </a:prstGeom>
          <a:noFill/>
          <a:ln/>
        </p:spPr>
        <p:txBody>
          <a:bodyPr wrap="none" lIns="0" tIns="0" rIns="0" bIns="0" rtlCol="0" anchor="t"/>
          <a:lstStyle/>
          <a:p>
            <a:pPr marL="0" indent="0" algn="l">
              <a:lnSpc>
                <a:spcPct val="104000"/>
              </a:lnSpc>
              <a:buNone/>
            </a:pPr>
            <a:r>
              <a:rPr lang="en-US" sz="1700" b="1" dirty="0">
                <a:solidFill>
                  <a:srgbClr val="2C3249"/>
                </a:solidFill>
                <a:latin typeface="Kanit Light" pitchFamily="34" charset="0"/>
                <a:ea typeface="Kanit Light" pitchFamily="34" charset="-122"/>
                <a:cs typeface="Kanit Light" pitchFamily="34" charset="-120"/>
              </a:rPr>
              <a:t>Non-Current Asset Register</a:t>
            </a:r>
            <a:endParaRPr lang="en-US" sz="1700" b="1" dirty="0"/>
          </a:p>
        </p:txBody>
      </p:sp>
      <p:sp>
        <p:nvSpPr>
          <p:cNvPr id="5" name="Text 2"/>
          <p:cNvSpPr/>
          <p:nvPr/>
        </p:nvSpPr>
        <p:spPr>
          <a:xfrm>
            <a:off x="1270564" y="1845469"/>
            <a:ext cx="2903068" cy="1984375"/>
          </a:xfrm>
          <a:prstGeom prst="rect">
            <a:avLst/>
          </a:prstGeom>
          <a:noFill/>
          <a:ln/>
        </p:spPr>
        <p:txBody>
          <a:bodyPr wrap="square" lIns="0" tIns="0" rIns="0" bIns="0" rtlCol="0" anchor="t">
            <a:normAutofit/>
          </a:bodyPr>
          <a:lstStyle/>
          <a:p>
            <a:pPr marL="0" indent="0" algn="just">
              <a:lnSpc>
                <a:spcPct val="117000"/>
              </a:lnSpc>
              <a:buNone/>
            </a:pPr>
            <a:r>
              <a:rPr lang="en-US" sz="1350" dirty="0">
                <a:solidFill>
                  <a:srgbClr val="2C3249"/>
                </a:solidFill>
                <a:latin typeface="Martel Sans" pitchFamily="34" charset="0"/>
                <a:ea typeface="Martel Sans" pitchFamily="34" charset="-122"/>
                <a:cs typeface="Martel Sans" pitchFamily="34" charset="-120"/>
              </a:rPr>
              <a:t>A detailed record of the organization's non-current assets, including identification, cost, location, depreciation and disposal details. Examples: land, buildings, motor vehicles, machinery, furniture and computers.</a:t>
            </a:r>
            <a:endParaRPr lang="en-US" sz="13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39720" y="1488877"/>
            <a:ext cx="443001" cy="443012"/>
          </a:xfrm>
          <a:prstGeom prst="rect">
            <a:avLst/>
          </a:prstGeom>
        </p:spPr>
      </p:pic>
      <p:sp>
        <p:nvSpPr>
          <p:cNvPr id="7" name="Text 3"/>
          <p:cNvSpPr/>
          <p:nvPr/>
        </p:nvSpPr>
        <p:spPr>
          <a:xfrm>
            <a:off x="4948808" y="1488877"/>
            <a:ext cx="2903068" cy="276920"/>
          </a:xfrm>
          <a:prstGeom prst="rect">
            <a:avLst/>
          </a:prstGeom>
          <a:noFill/>
          <a:ln/>
        </p:spPr>
        <p:txBody>
          <a:bodyPr wrap="none" lIns="0" tIns="0" rIns="0" bIns="0" rtlCol="0" anchor="t"/>
          <a:lstStyle/>
          <a:p>
            <a:pPr marL="0" indent="0" algn="l">
              <a:lnSpc>
                <a:spcPct val="104000"/>
              </a:lnSpc>
              <a:buNone/>
            </a:pPr>
            <a:r>
              <a:rPr lang="en-US" sz="1700" b="1" dirty="0">
                <a:solidFill>
                  <a:srgbClr val="2C3249"/>
                </a:solidFill>
                <a:latin typeface="Kanit Light" pitchFamily="34" charset="0"/>
                <a:ea typeface="Kanit Light" pitchFamily="34" charset="-122"/>
                <a:cs typeface="Kanit Light" pitchFamily="34" charset="-120"/>
              </a:rPr>
              <a:t>Inventory Register</a:t>
            </a:r>
            <a:endParaRPr lang="en-US" sz="1700" b="1" dirty="0"/>
          </a:p>
        </p:txBody>
      </p:sp>
      <p:sp>
        <p:nvSpPr>
          <p:cNvPr id="8" name="Text 4"/>
          <p:cNvSpPr/>
          <p:nvPr/>
        </p:nvSpPr>
        <p:spPr>
          <a:xfrm>
            <a:off x="4948808" y="1845469"/>
            <a:ext cx="2903068" cy="1488281"/>
          </a:xfrm>
          <a:prstGeom prst="rect">
            <a:avLst/>
          </a:prstGeom>
          <a:noFill/>
          <a:ln/>
        </p:spPr>
        <p:txBody>
          <a:bodyPr wrap="square" lIns="0" tIns="0" rIns="0" bIns="0" rtlCol="0" anchor="t">
            <a:normAutofit/>
          </a:bodyPr>
          <a:lstStyle/>
          <a:p>
            <a:pPr algn="just">
              <a:lnSpc>
                <a:spcPct val="117000"/>
              </a:lnSpc>
            </a:pPr>
            <a:r>
              <a:rPr lang="en-US" sz="1350" dirty="0">
                <a:solidFill>
                  <a:srgbClr val="2C3249"/>
                </a:solidFill>
                <a:latin typeface="Martel Sans" pitchFamily="34" charset="0"/>
                <a:cs typeface="Martel Sans" pitchFamily="34" charset="-120"/>
              </a:rPr>
              <a:t>Records details of inventory held, including quantities received, issued, balances and values. Examples: raw materials, finished goods, merchandise and consumable stores.</a:t>
            </a:r>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17964" y="1488877"/>
            <a:ext cx="443001" cy="443012"/>
          </a:xfrm>
          <a:prstGeom prst="rect">
            <a:avLst/>
          </a:prstGeom>
        </p:spPr>
      </p:pic>
      <p:sp>
        <p:nvSpPr>
          <p:cNvPr id="10" name="Text 5"/>
          <p:cNvSpPr/>
          <p:nvPr/>
        </p:nvSpPr>
        <p:spPr>
          <a:xfrm>
            <a:off x="8627053" y="1488877"/>
            <a:ext cx="2903068" cy="276920"/>
          </a:xfrm>
          <a:prstGeom prst="rect">
            <a:avLst/>
          </a:prstGeom>
          <a:noFill/>
          <a:ln/>
        </p:spPr>
        <p:txBody>
          <a:bodyPr wrap="none" lIns="0" tIns="0" rIns="0" bIns="0" rtlCol="0" anchor="t"/>
          <a:lstStyle/>
          <a:p>
            <a:pPr marL="0" indent="0" algn="l">
              <a:lnSpc>
                <a:spcPct val="104000"/>
              </a:lnSpc>
              <a:buNone/>
            </a:pPr>
            <a:r>
              <a:rPr lang="en-US" sz="1700" b="1" dirty="0">
                <a:solidFill>
                  <a:srgbClr val="2C3249"/>
                </a:solidFill>
                <a:latin typeface="Kanit Light" pitchFamily="34" charset="0"/>
                <a:ea typeface="Kanit Light" pitchFamily="34" charset="-122"/>
                <a:cs typeface="Kanit Light" pitchFamily="34" charset="-120"/>
              </a:rPr>
              <a:t>Credit Customers Register</a:t>
            </a:r>
            <a:endParaRPr lang="en-US" sz="1700" b="1" dirty="0"/>
          </a:p>
        </p:txBody>
      </p:sp>
      <p:sp>
        <p:nvSpPr>
          <p:cNvPr id="11" name="Text 6"/>
          <p:cNvSpPr/>
          <p:nvPr/>
        </p:nvSpPr>
        <p:spPr>
          <a:xfrm>
            <a:off x="8627053" y="1845469"/>
            <a:ext cx="2903068" cy="1736328"/>
          </a:xfrm>
          <a:prstGeom prst="rect">
            <a:avLst/>
          </a:prstGeom>
          <a:noFill/>
          <a:ln/>
        </p:spPr>
        <p:txBody>
          <a:bodyPr wrap="square" lIns="0" tIns="0" rIns="0" bIns="0" rtlCol="0" anchor="t">
            <a:normAutofit/>
          </a:bodyPr>
          <a:lstStyle/>
          <a:p>
            <a:pPr algn="just">
              <a:lnSpc>
                <a:spcPct val="117000"/>
              </a:lnSpc>
            </a:pPr>
            <a:r>
              <a:rPr lang="en-US" sz="1350" dirty="0">
                <a:solidFill>
                  <a:srgbClr val="2C3249"/>
                </a:solidFill>
                <a:latin typeface="Martel Sans" pitchFamily="34" charset="0"/>
                <a:cs typeface="Martel Sans" pitchFamily="34" charset="-120"/>
              </a:rPr>
              <a:t>Contains information about customers who purchase on credit, including transactions and amounts outstanding. Examples: customer names, invoices, credit notes, payments and outstanding receivables.</a:t>
            </a:r>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1475" y="4095651"/>
            <a:ext cx="443001" cy="443012"/>
          </a:xfrm>
          <a:prstGeom prst="rect">
            <a:avLst/>
          </a:prstGeom>
        </p:spPr>
      </p:pic>
      <p:sp>
        <p:nvSpPr>
          <p:cNvPr id="13" name="Text 7"/>
          <p:cNvSpPr/>
          <p:nvPr/>
        </p:nvSpPr>
        <p:spPr>
          <a:xfrm>
            <a:off x="1270564" y="4095651"/>
            <a:ext cx="2903068" cy="276920"/>
          </a:xfrm>
          <a:prstGeom prst="rect">
            <a:avLst/>
          </a:prstGeom>
          <a:noFill/>
          <a:ln/>
        </p:spPr>
        <p:txBody>
          <a:bodyPr wrap="none" lIns="0" tIns="0" rIns="0" bIns="0" rtlCol="0" anchor="t"/>
          <a:lstStyle/>
          <a:p>
            <a:pPr marL="0" indent="0" algn="l">
              <a:lnSpc>
                <a:spcPct val="104000"/>
              </a:lnSpc>
              <a:buNone/>
            </a:pPr>
            <a:r>
              <a:rPr lang="en-US" sz="1700" b="1" dirty="0">
                <a:solidFill>
                  <a:srgbClr val="2C3249"/>
                </a:solidFill>
                <a:latin typeface="Kanit Light" pitchFamily="34" charset="0"/>
                <a:ea typeface="Kanit Light" pitchFamily="34" charset="-122"/>
                <a:cs typeface="Kanit Light" pitchFamily="34" charset="-120"/>
              </a:rPr>
              <a:t>Credit Suppliers Register</a:t>
            </a:r>
            <a:endParaRPr lang="en-US" sz="1700" b="1" dirty="0"/>
          </a:p>
        </p:txBody>
      </p:sp>
      <p:sp>
        <p:nvSpPr>
          <p:cNvPr id="14" name="Text 8"/>
          <p:cNvSpPr/>
          <p:nvPr/>
        </p:nvSpPr>
        <p:spPr>
          <a:xfrm>
            <a:off x="1270564" y="4452243"/>
            <a:ext cx="2903068" cy="1736328"/>
          </a:xfrm>
          <a:prstGeom prst="rect">
            <a:avLst/>
          </a:prstGeom>
          <a:noFill/>
          <a:ln/>
        </p:spPr>
        <p:txBody>
          <a:bodyPr wrap="square" lIns="0" tIns="0" rIns="0" bIns="0" rtlCol="0" anchor="t">
            <a:normAutofit/>
          </a:bodyPr>
          <a:lstStyle/>
          <a:p>
            <a:pPr algn="just">
              <a:lnSpc>
                <a:spcPct val="117000"/>
              </a:lnSpc>
            </a:pPr>
            <a:r>
              <a:rPr lang="en-US" sz="1350" dirty="0">
                <a:solidFill>
                  <a:srgbClr val="2C3249"/>
                </a:solidFill>
                <a:latin typeface="Martel Sans" pitchFamily="34" charset="0"/>
                <a:cs typeface="Martel Sans" pitchFamily="34" charset="-120"/>
              </a:rPr>
              <a:t>Contains information about suppliers from whom the organization purchases on credit, including amounts owed. Examples: supplier invoices, debit/credit notes, payments and outstanding payables.</a:t>
            </a:r>
          </a:p>
        </p:txBody>
      </p:sp>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339720" y="4095651"/>
            <a:ext cx="443001" cy="443012"/>
          </a:xfrm>
          <a:prstGeom prst="rect">
            <a:avLst/>
          </a:prstGeom>
        </p:spPr>
      </p:pic>
      <p:sp>
        <p:nvSpPr>
          <p:cNvPr id="16" name="Text 9"/>
          <p:cNvSpPr/>
          <p:nvPr/>
        </p:nvSpPr>
        <p:spPr>
          <a:xfrm>
            <a:off x="4948808" y="4095651"/>
            <a:ext cx="2903068" cy="276920"/>
          </a:xfrm>
          <a:prstGeom prst="rect">
            <a:avLst/>
          </a:prstGeom>
          <a:noFill/>
          <a:ln/>
        </p:spPr>
        <p:txBody>
          <a:bodyPr wrap="none" lIns="0" tIns="0" rIns="0" bIns="0" rtlCol="0" anchor="t"/>
          <a:lstStyle/>
          <a:p>
            <a:pPr marL="0" indent="0" algn="l">
              <a:lnSpc>
                <a:spcPct val="104000"/>
              </a:lnSpc>
              <a:buNone/>
            </a:pPr>
            <a:r>
              <a:rPr lang="en-US" sz="1700" b="1" dirty="0">
                <a:solidFill>
                  <a:srgbClr val="2C3249"/>
                </a:solidFill>
                <a:latin typeface="Kanit Light" pitchFamily="34" charset="0"/>
                <a:ea typeface="Kanit Light" pitchFamily="34" charset="-122"/>
                <a:cs typeface="Kanit Light" pitchFamily="34" charset="-120"/>
              </a:rPr>
              <a:t>Shareholders Register</a:t>
            </a:r>
            <a:endParaRPr lang="en-US" sz="1700" b="1" dirty="0"/>
          </a:p>
        </p:txBody>
      </p:sp>
      <p:sp>
        <p:nvSpPr>
          <p:cNvPr id="17" name="Text 10"/>
          <p:cNvSpPr/>
          <p:nvPr/>
        </p:nvSpPr>
        <p:spPr>
          <a:xfrm>
            <a:off x="4948808" y="4452243"/>
            <a:ext cx="2903068" cy="1736328"/>
          </a:xfrm>
          <a:prstGeom prst="rect">
            <a:avLst/>
          </a:prstGeom>
          <a:noFill/>
          <a:ln/>
        </p:spPr>
        <p:txBody>
          <a:bodyPr wrap="square" lIns="0" tIns="0" rIns="0" bIns="0" rtlCol="0" anchor="t">
            <a:normAutofit/>
          </a:bodyPr>
          <a:lstStyle/>
          <a:p>
            <a:pPr algn="just">
              <a:lnSpc>
                <a:spcPct val="117000"/>
              </a:lnSpc>
            </a:pPr>
            <a:r>
              <a:rPr lang="en-US" sz="1350" dirty="0">
                <a:solidFill>
                  <a:srgbClr val="2C3249"/>
                </a:solidFill>
                <a:latin typeface="Martel Sans" pitchFamily="34" charset="0"/>
                <a:cs typeface="Martel Sans" pitchFamily="34" charset="-120"/>
              </a:rPr>
              <a:t>A statutory record identifying the organization's shareholders and their shareholdings and relevant changes in ownership. Examples: shareholder names, number and class of shares held, transfers and changes in ownership.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1662545" y="230287"/>
            <a:ext cx="9867675" cy="664468"/>
          </a:xfrm>
          <a:prstGeom prst="rect">
            <a:avLst/>
          </a:prstGeom>
          <a:noFill/>
          <a:ln/>
        </p:spPr>
        <p:txBody>
          <a:bodyPr wrap="none" lIns="0" tIns="0" rIns="0" bIns="0" rtlCol="0" anchor="t"/>
          <a:lstStyle/>
          <a:p>
            <a:pPr marL="0" indent="0" algn="l">
              <a:lnSpc>
                <a:spcPct val="104000"/>
              </a:lnSpc>
              <a:buNone/>
            </a:pPr>
            <a:r>
              <a:rPr lang="en-US" sz="4150" dirty="0">
                <a:solidFill>
                  <a:srgbClr val="272D45"/>
                </a:solidFill>
                <a:latin typeface="Kanit Light" pitchFamily="34" charset="0"/>
                <a:ea typeface="Kanit Light" pitchFamily="34" charset="-122"/>
                <a:cs typeface="Kanit Light" pitchFamily="34" charset="-120"/>
              </a:rPr>
              <a:t>The Ledger: Definition and Categories</a:t>
            </a:r>
            <a:endParaRPr lang="en-US" sz="4150" dirty="0"/>
          </a:p>
        </p:txBody>
      </p:sp>
      <p:sp>
        <p:nvSpPr>
          <p:cNvPr id="3" name="Text 1"/>
          <p:cNvSpPr/>
          <p:nvPr/>
        </p:nvSpPr>
        <p:spPr>
          <a:xfrm>
            <a:off x="661475" y="1120080"/>
            <a:ext cx="10868745" cy="969466"/>
          </a:xfrm>
          <a:prstGeom prst="rect">
            <a:avLst/>
          </a:prstGeom>
          <a:noFill/>
          <a:ln/>
        </p:spPr>
        <p:txBody>
          <a:bodyPr wrap="square" lIns="0" tIns="0" rIns="0" bIns="0" rtlCol="0" anchor="t">
            <a:noAutofit/>
          </a:bodyPr>
          <a:lstStyle/>
          <a:p>
            <a:pPr marL="0" indent="0" algn="just">
              <a:lnSpc>
                <a:spcPct val="127000"/>
              </a:lnSpc>
              <a:buNone/>
            </a:pPr>
            <a:r>
              <a:rPr lang="en-US" sz="2000" dirty="0">
                <a:solidFill>
                  <a:srgbClr val="2C3249"/>
                </a:solidFill>
                <a:latin typeface="Martel Sans" pitchFamily="34" charset="0"/>
                <a:ea typeface="Martel Sans" pitchFamily="34" charset="-122"/>
                <a:cs typeface="Martel Sans" pitchFamily="34" charset="-120"/>
              </a:rPr>
              <a:t>A </a:t>
            </a:r>
            <a:r>
              <a:rPr lang="en-US" sz="2000" b="1" dirty="0">
                <a:solidFill>
                  <a:srgbClr val="2C3249"/>
                </a:solidFill>
                <a:latin typeface="Martel Sans Bold" pitchFamily="34" charset="0"/>
                <a:ea typeface="Martel Sans Bold" pitchFamily="34" charset="-122"/>
                <a:cs typeface="Martel Sans Bold" pitchFamily="34" charset="-120"/>
              </a:rPr>
              <a:t>ledger</a:t>
            </a:r>
            <a:r>
              <a:rPr lang="en-US" sz="2000" dirty="0">
                <a:solidFill>
                  <a:srgbClr val="2C3249"/>
                </a:solidFill>
                <a:latin typeface="Martel Sans" pitchFamily="34" charset="0"/>
                <a:ea typeface="Martel Sans" pitchFamily="34" charset="-122"/>
                <a:cs typeface="Martel Sans" pitchFamily="34" charset="-120"/>
              </a:rPr>
              <a:t> is the main accounting record where transactions are classified and recorded under individual accounts. It is used to determine the balance of each account and provides the basis for preparing the trial balance and financial statements.</a:t>
            </a:r>
            <a:endParaRPr lang="en-US" sz="2000" dirty="0"/>
          </a:p>
        </p:txBody>
      </p:sp>
      <p:sp>
        <p:nvSpPr>
          <p:cNvPr id="4" name="Shape 2"/>
          <p:cNvSpPr/>
          <p:nvPr/>
        </p:nvSpPr>
        <p:spPr>
          <a:xfrm>
            <a:off x="661475" y="2466110"/>
            <a:ext cx="3495389" cy="3497136"/>
          </a:xfrm>
          <a:prstGeom prst="roundRect">
            <a:avLst>
              <a:gd name="adj" fmla="val 3149"/>
            </a:avLst>
          </a:prstGeom>
          <a:solidFill>
            <a:srgbClr val="DFECE9"/>
          </a:solidFill>
          <a:ln w="12700">
            <a:solidFill>
              <a:srgbClr val="C5D2CF"/>
            </a:solidFill>
            <a:prstDash val="solid"/>
          </a:ln>
        </p:spPr>
        <p:txBody>
          <a:bodyPr/>
          <a:lstStyle/>
          <a:p>
            <a:endParaRPr lang="en-US"/>
          </a:p>
        </p:txBody>
      </p:sp>
      <p:sp>
        <p:nvSpPr>
          <p:cNvPr id="5" name="Text 3"/>
          <p:cNvSpPr/>
          <p:nvPr/>
        </p:nvSpPr>
        <p:spPr>
          <a:xfrm>
            <a:off x="886794" y="2726829"/>
            <a:ext cx="3044749" cy="332184"/>
          </a:xfrm>
          <a:prstGeom prst="rect">
            <a:avLst/>
          </a:prstGeom>
          <a:noFill/>
          <a:ln/>
        </p:spPr>
        <p:txBody>
          <a:bodyPr wrap="none" lIns="0" tIns="0" rIns="0" bIns="0" rtlCol="0" anchor="t"/>
          <a:lstStyle/>
          <a:p>
            <a:pPr marL="0" indent="0" algn="l">
              <a:lnSpc>
                <a:spcPct val="104000"/>
              </a:lnSpc>
              <a:buNone/>
            </a:pPr>
            <a:r>
              <a:rPr lang="en-US" sz="2050" b="1" dirty="0">
                <a:solidFill>
                  <a:srgbClr val="2C3249"/>
                </a:solidFill>
                <a:latin typeface="Kanit Light" pitchFamily="34" charset="0"/>
                <a:ea typeface="Kanit Light" pitchFamily="34" charset="-122"/>
                <a:cs typeface="Kanit Light" pitchFamily="34" charset="-120"/>
              </a:rPr>
              <a:t>Sales Ledger</a:t>
            </a:r>
            <a:endParaRPr lang="en-US" sz="2050" b="1" dirty="0"/>
          </a:p>
        </p:txBody>
      </p:sp>
      <p:sp>
        <p:nvSpPr>
          <p:cNvPr id="6" name="Text 4"/>
          <p:cNvSpPr/>
          <p:nvPr/>
        </p:nvSpPr>
        <p:spPr>
          <a:xfrm>
            <a:off x="886795" y="3322574"/>
            <a:ext cx="3044749" cy="1938933"/>
          </a:xfrm>
          <a:prstGeom prst="rect">
            <a:avLst/>
          </a:prstGeom>
          <a:noFill/>
          <a:ln/>
        </p:spPr>
        <p:txBody>
          <a:bodyPr wrap="square" lIns="0" tIns="0" rIns="0" bIns="0" rtlCol="0" anchor="t">
            <a:noAutofit/>
          </a:bodyPr>
          <a:lstStyle/>
          <a:p>
            <a:pPr marL="0" indent="0" algn="just">
              <a:lnSpc>
                <a:spcPct val="127000"/>
              </a:lnSpc>
              <a:buNone/>
            </a:pPr>
            <a:r>
              <a:rPr lang="en-US" dirty="0">
                <a:solidFill>
                  <a:srgbClr val="2C3249"/>
                </a:solidFill>
                <a:latin typeface="Martel Sans" pitchFamily="34" charset="0"/>
                <a:ea typeface="Martel Sans" pitchFamily="34" charset="-122"/>
                <a:cs typeface="Martel Sans" pitchFamily="34" charset="-120"/>
              </a:rPr>
              <a:t>Contains the accounts of </a:t>
            </a:r>
            <a:r>
              <a:rPr lang="en-US" b="1" dirty="0">
                <a:solidFill>
                  <a:srgbClr val="2C3249"/>
                </a:solidFill>
                <a:latin typeface="Martel Sans Bold" pitchFamily="34" charset="0"/>
                <a:ea typeface="Martel Sans Bold" pitchFamily="34" charset="-122"/>
                <a:cs typeface="Martel Sans Bold" pitchFamily="34" charset="-120"/>
              </a:rPr>
              <a:t>credit customers</a:t>
            </a:r>
            <a:r>
              <a:rPr lang="en-US" dirty="0">
                <a:solidFill>
                  <a:srgbClr val="2C3249"/>
                </a:solidFill>
                <a:latin typeface="Martel Sans" pitchFamily="34" charset="0"/>
                <a:ea typeface="Martel Sans" pitchFamily="34" charset="-122"/>
                <a:cs typeface="Martel Sans" pitchFamily="34" charset="-120"/>
              </a:rPr>
              <a:t> who buy goods or services from the business on credit. Shows how much each customer owes the business.</a:t>
            </a:r>
            <a:endParaRPr lang="en-US" dirty="0"/>
          </a:p>
        </p:txBody>
      </p:sp>
      <p:sp>
        <p:nvSpPr>
          <p:cNvPr id="7" name="Shape 5"/>
          <p:cNvSpPr/>
          <p:nvPr/>
        </p:nvSpPr>
        <p:spPr>
          <a:xfrm>
            <a:off x="4348153" y="2466110"/>
            <a:ext cx="3495389" cy="3497135"/>
          </a:xfrm>
          <a:prstGeom prst="roundRect">
            <a:avLst>
              <a:gd name="adj" fmla="val 3149"/>
            </a:avLst>
          </a:prstGeom>
          <a:solidFill>
            <a:srgbClr val="DFECE9"/>
          </a:solidFill>
          <a:ln w="12700">
            <a:solidFill>
              <a:srgbClr val="C5D2CF"/>
            </a:solidFill>
            <a:prstDash val="solid"/>
          </a:ln>
        </p:spPr>
        <p:txBody>
          <a:bodyPr/>
          <a:lstStyle/>
          <a:p>
            <a:endParaRPr lang="en-US"/>
          </a:p>
        </p:txBody>
      </p:sp>
      <p:sp>
        <p:nvSpPr>
          <p:cNvPr id="8" name="Text 6"/>
          <p:cNvSpPr/>
          <p:nvPr/>
        </p:nvSpPr>
        <p:spPr>
          <a:xfrm>
            <a:off x="4573472" y="2781453"/>
            <a:ext cx="3044749" cy="332184"/>
          </a:xfrm>
          <a:prstGeom prst="rect">
            <a:avLst/>
          </a:prstGeom>
          <a:noFill/>
          <a:ln/>
        </p:spPr>
        <p:txBody>
          <a:bodyPr wrap="none" lIns="0" tIns="0" rIns="0" bIns="0" rtlCol="0" anchor="t"/>
          <a:lstStyle/>
          <a:p>
            <a:pPr marL="0" indent="0" algn="l">
              <a:lnSpc>
                <a:spcPct val="104000"/>
              </a:lnSpc>
              <a:buNone/>
            </a:pPr>
            <a:r>
              <a:rPr lang="en-US" sz="2050" b="1" dirty="0">
                <a:solidFill>
                  <a:srgbClr val="2C3249"/>
                </a:solidFill>
                <a:latin typeface="Kanit Light" pitchFamily="34" charset="0"/>
                <a:ea typeface="Kanit Light" pitchFamily="34" charset="-122"/>
                <a:cs typeface="Kanit Light" pitchFamily="34" charset="-120"/>
              </a:rPr>
              <a:t>Purchases Ledger</a:t>
            </a:r>
            <a:endParaRPr lang="en-US" sz="2050" b="1" dirty="0"/>
          </a:p>
        </p:txBody>
      </p:sp>
      <p:sp>
        <p:nvSpPr>
          <p:cNvPr id="9" name="Text 7"/>
          <p:cNvSpPr/>
          <p:nvPr/>
        </p:nvSpPr>
        <p:spPr>
          <a:xfrm>
            <a:off x="4573471" y="3428980"/>
            <a:ext cx="3044749" cy="1938933"/>
          </a:xfrm>
          <a:prstGeom prst="rect">
            <a:avLst/>
          </a:prstGeom>
          <a:noFill/>
          <a:ln/>
        </p:spPr>
        <p:txBody>
          <a:bodyPr wrap="square" lIns="0" tIns="0" rIns="0" bIns="0" rtlCol="0" anchor="t">
            <a:noAutofit/>
          </a:bodyPr>
          <a:lstStyle/>
          <a:p>
            <a:pPr marL="0" indent="0" algn="just">
              <a:lnSpc>
                <a:spcPct val="127000"/>
              </a:lnSpc>
              <a:buNone/>
            </a:pPr>
            <a:r>
              <a:rPr lang="en-US" dirty="0">
                <a:solidFill>
                  <a:srgbClr val="2C3249"/>
                </a:solidFill>
                <a:latin typeface="Martel Sans" pitchFamily="34" charset="0"/>
                <a:ea typeface="Martel Sans" pitchFamily="34" charset="-122"/>
                <a:cs typeface="Martel Sans" pitchFamily="34" charset="-120"/>
              </a:rPr>
              <a:t>Contains the accounts of </a:t>
            </a:r>
            <a:r>
              <a:rPr lang="en-US" b="1" dirty="0">
                <a:solidFill>
                  <a:srgbClr val="2C3249"/>
                </a:solidFill>
                <a:latin typeface="Martel Sans Bold" pitchFamily="34" charset="0"/>
                <a:ea typeface="Martel Sans Bold" pitchFamily="34" charset="-122"/>
                <a:cs typeface="Martel Sans Bold" pitchFamily="34" charset="-120"/>
              </a:rPr>
              <a:t>credit suppliers</a:t>
            </a:r>
            <a:r>
              <a:rPr lang="en-US" dirty="0">
                <a:solidFill>
                  <a:srgbClr val="2C3249"/>
                </a:solidFill>
                <a:latin typeface="Martel Sans" pitchFamily="34" charset="0"/>
                <a:ea typeface="Martel Sans" pitchFamily="34" charset="-122"/>
                <a:cs typeface="Martel Sans" pitchFamily="34" charset="-120"/>
              </a:rPr>
              <a:t> from whom the business buys goods or services on credit. Shows how much the business owes each supplier.</a:t>
            </a:r>
            <a:endParaRPr lang="en-US" dirty="0"/>
          </a:p>
        </p:txBody>
      </p:sp>
      <p:sp>
        <p:nvSpPr>
          <p:cNvPr id="10" name="Shape 8"/>
          <p:cNvSpPr/>
          <p:nvPr/>
        </p:nvSpPr>
        <p:spPr>
          <a:xfrm>
            <a:off x="8034831" y="2466110"/>
            <a:ext cx="3495389" cy="3497135"/>
          </a:xfrm>
          <a:prstGeom prst="roundRect">
            <a:avLst>
              <a:gd name="adj" fmla="val 3149"/>
            </a:avLst>
          </a:prstGeom>
          <a:solidFill>
            <a:srgbClr val="DFECE9"/>
          </a:solidFill>
          <a:ln w="12700">
            <a:solidFill>
              <a:srgbClr val="C5D2CF"/>
            </a:solidFill>
            <a:prstDash val="solid"/>
          </a:ln>
        </p:spPr>
        <p:txBody>
          <a:bodyPr/>
          <a:lstStyle/>
          <a:p>
            <a:endParaRPr lang="en-US"/>
          </a:p>
        </p:txBody>
      </p:sp>
      <p:sp>
        <p:nvSpPr>
          <p:cNvPr id="11" name="Text 9"/>
          <p:cNvSpPr/>
          <p:nvPr/>
        </p:nvSpPr>
        <p:spPr>
          <a:xfrm>
            <a:off x="8260151" y="2781453"/>
            <a:ext cx="3044749" cy="332184"/>
          </a:xfrm>
          <a:prstGeom prst="rect">
            <a:avLst/>
          </a:prstGeom>
          <a:noFill/>
          <a:ln/>
        </p:spPr>
        <p:txBody>
          <a:bodyPr wrap="none" lIns="0" tIns="0" rIns="0" bIns="0" rtlCol="0" anchor="t"/>
          <a:lstStyle/>
          <a:p>
            <a:pPr marL="0" indent="0" algn="l">
              <a:lnSpc>
                <a:spcPct val="104000"/>
              </a:lnSpc>
              <a:buNone/>
            </a:pPr>
            <a:r>
              <a:rPr lang="en-US" sz="2050" b="1" dirty="0">
                <a:solidFill>
                  <a:srgbClr val="2C3249"/>
                </a:solidFill>
                <a:latin typeface="Kanit Light" pitchFamily="34" charset="0"/>
                <a:ea typeface="Kanit Light" pitchFamily="34" charset="-122"/>
                <a:cs typeface="Kanit Light" pitchFamily="34" charset="-120"/>
              </a:rPr>
              <a:t>General Ledger</a:t>
            </a:r>
            <a:endParaRPr lang="en-US" sz="2050" b="1" dirty="0"/>
          </a:p>
        </p:txBody>
      </p:sp>
      <p:sp>
        <p:nvSpPr>
          <p:cNvPr id="12" name="Text 10"/>
          <p:cNvSpPr/>
          <p:nvPr/>
        </p:nvSpPr>
        <p:spPr>
          <a:xfrm>
            <a:off x="8260150" y="3493043"/>
            <a:ext cx="3155995" cy="1938933"/>
          </a:xfrm>
          <a:prstGeom prst="rect">
            <a:avLst/>
          </a:prstGeom>
          <a:noFill/>
          <a:ln/>
        </p:spPr>
        <p:txBody>
          <a:bodyPr wrap="square" lIns="0" tIns="0" rIns="0" bIns="0" rtlCol="0" anchor="t">
            <a:noAutofit/>
          </a:bodyPr>
          <a:lstStyle/>
          <a:p>
            <a:pPr marL="0" indent="0" algn="l">
              <a:lnSpc>
                <a:spcPct val="127000"/>
              </a:lnSpc>
              <a:buNone/>
            </a:pPr>
            <a:r>
              <a:rPr lang="en-US" dirty="0">
                <a:solidFill>
                  <a:srgbClr val="2C3249"/>
                </a:solidFill>
                <a:latin typeface="Martel Sans" pitchFamily="34" charset="0"/>
                <a:ea typeface="Martel Sans" pitchFamily="34" charset="-122"/>
                <a:cs typeface="Martel Sans" pitchFamily="34" charset="-120"/>
              </a:rPr>
              <a:t>Contains </a:t>
            </a:r>
            <a:r>
              <a:rPr lang="en-US" b="1" dirty="0">
                <a:solidFill>
                  <a:srgbClr val="2C3249"/>
                </a:solidFill>
                <a:latin typeface="Martel Sans Bold" pitchFamily="34" charset="0"/>
                <a:ea typeface="Martel Sans Bold" pitchFamily="34" charset="-122"/>
                <a:cs typeface="Martel Sans Bold" pitchFamily="34" charset="-120"/>
              </a:rPr>
              <a:t>all other accounts</a:t>
            </a:r>
            <a:r>
              <a:rPr lang="en-US" dirty="0">
                <a:solidFill>
                  <a:srgbClr val="2C3249"/>
                </a:solidFill>
                <a:latin typeface="Martel Sans" pitchFamily="34" charset="0"/>
                <a:ea typeface="Martel Sans" pitchFamily="34" charset="-122"/>
                <a:cs typeface="Martel Sans" pitchFamily="34" charset="-120"/>
              </a:rPr>
              <a:t> not maintained in the sales or purchases ledgers. Records the business's assets, liabilities, capital, income and expenses.</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122524" y="251123"/>
            <a:ext cx="6296860" cy="1328936"/>
          </a:xfrm>
          <a:prstGeom prst="rect">
            <a:avLst/>
          </a:prstGeom>
          <a:noFill/>
          <a:ln/>
        </p:spPr>
        <p:txBody>
          <a:bodyPr wrap="square" lIns="0" tIns="0" rIns="0" bIns="0" rtlCol="0" anchor="t">
            <a:normAutofit/>
          </a:bodyPr>
          <a:lstStyle/>
          <a:p>
            <a:pPr marL="0" indent="0" algn="l">
              <a:lnSpc>
                <a:spcPct val="104000"/>
              </a:lnSpc>
              <a:buNone/>
            </a:pPr>
            <a:r>
              <a:rPr lang="en-US" sz="4150" dirty="0">
                <a:solidFill>
                  <a:srgbClr val="272D45"/>
                </a:solidFill>
                <a:latin typeface="Kanit Light" pitchFamily="34" charset="0"/>
                <a:ea typeface="Kanit Light" pitchFamily="34" charset="-122"/>
                <a:cs typeface="Kanit Light" pitchFamily="34" charset="-120"/>
              </a:rPr>
              <a:t>Double-Entry Accounting: The Fundamental Principle</a:t>
            </a:r>
            <a:endParaRPr lang="en-US" sz="4150" dirty="0"/>
          </a:p>
        </p:txBody>
      </p:sp>
      <p:sp>
        <p:nvSpPr>
          <p:cNvPr id="4" name="Text 1"/>
          <p:cNvSpPr/>
          <p:nvPr/>
        </p:nvSpPr>
        <p:spPr>
          <a:xfrm>
            <a:off x="5122524" y="1615520"/>
            <a:ext cx="6296860" cy="1292622"/>
          </a:xfrm>
          <a:prstGeom prst="rect">
            <a:avLst/>
          </a:prstGeom>
          <a:noFill/>
          <a:ln/>
        </p:spPr>
        <p:txBody>
          <a:bodyPr wrap="square" lIns="0" tIns="0" rIns="0" bIns="0" rtlCol="0" anchor="t">
            <a:noAutofit/>
          </a:bodyPr>
          <a:lstStyle/>
          <a:p>
            <a:pPr marL="0" indent="0" algn="just">
              <a:lnSpc>
                <a:spcPct val="127000"/>
              </a:lnSpc>
              <a:buNone/>
            </a:pPr>
            <a:r>
              <a:rPr lang="en-US" b="1" dirty="0">
                <a:solidFill>
                  <a:srgbClr val="2C3249"/>
                </a:solidFill>
                <a:latin typeface="Martel Sans Bold" pitchFamily="34" charset="0"/>
                <a:ea typeface="Martel Sans Bold" pitchFamily="34" charset="-122"/>
                <a:cs typeface="Martel Sans Bold" pitchFamily="34" charset="-120"/>
              </a:rPr>
              <a:t>Double-entry accounting</a:t>
            </a:r>
            <a:r>
              <a:rPr lang="en-US" dirty="0">
                <a:solidFill>
                  <a:srgbClr val="2C3249"/>
                </a:solidFill>
                <a:latin typeface="Martel Sans" pitchFamily="34" charset="0"/>
                <a:ea typeface="Martel Sans" pitchFamily="34" charset="-122"/>
                <a:cs typeface="Martel Sans" pitchFamily="34" charset="-120"/>
              </a:rPr>
              <a:t> is the principle that every financial transaction affects at least two accounts, with an equal amount recorded as a debit (Dr) in one or more accounts and a credit (Cr) in another account or accounts.</a:t>
            </a:r>
            <a:endParaRPr lang="en-US" dirty="0"/>
          </a:p>
        </p:txBody>
      </p:sp>
      <p:sp>
        <p:nvSpPr>
          <p:cNvPr id="5" name="Text 2"/>
          <p:cNvSpPr/>
          <p:nvPr/>
        </p:nvSpPr>
        <p:spPr>
          <a:xfrm>
            <a:off x="5552242" y="4075410"/>
            <a:ext cx="6587563" cy="323155"/>
          </a:xfrm>
          <a:prstGeom prst="rect">
            <a:avLst/>
          </a:prstGeom>
          <a:noFill/>
          <a:ln/>
        </p:spPr>
        <p:txBody>
          <a:bodyPr wrap="none" lIns="0" tIns="0" rIns="0" bIns="0" rtlCol="0" anchor="t"/>
          <a:lstStyle/>
          <a:p>
            <a:pPr marL="0" indent="0" algn="l">
              <a:lnSpc>
                <a:spcPct val="127000"/>
              </a:lnSpc>
              <a:buNone/>
            </a:pPr>
            <a:r>
              <a:rPr lang="en-US" sz="1650" dirty="0">
                <a:solidFill>
                  <a:srgbClr val="2C3249"/>
                </a:solidFill>
                <a:latin typeface="Martel Sans" pitchFamily="34" charset="0"/>
                <a:ea typeface="Martel Sans" pitchFamily="34" charset="-122"/>
                <a:cs typeface="Martel Sans" pitchFamily="34" charset="-120"/>
              </a:rPr>
              <a:t>The fundamental rule: </a:t>
            </a:r>
            <a:r>
              <a:rPr lang="en-US" sz="1650" b="1" dirty="0">
                <a:solidFill>
                  <a:srgbClr val="2C3249"/>
                </a:solidFill>
                <a:latin typeface="Martel Sans Bold" pitchFamily="34" charset="0"/>
                <a:ea typeface="Martel Sans Bold" pitchFamily="34" charset="-122"/>
                <a:cs typeface="Martel Sans Bold" pitchFamily="34" charset="-120"/>
              </a:rPr>
              <a:t>Total Debits = Total Credits</a:t>
            </a:r>
            <a:endParaRPr lang="en-US" sz="1650" dirty="0"/>
          </a:p>
        </p:txBody>
      </p:sp>
      <p:sp>
        <p:nvSpPr>
          <p:cNvPr id="6" name="Shape 3"/>
          <p:cNvSpPr/>
          <p:nvPr/>
        </p:nvSpPr>
        <p:spPr>
          <a:xfrm>
            <a:off x="5233360" y="3860105"/>
            <a:ext cx="25399" cy="753765"/>
          </a:xfrm>
          <a:prstGeom prst="roundRect">
            <a:avLst>
              <a:gd name="adj" fmla="val 50001"/>
            </a:avLst>
          </a:prstGeom>
          <a:solidFill>
            <a:srgbClr val="437066"/>
          </a:solidFill>
          <a:ln/>
        </p:spPr>
        <p:txBody>
          <a:bodyPr/>
          <a:lstStyle/>
          <a:p>
            <a:endParaRPr lang="en-US"/>
          </a:p>
        </p:txBody>
      </p:sp>
      <p:sp>
        <p:nvSpPr>
          <p:cNvPr id="7" name="Text 4"/>
          <p:cNvSpPr/>
          <p:nvPr/>
        </p:nvSpPr>
        <p:spPr>
          <a:xfrm>
            <a:off x="5233360" y="4829175"/>
            <a:ext cx="6296860" cy="1292622"/>
          </a:xfrm>
          <a:prstGeom prst="rect">
            <a:avLst/>
          </a:prstGeom>
          <a:noFill/>
          <a:ln/>
        </p:spPr>
        <p:txBody>
          <a:bodyPr wrap="square" lIns="0" tIns="0" rIns="0" bIns="0" rtlCol="0" anchor="t">
            <a:noAutofit/>
          </a:bodyPr>
          <a:lstStyle/>
          <a:p>
            <a:pPr marL="0" indent="0" algn="just">
              <a:lnSpc>
                <a:spcPct val="127000"/>
              </a:lnSpc>
              <a:buNone/>
            </a:pPr>
            <a:r>
              <a:rPr lang="en-US" dirty="0">
                <a:solidFill>
                  <a:srgbClr val="2C3249"/>
                </a:solidFill>
                <a:latin typeface="Martel Sans" pitchFamily="34" charset="0"/>
                <a:ea typeface="Martel Sans" pitchFamily="34" charset="-122"/>
                <a:cs typeface="Martel Sans" pitchFamily="34" charset="-120"/>
              </a:rPr>
              <a:t>This system is based on the accounting equation: </a:t>
            </a:r>
            <a:r>
              <a:rPr lang="en-US" b="1" dirty="0">
                <a:solidFill>
                  <a:srgbClr val="2C3249"/>
                </a:solidFill>
                <a:latin typeface="Martel Sans Bold" pitchFamily="34" charset="0"/>
                <a:ea typeface="Martel Sans Bold" pitchFamily="34" charset="-122"/>
                <a:cs typeface="Martel Sans Bold" pitchFamily="34" charset="-120"/>
              </a:rPr>
              <a:t>Assets = Liabilities + Capital (Equity)</a:t>
            </a:r>
            <a:r>
              <a:rPr lang="en-US" dirty="0">
                <a:solidFill>
                  <a:srgbClr val="2C3249"/>
                </a:solidFill>
                <a:latin typeface="Martel Sans" pitchFamily="34" charset="0"/>
                <a:ea typeface="Martel Sans" pitchFamily="34" charset="-122"/>
                <a:cs typeface="Martel Sans" pitchFamily="34" charset="-120"/>
              </a:rPr>
              <a:t>. Debit and credit do not simply mean increase and decrease their effect depends on the type of account being recorded.</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853756" y="234312"/>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272D45"/>
                </a:solidFill>
                <a:latin typeface="Kanit Light" pitchFamily="34" charset="0"/>
                <a:ea typeface="Kanit Light" pitchFamily="34" charset="-122"/>
                <a:cs typeface="Kanit Light" pitchFamily="34" charset="-120"/>
              </a:rPr>
              <a:t>Debit and Credit: Rules by Account Type</a:t>
            </a:r>
            <a:endParaRPr lang="en-US" sz="3700" dirty="0"/>
          </a:p>
        </p:txBody>
      </p:sp>
      <p:sp>
        <p:nvSpPr>
          <p:cNvPr id="3" name="Shape 1"/>
          <p:cNvSpPr/>
          <p:nvPr/>
        </p:nvSpPr>
        <p:spPr>
          <a:xfrm>
            <a:off x="661475" y="1810048"/>
            <a:ext cx="10868745" cy="4130873"/>
          </a:xfrm>
          <a:prstGeom prst="roundRect">
            <a:avLst>
              <a:gd name="adj" fmla="val 1922"/>
            </a:avLst>
          </a:prstGeom>
          <a:noFill/>
          <a:ln w="6350">
            <a:solidFill>
              <a:srgbClr val="000000">
                <a:alpha val="8000"/>
              </a:srgbClr>
            </a:solidFill>
            <a:prstDash val="solid"/>
          </a:ln>
        </p:spPr>
        <p:txBody>
          <a:bodyPr/>
          <a:lstStyle/>
          <a:p>
            <a:endParaRPr lang="en-US"/>
          </a:p>
        </p:txBody>
      </p:sp>
      <p:sp>
        <p:nvSpPr>
          <p:cNvPr id="4" name="Shape 2"/>
          <p:cNvSpPr/>
          <p:nvPr/>
        </p:nvSpPr>
        <p:spPr>
          <a:xfrm>
            <a:off x="661475" y="2285802"/>
            <a:ext cx="10868745" cy="11814"/>
          </a:xfrm>
          <a:prstGeom prst="rect">
            <a:avLst/>
          </a:prstGeom>
          <a:solidFill>
            <a:srgbClr val="000000">
              <a:alpha val="8000"/>
            </a:srgbClr>
          </a:solidFill>
          <a:ln/>
        </p:spPr>
        <p:txBody>
          <a:bodyPr/>
          <a:lstStyle/>
          <a:p>
            <a:endParaRPr lang="en-US"/>
          </a:p>
        </p:txBody>
      </p:sp>
      <p:sp>
        <p:nvSpPr>
          <p:cNvPr id="5" name="Shape 3"/>
          <p:cNvSpPr/>
          <p:nvPr/>
        </p:nvSpPr>
        <p:spPr>
          <a:xfrm>
            <a:off x="661475" y="2758380"/>
            <a:ext cx="10868745" cy="11814"/>
          </a:xfrm>
          <a:prstGeom prst="rect">
            <a:avLst/>
          </a:prstGeom>
          <a:solidFill>
            <a:srgbClr val="000000">
              <a:alpha val="8000"/>
            </a:srgbClr>
          </a:solidFill>
          <a:ln/>
        </p:spPr>
        <p:txBody>
          <a:bodyPr/>
          <a:lstStyle/>
          <a:p>
            <a:endParaRPr lang="en-US"/>
          </a:p>
        </p:txBody>
      </p:sp>
      <p:sp>
        <p:nvSpPr>
          <p:cNvPr id="6" name="Shape 4"/>
          <p:cNvSpPr/>
          <p:nvPr/>
        </p:nvSpPr>
        <p:spPr>
          <a:xfrm>
            <a:off x="661475" y="3230959"/>
            <a:ext cx="10868745" cy="11814"/>
          </a:xfrm>
          <a:prstGeom prst="rect">
            <a:avLst/>
          </a:prstGeom>
          <a:solidFill>
            <a:srgbClr val="000000">
              <a:alpha val="8000"/>
            </a:srgbClr>
          </a:solidFill>
          <a:ln/>
        </p:spPr>
        <p:txBody>
          <a:bodyPr/>
          <a:lstStyle/>
          <a:p>
            <a:endParaRPr lang="en-US"/>
          </a:p>
        </p:txBody>
      </p:sp>
      <p:sp>
        <p:nvSpPr>
          <p:cNvPr id="7" name="Shape 5"/>
          <p:cNvSpPr/>
          <p:nvPr/>
        </p:nvSpPr>
        <p:spPr>
          <a:xfrm>
            <a:off x="661475" y="3703538"/>
            <a:ext cx="10868745" cy="11814"/>
          </a:xfrm>
          <a:prstGeom prst="rect">
            <a:avLst/>
          </a:prstGeom>
          <a:solidFill>
            <a:srgbClr val="000000">
              <a:alpha val="8000"/>
            </a:srgbClr>
          </a:solidFill>
          <a:ln/>
        </p:spPr>
        <p:txBody>
          <a:bodyPr/>
          <a:lstStyle/>
          <a:p>
            <a:endParaRPr lang="en-US"/>
          </a:p>
        </p:txBody>
      </p:sp>
      <p:sp>
        <p:nvSpPr>
          <p:cNvPr id="8" name="Shape 6"/>
          <p:cNvSpPr/>
          <p:nvPr/>
        </p:nvSpPr>
        <p:spPr>
          <a:xfrm>
            <a:off x="661475" y="4176117"/>
            <a:ext cx="10868745" cy="11814"/>
          </a:xfrm>
          <a:prstGeom prst="rect">
            <a:avLst/>
          </a:prstGeom>
          <a:solidFill>
            <a:srgbClr val="000000">
              <a:alpha val="8000"/>
            </a:srgbClr>
          </a:solidFill>
          <a:ln/>
        </p:spPr>
        <p:txBody>
          <a:bodyPr/>
          <a:lstStyle/>
          <a:p>
            <a:endParaRPr lang="en-US"/>
          </a:p>
        </p:txBody>
      </p:sp>
      <p:sp>
        <p:nvSpPr>
          <p:cNvPr id="9" name="Shape 7"/>
          <p:cNvSpPr/>
          <p:nvPr/>
        </p:nvSpPr>
        <p:spPr>
          <a:xfrm>
            <a:off x="661475" y="4648696"/>
            <a:ext cx="10868745" cy="11814"/>
          </a:xfrm>
          <a:prstGeom prst="rect">
            <a:avLst/>
          </a:prstGeom>
          <a:solidFill>
            <a:srgbClr val="000000">
              <a:alpha val="8000"/>
            </a:srgbClr>
          </a:solidFill>
          <a:ln/>
        </p:spPr>
        <p:txBody>
          <a:bodyPr/>
          <a:lstStyle/>
          <a:p>
            <a:endParaRPr lang="en-US"/>
          </a:p>
        </p:txBody>
      </p:sp>
      <p:sp>
        <p:nvSpPr>
          <p:cNvPr id="10" name="Shape 8"/>
          <p:cNvSpPr/>
          <p:nvPr/>
        </p:nvSpPr>
        <p:spPr>
          <a:xfrm>
            <a:off x="3381985" y="1810048"/>
            <a:ext cx="11814" cy="4130873"/>
          </a:xfrm>
          <a:prstGeom prst="rect">
            <a:avLst/>
          </a:prstGeom>
          <a:solidFill>
            <a:srgbClr val="000000">
              <a:alpha val="8000"/>
            </a:srgbClr>
          </a:solidFill>
          <a:ln/>
        </p:spPr>
        <p:txBody>
          <a:bodyPr/>
          <a:lstStyle/>
          <a:p>
            <a:endParaRPr lang="en-US"/>
          </a:p>
        </p:txBody>
      </p:sp>
      <p:sp>
        <p:nvSpPr>
          <p:cNvPr id="11" name="Shape 9"/>
          <p:cNvSpPr/>
          <p:nvPr/>
        </p:nvSpPr>
        <p:spPr>
          <a:xfrm>
            <a:off x="6095947" y="1810048"/>
            <a:ext cx="11814" cy="4130873"/>
          </a:xfrm>
          <a:prstGeom prst="rect">
            <a:avLst/>
          </a:prstGeom>
          <a:solidFill>
            <a:srgbClr val="000000">
              <a:alpha val="8000"/>
            </a:srgbClr>
          </a:solidFill>
          <a:ln/>
        </p:spPr>
        <p:txBody>
          <a:bodyPr/>
          <a:lstStyle/>
          <a:p>
            <a:endParaRPr lang="en-US"/>
          </a:p>
        </p:txBody>
      </p:sp>
      <p:sp>
        <p:nvSpPr>
          <p:cNvPr id="12" name="Shape 10"/>
          <p:cNvSpPr/>
          <p:nvPr/>
        </p:nvSpPr>
        <p:spPr>
          <a:xfrm>
            <a:off x="8809909" y="1810048"/>
            <a:ext cx="11814" cy="4130873"/>
          </a:xfrm>
          <a:prstGeom prst="rect">
            <a:avLst/>
          </a:prstGeom>
          <a:solidFill>
            <a:srgbClr val="000000">
              <a:alpha val="8000"/>
            </a:srgbClr>
          </a:solidFill>
          <a:ln/>
        </p:spPr>
        <p:txBody>
          <a:bodyPr/>
          <a:lstStyle/>
          <a:p>
            <a:endParaRPr lang="en-US"/>
          </a:p>
        </p:txBody>
      </p:sp>
      <p:sp>
        <p:nvSpPr>
          <p:cNvPr id="13" name="Text 11"/>
          <p:cNvSpPr/>
          <p:nvPr/>
        </p:nvSpPr>
        <p:spPr>
          <a:xfrm>
            <a:off x="857030" y="1913434"/>
            <a:ext cx="2942358" cy="272157"/>
          </a:xfrm>
          <a:prstGeom prst="rect">
            <a:avLst/>
          </a:prstGeom>
          <a:noFill/>
          <a:ln/>
        </p:spPr>
        <p:txBody>
          <a:bodyPr wrap="none" lIns="0" tIns="0" rIns="0" bIns="0" rtlCol="0" anchor="t"/>
          <a:lstStyle/>
          <a:p>
            <a:pPr marL="0" indent="0" algn="l">
              <a:lnSpc>
                <a:spcPct val="120000"/>
              </a:lnSpc>
              <a:buNone/>
            </a:pPr>
            <a:r>
              <a:rPr lang="en-US" sz="1450" b="1" dirty="0">
                <a:solidFill>
                  <a:srgbClr val="2C3249"/>
                </a:solidFill>
                <a:latin typeface="Martel Sans Bold" pitchFamily="34" charset="0"/>
                <a:ea typeface="Martel Sans Bold" pitchFamily="34" charset="-122"/>
                <a:cs typeface="Martel Sans Bold" pitchFamily="34" charset="-120"/>
              </a:rPr>
              <a:t>Account Type</a:t>
            </a:r>
            <a:endParaRPr lang="en-US" sz="1450" dirty="0"/>
          </a:p>
        </p:txBody>
      </p:sp>
      <p:sp>
        <p:nvSpPr>
          <p:cNvPr id="14" name="Text 12"/>
          <p:cNvSpPr/>
          <p:nvPr/>
        </p:nvSpPr>
        <p:spPr>
          <a:xfrm>
            <a:off x="3574167" y="1913434"/>
            <a:ext cx="2939183" cy="272157"/>
          </a:xfrm>
          <a:prstGeom prst="rect">
            <a:avLst/>
          </a:prstGeom>
          <a:noFill/>
          <a:ln/>
        </p:spPr>
        <p:txBody>
          <a:bodyPr wrap="none" lIns="0" tIns="0" rIns="0" bIns="0" rtlCol="0" anchor="t"/>
          <a:lstStyle/>
          <a:p>
            <a:pPr marL="0" indent="0" algn="l">
              <a:lnSpc>
                <a:spcPct val="120000"/>
              </a:lnSpc>
              <a:buNone/>
            </a:pPr>
            <a:r>
              <a:rPr lang="en-US" sz="1450" b="1" dirty="0">
                <a:solidFill>
                  <a:srgbClr val="2C3249"/>
                </a:solidFill>
                <a:latin typeface="Martel Sans Bold" pitchFamily="34" charset="0"/>
                <a:ea typeface="Martel Sans Bold" pitchFamily="34" charset="-122"/>
                <a:cs typeface="Martel Sans Bold" pitchFamily="34" charset="-120"/>
              </a:rPr>
              <a:t>Debit (Dr)</a:t>
            </a:r>
            <a:endParaRPr lang="en-US" sz="1450" dirty="0"/>
          </a:p>
        </p:txBody>
      </p:sp>
      <p:sp>
        <p:nvSpPr>
          <p:cNvPr id="15" name="Text 13"/>
          <p:cNvSpPr/>
          <p:nvPr/>
        </p:nvSpPr>
        <p:spPr>
          <a:xfrm>
            <a:off x="6288129" y="1913434"/>
            <a:ext cx="2939183" cy="272157"/>
          </a:xfrm>
          <a:prstGeom prst="rect">
            <a:avLst/>
          </a:prstGeom>
          <a:noFill/>
          <a:ln/>
        </p:spPr>
        <p:txBody>
          <a:bodyPr wrap="none" lIns="0" tIns="0" rIns="0" bIns="0" rtlCol="0" anchor="t"/>
          <a:lstStyle/>
          <a:p>
            <a:pPr marL="0" indent="0" algn="l">
              <a:lnSpc>
                <a:spcPct val="120000"/>
              </a:lnSpc>
              <a:buNone/>
            </a:pPr>
            <a:r>
              <a:rPr lang="en-US" sz="1450" b="1" dirty="0">
                <a:solidFill>
                  <a:srgbClr val="2C3249"/>
                </a:solidFill>
                <a:latin typeface="Martel Sans Bold" pitchFamily="34" charset="0"/>
                <a:ea typeface="Martel Sans Bold" pitchFamily="34" charset="-122"/>
                <a:cs typeface="Martel Sans Bold" pitchFamily="34" charset="-120"/>
              </a:rPr>
              <a:t>Credit (Cr)</a:t>
            </a:r>
            <a:endParaRPr lang="en-US" sz="1450" dirty="0"/>
          </a:p>
        </p:txBody>
      </p:sp>
      <p:sp>
        <p:nvSpPr>
          <p:cNvPr id="16" name="Text 14"/>
          <p:cNvSpPr/>
          <p:nvPr/>
        </p:nvSpPr>
        <p:spPr>
          <a:xfrm>
            <a:off x="9002090" y="1913434"/>
            <a:ext cx="2942358" cy="272157"/>
          </a:xfrm>
          <a:prstGeom prst="rect">
            <a:avLst/>
          </a:prstGeom>
          <a:noFill/>
          <a:ln/>
        </p:spPr>
        <p:txBody>
          <a:bodyPr wrap="none" lIns="0" tIns="0" rIns="0" bIns="0" rtlCol="0" anchor="t"/>
          <a:lstStyle/>
          <a:p>
            <a:pPr marL="0" indent="0" algn="l">
              <a:lnSpc>
                <a:spcPct val="120000"/>
              </a:lnSpc>
              <a:buNone/>
            </a:pPr>
            <a:r>
              <a:rPr lang="en-US" sz="1450" b="1" dirty="0">
                <a:solidFill>
                  <a:srgbClr val="2C3249"/>
                </a:solidFill>
                <a:latin typeface="Martel Sans Bold" pitchFamily="34" charset="0"/>
                <a:ea typeface="Martel Sans Bold" pitchFamily="34" charset="-122"/>
                <a:cs typeface="Martel Sans Bold" pitchFamily="34" charset="-120"/>
              </a:rPr>
              <a:t>Normal Balance</a:t>
            </a:r>
            <a:endParaRPr lang="en-US" sz="1450" dirty="0"/>
          </a:p>
        </p:txBody>
      </p:sp>
      <p:sp>
        <p:nvSpPr>
          <p:cNvPr id="17" name="Text 15"/>
          <p:cNvSpPr/>
          <p:nvPr/>
        </p:nvSpPr>
        <p:spPr>
          <a:xfrm>
            <a:off x="857030" y="2386013"/>
            <a:ext cx="2942358" cy="272157"/>
          </a:xfrm>
          <a:prstGeom prst="rect">
            <a:avLst/>
          </a:prstGeom>
          <a:noFill/>
          <a:ln/>
        </p:spPr>
        <p:txBody>
          <a:bodyPr wrap="none" lIns="0" tIns="0" rIns="0" bIns="0" rtlCol="0" anchor="t"/>
          <a:lstStyle/>
          <a:p>
            <a:pPr marL="0" indent="0" algn="l">
              <a:lnSpc>
                <a:spcPct val="120000"/>
              </a:lnSpc>
              <a:buNone/>
            </a:pPr>
            <a:r>
              <a:rPr lang="en-US" sz="1450" dirty="0">
                <a:solidFill>
                  <a:srgbClr val="2C3249"/>
                </a:solidFill>
                <a:latin typeface="Martel Sans" pitchFamily="34" charset="0"/>
                <a:ea typeface="Martel Sans" pitchFamily="34" charset="-122"/>
                <a:cs typeface="Martel Sans" pitchFamily="34" charset="-120"/>
              </a:rPr>
              <a:t>Assets</a:t>
            </a:r>
            <a:endParaRPr lang="en-US" sz="1450" dirty="0"/>
          </a:p>
        </p:txBody>
      </p:sp>
      <p:sp>
        <p:nvSpPr>
          <p:cNvPr id="18" name="Text 16"/>
          <p:cNvSpPr/>
          <p:nvPr/>
        </p:nvSpPr>
        <p:spPr>
          <a:xfrm>
            <a:off x="3574167" y="2386013"/>
            <a:ext cx="2939183" cy="272157"/>
          </a:xfrm>
          <a:prstGeom prst="rect">
            <a:avLst/>
          </a:prstGeom>
          <a:noFill/>
          <a:ln/>
        </p:spPr>
        <p:txBody>
          <a:bodyPr wrap="none" lIns="0" tIns="0" rIns="0" bIns="0" rtlCol="0" anchor="t"/>
          <a:lstStyle/>
          <a:p>
            <a:pPr marL="0" indent="0" algn="l">
              <a:lnSpc>
                <a:spcPct val="120000"/>
              </a:lnSpc>
              <a:buNone/>
            </a:pPr>
            <a:r>
              <a:rPr lang="en-US" sz="1450" dirty="0">
                <a:solidFill>
                  <a:srgbClr val="2C3249"/>
                </a:solidFill>
                <a:latin typeface="Martel Sans" pitchFamily="34" charset="0"/>
                <a:ea typeface="Martel Sans" pitchFamily="34" charset="-122"/>
                <a:cs typeface="Martel Sans" pitchFamily="34" charset="-120"/>
              </a:rPr>
              <a:t>Increase</a:t>
            </a:r>
            <a:endParaRPr lang="en-US" sz="1450" dirty="0"/>
          </a:p>
        </p:txBody>
      </p:sp>
      <p:sp>
        <p:nvSpPr>
          <p:cNvPr id="19" name="Text 17"/>
          <p:cNvSpPr/>
          <p:nvPr/>
        </p:nvSpPr>
        <p:spPr>
          <a:xfrm>
            <a:off x="6288129" y="2386013"/>
            <a:ext cx="2939183" cy="272157"/>
          </a:xfrm>
          <a:prstGeom prst="rect">
            <a:avLst/>
          </a:prstGeom>
          <a:noFill/>
          <a:ln/>
        </p:spPr>
        <p:txBody>
          <a:bodyPr wrap="none" lIns="0" tIns="0" rIns="0" bIns="0" rtlCol="0" anchor="t"/>
          <a:lstStyle/>
          <a:p>
            <a:pPr marL="0" indent="0" algn="l">
              <a:lnSpc>
                <a:spcPct val="120000"/>
              </a:lnSpc>
              <a:buNone/>
            </a:pPr>
            <a:r>
              <a:rPr lang="en-US" sz="1450" dirty="0">
                <a:solidFill>
                  <a:srgbClr val="2C3249"/>
                </a:solidFill>
                <a:latin typeface="Martel Sans" pitchFamily="34" charset="0"/>
                <a:ea typeface="Martel Sans" pitchFamily="34" charset="-122"/>
                <a:cs typeface="Martel Sans" pitchFamily="34" charset="-120"/>
              </a:rPr>
              <a:t>Decrease</a:t>
            </a:r>
            <a:endParaRPr lang="en-US" sz="1450" dirty="0"/>
          </a:p>
        </p:txBody>
      </p:sp>
      <p:sp>
        <p:nvSpPr>
          <p:cNvPr id="20" name="Text 18"/>
          <p:cNvSpPr/>
          <p:nvPr/>
        </p:nvSpPr>
        <p:spPr>
          <a:xfrm>
            <a:off x="9002090" y="2386013"/>
            <a:ext cx="2942358" cy="272157"/>
          </a:xfrm>
          <a:prstGeom prst="rect">
            <a:avLst/>
          </a:prstGeom>
          <a:noFill/>
          <a:ln/>
        </p:spPr>
        <p:txBody>
          <a:bodyPr wrap="none" lIns="0" tIns="0" rIns="0" bIns="0" rtlCol="0" anchor="t"/>
          <a:lstStyle/>
          <a:p>
            <a:pPr marL="0" indent="0" algn="l">
              <a:lnSpc>
                <a:spcPct val="120000"/>
              </a:lnSpc>
              <a:buNone/>
            </a:pPr>
            <a:r>
              <a:rPr lang="en-US" sz="1450" dirty="0">
                <a:solidFill>
                  <a:srgbClr val="2C3249"/>
                </a:solidFill>
                <a:latin typeface="Martel Sans" pitchFamily="34" charset="0"/>
                <a:ea typeface="Martel Sans" pitchFamily="34" charset="-122"/>
                <a:cs typeface="Martel Sans" pitchFamily="34" charset="-120"/>
              </a:rPr>
              <a:t>Debit</a:t>
            </a:r>
            <a:endParaRPr lang="en-US" sz="1450" dirty="0"/>
          </a:p>
        </p:txBody>
      </p:sp>
      <p:sp>
        <p:nvSpPr>
          <p:cNvPr id="21" name="Text 19"/>
          <p:cNvSpPr/>
          <p:nvPr/>
        </p:nvSpPr>
        <p:spPr>
          <a:xfrm>
            <a:off x="857030" y="2858591"/>
            <a:ext cx="2942358" cy="272157"/>
          </a:xfrm>
          <a:prstGeom prst="rect">
            <a:avLst/>
          </a:prstGeom>
          <a:noFill/>
          <a:ln/>
        </p:spPr>
        <p:txBody>
          <a:bodyPr wrap="none" lIns="0" tIns="0" rIns="0" bIns="0" rtlCol="0" anchor="t"/>
          <a:lstStyle/>
          <a:p>
            <a:pPr marL="0" indent="0" algn="l">
              <a:lnSpc>
                <a:spcPct val="120000"/>
              </a:lnSpc>
              <a:buNone/>
            </a:pPr>
            <a:r>
              <a:rPr lang="en-US" sz="1450" dirty="0">
                <a:solidFill>
                  <a:srgbClr val="2C3249"/>
                </a:solidFill>
                <a:latin typeface="Martel Sans" pitchFamily="34" charset="0"/>
                <a:ea typeface="Martel Sans" pitchFamily="34" charset="-122"/>
                <a:cs typeface="Martel Sans" pitchFamily="34" charset="-120"/>
              </a:rPr>
              <a:t>Liabilities</a:t>
            </a:r>
            <a:endParaRPr lang="en-US" sz="1450" dirty="0"/>
          </a:p>
        </p:txBody>
      </p:sp>
      <p:sp>
        <p:nvSpPr>
          <p:cNvPr id="22" name="Text 20"/>
          <p:cNvSpPr/>
          <p:nvPr/>
        </p:nvSpPr>
        <p:spPr>
          <a:xfrm>
            <a:off x="3574167" y="2858591"/>
            <a:ext cx="2939183" cy="272157"/>
          </a:xfrm>
          <a:prstGeom prst="rect">
            <a:avLst/>
          </a:prstGeom>
          <a:noFill/>
          <a:ln/>
        </p:spPr>
        <p:txBody>
          <a:bodyPr wrap="none" lIns="0" tIns="0" rIns="0" bIns="0" rtlCol="0" anchor="t"/>
          <a:lstStyle/>
          <a:p>
            <a:pPr marL="0" indent="0" algn="l">
              <a:lnSpc>
                <a:spcPct val="120000"/>
              </a:lnSpc>
              <a:buNone/>
            </a:pPr>
            <a:r>
              <a:rPr lang="en-US" sz="1450" dirty="0">
                <a:solidFill>
                  <a:srgbClr val="2C3249"/>
                </a:solidFill>
                <a:latin typeface="Martel Sans" pitchFamily="34" charset="0"/>
                <a:ea typeface="Martel Sans" pitchFamily="34" charset="-122"/>
                <a:cs typeface="Martel Sans" pitchFamily="34" charset="-120"/>
              </a:rPr>
              <a:t>Decrease</a:t>
            </a:r>
            <a:endParaRPr lang="en-US" sz="1450" dirty="0"/>
          </a:p>
        </p:txBody>
      </p:sp>
      <p:sp>
        <p:nvSpPr>
          <p:cNvPr id="23" name="Text 21"/>
          <p:cNvSpPr/>
          <p:nvPr/>
        </p:nvSpPr>
        <p:spPr>
          <a:xfrm>
            <a:off x="6288129" y="2858591"/>
            <a:ext cx="2939183" cy="272157"/>
          </a:xfrm>
          <a:prstGeom prst="rect">
            <a:avLst/>
          </a:prstGeom>
          <a:noFill/>
          <a:ln/>
        </p:spPr>
        <p:txBody>
          <a:bodyPr wrap="none" lIns="0" tIns="0" rIns="0" bIns="0" rtlCol="0" anchor="t"/>
          <a:lstStyle/>
          <a:p>
            <a:pPr marL="0" indent="0" algn="l">
              <a:lnSpc>
                <a:spcPct val="120000"/>
              </a:lnSpc>
              <a:buNone/>
            </a:pPr>
            <a:r>
              <a:rPr lang="en-US" sz="1450" dirty="0">
                <a:solidFill>
                  <a:srgbClr val="2C3249"/>
                </a:solidFill>
                <a:latin typeface="Martel Sans" pitchFamily="34" charset="0"/>
                <a:ea typeface="Martel Sans" pitchFamily="34" charset="-122"/>
                <a:cs typeface="Martel Sans" pitchFamily="34" charset="-120"/>
              </a:rPr>
              <a:t>Increase</a:t>
            </a:r>
            <a:endParaRPr lang="en-US" sz="1450" dirty="0"/>
          </a:p>
        </p:txBody>
      </p:sp>
      <p:sp>
        <p:nvSpPr>
          <p:cNvPr id="24" name="Text 22"/>
          <p:cNvSpPr/>
          <p:nvPr/>
        </p:nvSpPr>
        <p:spPr>
          <a:xfrm>
            <a:off x="9002090" y="2858591"/>
            <a:ext cx="2942358" cy="272157"/>
          </a:xfrm>
          <a:prstGeom prst="rect">
            <a:avLst/>
          </a:prstGeom>
          <a:noFill/>
          <a:ln/>
        </p:spPr>
        <p:txBody>
          <a:bodyPr wrap="none" lIns="0" tIns="0" rIns="0" bIns="0" rtlCol="0" anchor="t"/>
          <a:lstStyle/>
          <a:p>
            <a:pPr marL="0" indent="0" algn="l">
              <a:lnSpc>
                <a:spcPct val="120000"/>
              </a:lnSpc>
              <a:buNone/>
            </a:pPr>
            <a:r>
              <a:rPr lang="en-US" sz="1450" dirty="0">
                <a:solidFill>
                  <a:srgbClr val="2C3249"/>
                </a:solidFill>
                <a:latin typeface="Martel Sans" pitchFamily="34" charset="0"/>
                <a:ea typeface="Martel Sans" pitchFamily="34" charset="-122"/>
                <a:cs typeface="Martel Sans" pitchFamily="34" charset="-120"/>
              </a:rPr>
              <a:t>Credit</a:t>
            </a:r>
            <a:endParaRPr lang="en-US" sz="1450" dirty="0"/>
          </a:p>
        </p:txBody>
      </p:sp>
      <p:sp>
        <p:nvSpPr>
          <p:cNvPr id="25" name="Text 23"/>
          <p:cNvSpPr/>
          <p:nvPr/>
        </p:nvSpPr>
        <p:spPr>
          <a:xfrm>
            <a:off x="857030" y="3331170"/>
            <a:ext cx="2942358" cy="272157"/>
          </a:xfrm>
          <a:prstGeom prst="rect">
            <a:avLst/>
          </a:prstGeom>
          <a:noFill/>
          <a:ln/>
        </p:spPr>
        <p:txBody>
          <a:bodyPr wrap="none" lIns="0" tIns="0" rIns="0" bIns="0" rtlCol="0" anchor="t"/>
          <a:lstStyle/>
          <a:p>
            <a:pPr marL="0" indent="0" algn="l">
              <a:lnSpc>
                <a:spcPct val="120000"/>
              </a:lnSpc>
              <a:buNone/>
            </a:pPr>
            <a:r>
              <a:rPr lang="en-US" sz="1450" dirty="0">
                <a:solidFill>
                  <a:srgbClr val="2C3249"/>
                </a:solidFill>
                <a:latin typeface="Martel Sans" pitchFamily="34" charset="0"/>
                <a:ea typeface="Martel Sans" pitchFamily="34" charset="-122"/>
                <a:cs typeface="Martel Sans" pitchFamily="34" charset="-120"/>
              </a:rPr>
              <a:t>Capital/Equity</a:t>
            </a:r>
            <a:endParaRPr lang="en-US" sz="1450" dirty="0"/>
          </a:p>
        </p:txBody>
      </p:sp>
      <p:sp>
        <p:nvSpPr>
          <p:cNvPr id="26" name="Text 24"/>
          <p:cNvSpPr/>
          <p:nvPr/>
        </p:nvSpPr>
        <p:spPr>
          <a:xfrm>
            <a:off x="3574167" y="3331170"/>
            <a:ext cx="2939183" cy="272157"/>
          </a:xfrm>
          <a:prstGeom prst="rect">
            <a:avLst/>
          </a:prstGeom>
          <a:noFill/>
          <a:ln/>
        </p:spPr>
        <p:txBody>
          <a:bodyPr wrap="none" lIns="0" tIns="0" rIns="0" bIns="0" rtlCol="0" anchor="t"/>
          <a:lstStyle/>
          <a:p>
            <a:pPr marL="0" indent="0" algn="l">
              <a:lnSpc>
                <a:spcPct val="120000"/>
              </a:lnSpc>
              <a:buNone/>
            </a:pPr>
            <a:r>
              <a:rPr lang="en-US" sz="1450" dirty="0">
                <a:solidFill>
                  <a:srgbClr val="2C3249"/>
                </a:solidFill>
                <a:latin typeface="Martel Sans" pitchFamily="34" charset="0"/>
                <a:ea typeface="Martel Sans" pitchFamily="34" charset="-122"/>
                <a:cs typeface="Martel Sans" pitchFamily="34" charset="-120"/>
              </a:rPr>
              <a:t>Decrease</a:t>
            </a:r>
            <a:endParaRPr lang="en-US" sz="1450" dirty="0"/>
          </a:p>
        </p:txBody>
      </p:sp>
      <p:sp>
        <p:nvSpPr>
          <p:cNvPr id="27" name="Text 25"/>
          <p:cNvSpPr/>
          <p:nvPr/>
        </p:nvSpPr>
        <p:spPr>
          <a:xfrm>
            <a:off x="6288129" y="3331170"/>
            <a:ext cx="2939183" cy="272157"/>
          </a:xfrm>
          <a:prstGeom prst="rect">
            <a:avLst/>
          </a:prstGeom>
          <a:noFill/>
          <a:ln/>
        </p:spPr>
        <p:txBody>
          <a:bodyPr wrap="none" lIns="0" tIns="0" rIns="0" bIns="0" rtlCol="0" anchor="t"/>
          <a:lstStyle/>
          <a:p>
            <a:pPr marL="0" indent="0" algn="l">
              <a:lnSpc>
                <a:spcPct val="120000"/>
              </a:lnSpc>
              <a:buNone/>
            </a:pPr>
            <a:r>
              <a:rPr lang="en-US" sz="1450" dirty="0">
                <a:solidFill>
                  <a:srgbClr val="2C3249"/>
                </a:solidFill>
                <a:latin typeface="Martel Sans" pitchFamily="34" charset="0"/>
                <a:ea typeface="Martel Sans" pitchFamily="34" charset="-122"/>
                <a:cs typeface="Martel Sans" pitchFamily="34" charset="-120"/>
              </a:rPr>
              <a:t>Increase</a:t>
            </a:r>
            <a:endParaRPr lang="en-US" sz="1450" dirty="0"/>
          </a:p>
        </p:txBody>
      </p:sp>
      <p:sp>
        <p:nvSpPr>
          <p:cNvPr id="28" name="Text 26"/>
          <p:cNvSpPr/>
          <p:nvPr/>
        </p:nvSpPr>
        <p:spPr>
          <a:xfrm>
            <a:off x="9002090" y="3331170"/>
            <a:ext cx="2942358" cy="272157"/>
          </a:xfrm>
          <a:prstGeom prst="rect">
            <a:avLst/>
          </a:prstGeom>
          <a:noFill/>
          <a:ln/>
        </p:spPr>
        <p:txBody>
          <a:bodyPr wrap="none" lIns="0" tIns="0" rIns="0" bIns="0" rtlCol="0" anchor="t"/>
          <a:lstStyle/>
          <a:p>
            <a:pPr marL="0" indent="0" algn="l">
              <a:lnSpc>
                <a:spcPct val="120000"/>
              </a:lnSpc>
              <a:buNone/>
            </a:pPr>
            <a:r>
              <a:rPr lang="en-US" sz="1450" dirty="0">
                <a:solidFill>
                  <a:srgbClr val="2C3249"/>
                </a:solidFill>
                <a:latin typeface="Martel Sans" pitchFamily="34" charset="0"/>
                <a:ea typeface="Martel Sans" pitchFamily="34" charset="-122"/>
                <a:cs typeface="Martel Sans" pitchFamily="34" charset="-120"/>
              </a:rPr>
              <a:t>Credit</a:t>
            </a:r>
            <a:endParaRPr lang="en-US" sz="1450" dirty="0"/>
          </a:p>
        </p:txBody>
      </p:sp>
      <p:sp>
        <p:nvSpPr>
          <p:cNvPr id="29" name="Text 27"/>
          <p:cNvSpPr/>
          <p:nvPr/>
        </p:nvSpPr>
        <p:spPr>
          <a:xfrm>
            <a:off x="857030" y="3803749"/>
            <a:ext cx="2942358" cy="272157"/>
          </a:xfrm>
          <a:prstGeom prst="rect">
            <a:avLst/>
          </a:prstGeom>
          <a:noFill/>
          <a:ln/>
        </p:spPr>
        <p:txBody>
          <a:bodyPr wrap="none" lIns="0" tIns="0" rIns="0" bIns="0" rtlCol="0" anchor="t"/>
          <a:lstStyle/>
          <a:p>
            <a:pPr marL="0" indent="0" algn="l">
              <a:lnSpc>
                <a:spcPct val="120000"/>
              </a:lnSpc>
              <a:buNone/>
            </a:pPr>
            <a:r>
              <a:rPr lang="en-US" sz="1450" dirty="0">
                <a:solidFill>
                  <a:srgbClr val="2C3249"/>
                </a:solidFill>
                <a:latin typeface="Martel Sans" pitchFamily="34" charset="0"/>
                <a:ea typeface="Martel Sans" pitchFamily="34" charset="-122"/>
                <a:cs typeface="Martel Sans" pitchFamily="34" charset="-120"/>
              </a:rPr>
              <a:t>Income/Revenue</a:t>
            </a:r>
            <a:endParaRPr lang="en-US" sz="1450" dirty="0"/>
          </a:p>
        </p:txBody>
      </p:sp>
      <p:sp>
        <p:nvSpPr>
          <p:cNvPr id="30" name="Text 28"/>
          <p:cNvSpPr/>
          <p:nvPr/>
        </p:nvSpPr>
        <p:spPr>
          <a:xfrm>
            <a:off x="3574167" y="3803749"/>
            <a:ext cx="2939183" cy="272157"/>
          </a:xfrm>
          <a:prstGeom prst="rect">
            <a:avLst/>
          </a:prstGeom>
          <a:noFill/>
          <a:ln/>
        </p:spPr>
        <p:txBody>
          <a:bodyPr wrap="none" lIns="0" tIns="0" rIns="0" bIns="0" rtlCol="0" anchor="t"/>
          <a:lstStyle/>
          <a:p>
            <a:pPr marL="0" indent="0" algn="l">
              <a:lnSpc>
                <a:spcPct val="120000"/>
              </a:lnSpc>
              <a:buNone/>
            </a:pPr>
            <a:r>
              <a:rPr lang="en-US" sz="1450" dirty="0">
                <a:solidFill>
                  <a:srgbClr val="2C3249"/>
                </a:solidFill>
                <a:latin typeface="Martel Sans" pitchFamily="34" charset="0"/>
                <a:ea typeface="Martel Sans" pitchFamily="34" charset="-122"/>
                <a:cs typeface="Martel Sans" pitchFamily="34" charset="-120"/>
              </a:rPr>
              <a:t>Decrease</a:t>
            </a:r>
            <a:endParaRPr lang="en-US" sz="1450" dirty="0"/>
          </a:p>
        </p:txBody>
      </p:sp>
      <p:sp>
        <p:nvSpPr>
          <p:cNvPr id="31" name="Text 29"/>
          <p:cNvSpPr/>
          <p:nvPr/>
        </p:nvSpPr>
        <p:spPr>
          <a:xfrm>
            <a:off x="6288129" y="3803749"/>
            <a:ext cx="2939183" cy="272157"/>
          </a:xfrm>
          <a:prstGeom prst="rect">
            <a:avLst/>
          </a:prstGeom>
          <a:noFill/>
          <a:ln/>
        </p:spPr>
        <p:txBody>
          <a:bodyPr wrap="none" lIns="0" tIns="0" rIns="0" bIns="0" rtlCol="0" anchor="t"/>
          <a:lstStyle/>
          <a:p>
            <a:pPr marL="0" indent="0" algn="l">
              <a:lnSpc>
                <a:spcPct val="120000"/>
              </a:lnSpc>
              <a:buNone/>
            </a:pPr>
            <a:r>
              <a:rPr lang="en-US" sz="1450" dirty="0">
                <a:solidFill>
                  <a:srgbClr val="2C3249"/>
                </a:solidFill>
                <a:latin typeface="Martel Sans" pitchFamily="34" charset="0"/>
                <a:ea typeface="Martel Sans" pitchFamily="34" charset="-122"/>
                <a:cs typeface="Martel Sans" pitchFamily="34" charset="-120"/>
              </a:rPr>
              <a:t>Increase</a:t>
            </a:r>
            <a:endParaRPr lang="en-US" sz="1450" dirty="0"/>
          </a:p>
        </p:txBody>
      </p:sp>
      <p:sp>
        <p:nvSpPr>
          <p:cNvPr id="32" name="Text 30"/>
          <p:cNvSpPr/>
          <p:nvPr/>
        </p:nvSpPr>
        <p:spPr>
          <a:xfrm>
            <a:off x="9002090" y="3803749"/>
            <a:ext cx="2942358" cy="272157"/>
          </a:xfrm>
          <a:prstGeom prst="rect">
            <a:avLst/>
          </a:prstGeom>
          <a:noFill/>
          <a:ln/>
        </p:spPr>
        <p:txBody>
          <a:bodyPr wrap="none" lIns="0" tIns="0" rIns="0" bIns="0" rtlCol="0" anchor="t"/>
          <a:lstStyle/>
          <a:p>
            <a:pPr marL="0" indent="0" algn="l">
              <a:lnSpc>
                <a:spcPct val="120000"/>
              </a:lnSpc>
              <a:buNone/>
            </a:pPr>
            <a:r>
              <a:rPr lang="en-US" sz="1450" dirty="0">
                <a:solidFill>
                  <a:srgbClr val="2C3249"/>
                </a:solidFill>
                <a:latin typeface="Martel Sans" pitchFamily="34" charset="0"/>
                <a:ea typeface="Martel Sans" pitchFamily="34" charset="-122"/>
                <a:cs typeface="Martel Sans" pitchFamily="34" charset="-120"/>
              </a:rPr>
              <a:t>Credit</a:t>
            </a:r>
            <a:endParaRPr lang="en-US" sz="1450" dirty="0"/>
          </a:p>
        </p:txBody>
      </p:sp>
      <p:sp>
        <p:nvSpPr>
          <p:cNvPr id="33" name="Text 31"/>
          <p:cNvSpPr/>
          <p:nvPr/>
        </p:nvSpPr>
        <p:spPr>
          <a:xfrm>
            <a:off x="857030" y="4276328"/>
            <a:ext cx="2942358" cy="272157"/>
          </a:xfrm>
          <a:prstGeom prst="rect">
            <a:avLst/>
          </a:prstGeom>
          <a:noFill/>
          <a:ln/>
        </p:spPr>
        <p:txBody>
          <a:bodyPr wrap="none" lIns="0" tIns="0" rIns="0" bIns="0" rtlCol="0" anchor="t"/>
          <a:lstStyle/>
          <a:p>
            <a:pPr marL="0" indent="0" algn="l">
              <a:lnSpc>
                <a:spcPct val="120000"/>
              </a:lnSpc>
              <a:buNone/>
            </a:pPr>
            <a:r>
              <a:rPr lang="en-US" sz="1450" dirty="0">
                <a:solidFill>
                  <a:srgbClr val="2C3249"/>
                </a:solidFill>
                <a:latin typeface="Martel Sans" pitchFamily="34" charset="0"/>
                <a:ea typeface="Martel Sans" pitchFamily="34" charset="-122"/>
                <a:cs typeface="Martel Sans" pitchFamily="34" charset="-120"/>
              </a:rPr>
              <a:t>Expenses</a:t>
            </a:r>
            <a:endParaRPr lang="en-US" sz="1450" dirty="0"/>
          </a:p>
        </p:txBody>
      </p:sp>
      <p:sp>
        <p:nvSpPr>
          <p:cNvPr id="34" name="Text 32"/>
          <p:cNvSpPr/>
          <p:nvPr/>
        </p:nvSpPr>
        <p:spPr>
          <a:xfrm>
            <a:off x="3574167" y="4276328"/>
            <a:ext cx="2939183" cy="272157"/>
          </a:xfrm>
          <a:prstGeom prst="rect">
            <a:avLst/>
          </a:prstGeom>
          <a:noFill/>
          <a:ln/>
        </p:spPr>
        <p:txBody>
          <a:bodyPr wrap="none" lIns="0" tIns="0" rIns="0" bIns="0" rtlCol="0" anchor="t"/>
          <a:lstStyle/>
          <a:p>
            <a:pPr marL="0" indent="0" algn="l">
              <a:lnSpc>
                <a:spcPct val="120000"/>
              </a:lnSpc>
              <a:buNone/>
            </a:pPr>
            <a:r>
              <a:rPr lang="en-US" sz="1450" dirty="0">
                <a:solidFill>
                  <a:srgbClr val="2C3249"/>
                </a:solidFill>
                <a:latin typeface="Martel Sans" pitchFamily="34" charset="0"/>
                <a:ea typeface="Martel Sans" pitchFamily="34" charset="-122"/>
                <a:cs typeface="Martel Sans" pitchFamily="34" charset="-120"/>
              </a:rPr>
              <a:t>Increase</a:t>
            </a:r>
            <a:endParaRPr lang="en-US" sz="1450" dirty="0"/>
          </a:p>
        </p:txBody>
      </p:sp>
      <p:sp>
        <p:nvSpPr>
          <p:cNvPr id="35" name="Text 33"/>
          <p:cNvSpPr/>
          <p:nvPr/>
        </p:nvSpPr>
        <p:spPr>
          <a:xfrm>
            <a:off x="6288129" y="4276328"/>
            <a:ext cx="2939183" cy="272157"/>
          </a:xfrm>
          <a:prstGeom prst="rect">
            <a:avLst/>
          </a:prstGeom>
          <a:noFill/>
          <a:ln/>
        </p:spPr>
        <p:txBody>
          <a:bodyPr wrap="none" lIns="0" tIns="0" rIns="0" bIns="0" rtlCol="0" anchor="t"/>
          <a:lstStyle/>
          <a:p>
            <a:pPr marL="0" indent="0" algn="l">
              <a:lnSpc>
                <a:spcPct val="120000"/>
              </a:lnSpc>
              <a:buNone/>
            </a:pPr>
            <a:r>
              <a:rPr lang="en-US" sz="1450" dirty="0">
                <a:solidFill>
                  <a:srgbClr val="2C3249"/>
                </a:solidFill>
                <a:latin typeface="Martel Sans" pitchFamily="34" charset="0"/>
                <a:ea typeface="Martel Sans" pitchFamily="34" charset="-122"/>
                <a:cs typeface="Martel Sans" pitchFamily="34" charset="-120"/>
              </a:rPr>
              <a:t>Decrease</a:t>
            </a:r>
            <a:endParaRPr lang="en-US" sz="1450" dirty="0"/>
          </a:p>
        </p:txBody>
      </p:sp>
      <p:sp>
        <p:nvSpPr>
          <p:cNvPr id="36" name="Text 34"/>
          <p:cNvSpPr/>
          <p:nvPr/>
        </p:nvSpPr>
        <p:spPr>
          <a:xfrm>
            <a:off x="9002090" y="4276328"/>
            <a:ext cx="2942358" cy="272157"/>
          </a:xfrm>
          <a:prstGeom prst="rect">
            <a:avLst/>
          </a:prstGeom>
          <a:noFill/>
          <a:ln/>
        </p:spPr>
        <p:txBody>
          <a:bodyPr wrap="none" lIns="0" tIns="0" rIns="0" bIns="0" rtlCol="0" anchor="t"/>
          <a:lstStyle/>
          <a:p>
            <a:pPr marL="0" indent="0" algn="l">
              <a:lnSpc>
                <a:spcPct val="120000"/>
              </a:lnSpc>
              <a:buNone/>
            </a:pPr>
            <a:r>
              <a:rPr lang="en-US" sz="1450" dirty="0">
                <a:solidFill>
                  <a:srgbClr val="2C3249"/>
                </a:solidFill>
                <a:latin typeface="Martel Sans" pitchFamily="34" charset="0"/>
                <a:ea typeface="Martel Sans" pitchFamily="34" charset="-122"/>
                <a:cs typeface="Martel Sans" pitchFamily="34" charset="-120"/>
              </a:rPr>
              <a:t>Debit</a:t>
            </a:r>
            <a:endParaRPr lang="en-US" sz="1450" dirty="0"/>
          </a:p>
        </p:txBody>
      </p:sp>
      <p:sp>
        <p:nvSpPr>
          <p:cNvPr id="37" name="Text 35"/>
          <p:cNvSpPr/>
          <p:nvPr/>
        </p:nvSpPr>
        <p:spPr>
          <a:xfrm>
            <a:off x="857030" y="4748907"/>
            <a:ext cx="2332773" cy="1088628"/>
          </a:xfrm>
          <a:prstGeom prst="rect">
            <a:avLst/>
          </a:prstGeom>
          <a:noFill/>
          <a:ln/>
        </p:spPr>
        <p:txBody>
          <a:bodyPr wrap="square" lIns="0" tIns="0" rIns="0" bIns="0" rtlCol="0" anchor="t">
            <a:normAutofit/>
          </a:bodyPr>
          <a:lstStyle/>
          <a:p>
            <a:pPr marL="0" indent="0" algn="l">
              <a:lnSpc>
                <a:spcPct val="120000"/>
              </a:lnSpc>
              <a:buNone/>
            </a:pPr>
            <a:r>
              <a:rPr lang="en-US" sz="1450" dirty="0">
                <a:solidFill>
                  <a:srgbClr val="2C3249"/>
                </a:solidFill>
                <a:latin typeface="Martel Sans" pitchFamily="34" charset="0"/>
                <a:ea typeface="Martel Sans" pitchFamily="34" charset="-122"/>
                <a:cs typeface="Martel Sans" pitchFamily="34" charset="-120"/>
              </a:rPr>
              <a:t>Contra-assets (e.g. accumulated depreciation, ECL allowance)</a:t>
            </a:r>
            <a:endParaRPr lang="en-US" sz="1450" dirty="0"/>
          </a:p>
        </p:txBody>
      </p:sp>
      <p:sp>
        <p:nvSpPr>
          <p:cNvPr id="38" name="Text 36"/>
          <p:cNvSpPr/>
          <p:nvPr/>
        </p:nvSpPr>
        <p:spPr>
          <a:xfrm>
            <a:off x="3574167" y="4748907"/>
            <a:ext cx="2939183" cy="272157"/>
          </a:xfrm>
          <a:prstGeom prst="rect">
            <a:avLst/>
          </a:prstGeom>
          <a:noFill/>
          <a:ln/>
        </p:spPr>
        <p:txBody>
          <a:bodyPr wrap="none" lIns="0" tIns="0" rIns="0" bIns="0" rtlCol="0" anchor="t"/>
          <a:lstStyle/>
          <a:p>
            <a:pPr marL="0" indent="0" algn="l">
              <a:lnSpc>
                <a:spcPct val="120000"/>
              </a:lnSpc>
              <a:buNone/>
            </a:pPr>
            <a:r>
              <a:rPr lang="en-US" sz="1450" dirty="0">
                <a:solidFill>
                  <a:srgbClr val="2C3249"/>
                </a:solidFill>
                <a:latin typeface="Martel Sans" pitchFamily="34" charset="0"/>
                <a:ea typeface="Martel Sans" pitchFamily="34" charset="-122"/>
                <a:cs typeface="Martel Sans" pitchFamily="34" charset="-120"/>
              </a:rPr>
              <a:t>Decrease</a:t>
            </a:r>
            <a:endParaRPr lang="en-US" sz="1450" dirty="0"/>
          </a:p>
        </p:txBody>
      </p:sp>
      <p:sp>
        <p:nvSpPr>
          <p:cNvPr id="39" name="Text 37"/>
          <p:cNvSpPr/>
          <p:nvPr/>
        </p:nvSpPr>
        <p:spPr>
          <a:xfrm>
            <a:off x="6288129" y="4748907"/>
            <a:ext cx="2939183" cy="272157"/>
          </a:xfrm>
          <a:prstGeom prst="rect">
            <a:avLst/>
          </a:prstGeom>
          <a:noFill/>
          <a:ln/>
        </p:spPr>
        <p:txBody>
          <a:bodyPr wrap="none" lIns="0" tIns="0" rIns="0" bIns="0" rtlCol="0" anchor="t"/>
          <a:lstStyle/>
          <a:p>
            <a:pPr marL="0" indent="0" algn="l">
              <a:lnSpc>
                <a:spcPct val="120000"/>
              </a:lnSpc>
              <a:buNone/>
            </a:pPr>
            <a:r>
              <a:rPr lang="en-US" sz="1450" dirty="0">
                <a:solidFill>
                  <a:srgbClr val="2C3249"/>
                </a:solidFill>
                <a:latin typeface="Martel Sans" pitchFamily="34" charset="0"/>
                <a:ea typeface="Martel Sans" pitchFamily="34" charset="-122"/>
                <a:cs typeface="Martel Sans" pitchFamily="34" charset="-120"/>
              </a:rPr>
              <a:t>Increase</a:t>
            </a:r>
            <a:endParaRPr lang="en-US" sz="1450" dirty="0"/>
          </a:p>
        </p:txBody>
      </p:sp>
      <p:sp>
        <p:nvSpPr>
          <p:cNvPr id="40" name="Text 38"/>
          <p:cNvSpPr/>
          <p:nvPr/>
        </p:nvSpPr>
        <p:spPr>
          <a:xfrm>
            <a:off x="9002090" y="4748907"/>
            <a:ext cx="2942358" cy="272157"/>
          </a:xfrm>
          <a:prstGeom prst="rect">
            <a:avLst/>
          </a:prstGeom>
          <a:noFill/>
          <a:ln/>
        </p:spPr>
        <p:txBody>
          <a:bodyPr wrap="none" lIns="0" tIns="0" rIns="0" bIns="0" rtlCol="0" anchor="t"/>
          <a:lstStyle/>
          <a:p>
            <a:pPr marL="0" indent="0" algn="l">
              <a:lnSpc>
                <a:spcPct val="120000"/>
              </a:lnSpc>
              <a:buNone/>
            </a:pPr>
            <a:r>
              <a:rPr lang="en-US" sz="1450" dirty="0">
                <a:solidFill>
                  <a:srgbClr val="2C3249"/>
                </a:solidFill>
                <a:latin typeface="Martel Sans" pitchFamily="34" charset="0"/>
                <a:ea typeface="Martel Sans" pitchFamily="34" charset="-122"/>
                <a:cs typeface="Martel Sans" pitchFamily="34" charset="-120"/>
              </a:rPr>
              <a:t>Credit</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23485" y="290115"/>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272D45"/>
                </a:solidFill>
                <a:latin typeface="Kanit Light" pitchFamily="34" charset="0"/>
                <a:ea typeface="Kanit Light" pitchFamily="34" charset="-122"/>
                <a:cs typeface="Kanit Light" pitchFamily="34" charset="-120"/>
              </a:rPr>
              <a:t>General Approach to Recording Transactions</a:t>
            </a:r>
            <a:endParaRPr lang="en-US" sz="3250" dirty="0"/>
          </a:p>
        </p:txBody>
      </p:sp>
      <p:sp>
        <p:nvSpPr>
          <p:cNvPr id="3" name="Text 1"/>
          <p:cNvSpPr/>
          <p:nvPr/>
        </p:nvSpPr>
        <p:spPr>
          <a:xfrm>
            <a:off x="600506" y="1110753"/>
            <a:ext cx="6811676" cy="340836"/>
          </a:xfrm>
          <a:prstGeom prst="rect">
            <a:avLst/>
          </a:prstGeom>
          <a:noFill/>
          <a:ln/>
        </p:spPr>
        <p:txBody>
          <a:bodyPr wrap="none" lIns="0" tIns="0" rIns="0" bIns="0" rtlCol="0" anchor="t"/>
          <a:lstStyle/>
          <a:p>
            <a:pPr marL="0" indent="0" algn="l">
              <a:lnSpc>
                <a:spcPct val="113000"/>
              </a:lnSpc>
              <a:buNone/>
            </a:pPr>
            <a:r>
              <a:rPr lang="en-US" dirty="0">
                <a:solidFill>
                  <a:srgbClr val="2C3249"/>
                </a:solidFill>
                <a:latin typeface="Martel Sans" pitchFamily="34" charset="0"/>
                <a:ea typeface="Martel Sans" pitchFamily="34" charset="-122"/>
                <a:cs typeface="Martel Sans" pitchFamily="34" charset="-120"/>
              </a:rPr>
              <a:t>A useful approach when recording any transaction is to ask three questions:</a:t>
            </a:r>
            <a:endParaRPr lang="en-US" dirty="0"/>
          </a:p>
        </p:txBody>
      </p:sp>
      <p:sp>
        <p:nvSpPr>
          <p:cNvPr id="4" name="Shape 2"/>
          <p:cNvSpPr/>
          <p:nvPr/>
        </p:nvSpPr>
        <p:spPr>
          <a:xfrm>
            <a:off x="661475" y="1992213"/>
            <a:ext cx="372061" cy="372070"/>
          </a:xfrm>
          <a:prstGeom prst="roundRect">
            <a:avLst>
              <a:gd name="adj" fmla="val 18670"/>
            </a:avLst>
          </a:prstGeom>
          <a:solidFill>
            <a:srgbClr val="DFECE9"/>
          </a:solidFill>
          <a:ln w="6350">
            <a:solidFill>
              <a:srgbClr val="C5D2CF"/>
            </a:solidFill>
            <a:prstDash val="solid"/>
          </a:ln>
        </p:spPr>
        <p:txBody>
          <a:bodyPr/>
          <a:lstStyle/>
          <a:p>
            <a:endParaRPr lang="en-US"/>
          </a:p>
        </p:txBody>
      </p:sp>
      <p:sp>
        <p:nvSpPr>
          <p:cNvPr id="5" name="Text 3"/>
          <p:cNvSpPr/>
          <p:nvPr/>
        </p:nvSpPr>
        <p:spPr>
          <a:xfrm>
            <a:off x="723485" y="2023219"/>
            <a:ext cx="248041" cy="310059"/>
          </a:xfrm>
          <a:prstGeom prst="rect">
            <a:avLst/>
          </a:prstGeom>
          <a:noFill/>
          <a:ln/>
        </p:spPr>
        <p:txBody>
          <a:bodyPr wrap="none" lIns="0" tIns="0" rIns="0" bIns="0" rtlCol="0" anchor="ctr"/>
          <a:lstStyle/>
          <a:p>
            <a:pPr marL="0" indent="0" algn="ctr">
              <a:lnSpc>
                <a:spcPct val="100000"/>
              </a:lnSpc>
              <a:buNone/>
            </a:pPr>
            <a:r>
              <a:rPr lang="en-US" sz="1950" dirty="0">
                <a:solidFill>
                  <a:srgbClr val="2C3249"/>
                </a:solidFill>
                <a:latin typeface="Kanit Light" pitchFamily="34" charset="0"/>
                <a:ea typeface="Kanit Light" pitchFamily="34" charset="-122"/>
                <a:cs typeface="Kanit Light" pitchFamily="34" charset="-120"/>
              </a:rPr>
              <a:t>1</a:t>
            </a:r>
            <a:endParaRPr lang="en-US" sz="1950" dirty="0"/>
          </a:p>
        </p:txBody>
      </p:sp>
      <p:sp>
        <p:nvSpPr>
          <p:cNvPr id="6" name="Text 4"/>
          <p:cNvSpPr/>
          <p:nvPr/>
        </p:nvSpPr>
        <p:spPr>
          <a:xfrm>
            <a:off x="1149222" y="2049066"/>
            <a:ext cx="3038697" cy="258465"/>
          </a:xfrm>
          <a:prstGeom prst="rect">
            <a:avLst/>
          </a:prstGeom>
          <a:noFill/>
          <a:ln/>
        </p:spPr>
        <p:txBody>
          <a:bodyPr wrap="none" lIns="0" tIns="0" rIns="0" bIns="0" rtlCol="0" anchor="t"/>
          <a:lstStyle/>
          <a:p>
            <a:pPr marL="0" indent="0" algn="l">
              <a:lnSpc>
                <a:spcPct val="104000"/>
              </a:lnSpc>
              <a:buNone/>
            </a:pPr>
            <a:r>
              <a:rPr lang="en-US" sz="1600" b="1" dirty="0">
                <a:solidFill>
                  <a:srgbClr val="2C3249"/>
                </a:solidFill>
                <a:latin typeface="Kanit Light" pitchFamily="34" charset="0"/>
                <a:ea typeface="Kanit Light" pitchFamily="34" charset="-122"/>
                <a:cs typeface="Kanit Light" pitchFamily="34" charset="-120"/>
              </a:rPr>
              <a:t>Which accounts are affected?</a:t>
            </a:r>
            <a:endParaRPr lang="en-US" sz="1600" b="1" dirty="0"/>
          </a:p>
        </p:txBody>
      </p:sp>
      <p:sp>
        <p:nvSpPr>
          <p:cNvPr id="7" name="Text 5"/>
          <p:cNvSpPr/>
          <p:nvPr/>
        </p:nvSpPr>
        <p:spPr>
          <a:xfrm>
            <a:off x="787578" y="2570738"/>
            <a:ext cx="3038697" cy="449858"/>
          </a:xfrm>
          <a:prstGeom prst="rect">
            <a:avLst/>
          </a:prstGeom>
          <a:noFill/>
          <a:ln/>
        </p:spPr>
        <p:txBody>
          <a:bodyPr wrap="square" lIns="0" tIns="0" rIns="0" bIns="0" rtlCol="0" anchor="t">
            <a:normAutofit/>
          </a:bodyPr>
          <a:lstStyle/>
          <a:p>
            <a:pPr marL="0" indent="0" algn="l">
              <a:lnSpc>
                <a:spcPct val="113000"/>
              </a:lnSpc>
              <a:buNone/>
            </a:pPr>
            <a:r>
              <a:rPr lang="en-US" sz="1300" dirty="0">
                <a:solidFill>
                  <a:srgbClr val="2C3249"/>
                </a:solidFill>
                <a:latin typeface="Martel Sans" pitchFamily="34" charset="0"/>
                <a:ea typeface="Martel Sans" pitchFamily="34" charset="-122"/>
                <a:cs typeface="Martel Sans" pitchFamily="34" charset="-120"/>
              </a:rPr>
              <a:t>Identify all accounts that are impacted by the transaction.</a:t>
            </a:r>
            <a:endParaRPr lang="en-US" sz="1300" dirty="0"/>
          </a:p>
        </p:txBody>
      </p:sp>
      <p:sp>
        <p:nvSpPr>
          <p:cNvPr id="8" name="Shape 6"/>
          <p:cNvSpPr/>
          <p:nvPr/>
        </p:nvSpPr>
        <p:spPr>
          <a:xfrm>
            <a:off x="4332576" y="1992213"/>
            <a:ext cx="372061" cy="372070"/>
          </a:xfrm>
          <a:prstGeom prst="roundRect">
            <a:avLst>
              <a:gd name="adj" fmla="val 18670"/>
            </a:avLst>
          </a:prstGeom>
          <a:solidFill>
            <a:srgbClr val="DFECE9"/>
          </a:solidFill>
          <a:ln w="6350">
            <a:solidFill>
              <a:srgbClr val="C5D2CF"/>
            </a:solidFill>
            <a:prstDash val="solid"/>
          </a:ln>
        </p:spPr>
        <p:txBody>
          <a:bodyPr/>
          <a:lstStyle/>
          <a:p>
            <a:endParaRPr lang="en-US"/>
          </a:p>
        </p:txBody>
      </p:sp>
      <p:sp>
        <p:nvSpPr>
          <p:cNvPr id="9" name="Text 7"/>
          <p:cNvSpPr/>
          <p:nvPr/>
        </p:nvSpPr>
        <p:spPr>
          <a:xfrm>
            <a:off x="4394586" y="2023219"/>
            <a:ext cx="248041" cy="310059"/>
          </a:xfrm>
          <a:prstGeom prst="rect">
            <a:avLst/>
          </a:prstGeom>
          <a:noFill/>
          <a:ln/>
        </p:spPr>
        <p:txBody>
          <a:bodyPr wrap="none" lIns="0" tIns="0" rIns="0" bIns="0" rtlCol="0" anchor="ctr"/>
          <a:lstStyle/>
          <a:p>
            <a:pPr marL="0" indent="0" algn="ctr">
              <a:lnSpc>
                <a:spcPct val="100000"/>
              </a:lnSpc>
              <a:buNone/>
            </a:pPr>
            <a:r>
              <a:rPr lang="en-US" sz="1950" dirty="0">
                <a:solidFill>
                  <a:srgbClr val="2C3249"/>
                </a:solidFill>
                <a:latin typeface="Kanit Light" pitchFamily="34" charset="0"/>
                <a:ea typeface="Kanit Light" pitchFamily="34" charset="-122"/>
                <a:cs typeface="Kanit Light" pitchFamily="34" charset="-120"/>
              </a:rPr>
              <a:t>2</a:t>
            </a:r>
            <a:endParaRPr lang="en-US" sz="1950" dirty="0"/>
          </a:p>
        </p:txBody>
      </p:sp>
      <p:sp>
        <p:nvSpPr>
          <p:cNvPr id="10" name="Text 8"/>
          <p:cNvSpPr/>
          <p:nvPr/>
        </p:nvSpPr>
        <p:spPr>
          <a:xfrm>
            <a:off x="4820323" y="2049066"/>
            <a:ext cx="3038697" cy="258465"/>
          </a:xfrm>
          <a:prstGeom prst="rect">
            <a:avLst/>
          </a:prstGeom>
          <a:noFill/>
          <a:ln/>
        </p:spPr>
        <p:txBody>
          <a:bodyPr wrap="none" lIns="0" tIns="0" rIns="0" bIns="0" rtlCol="0" anchor="t"/>
          <a:lstStyle/>
          <a:p>
            <a:pPr marL="0" indent="0" algn="l">
              <a:lnSpc>
                <a:spcPct val="104000"/>
              </a:lnSpc>
              <a:buNone/>
            </a:pPr>
            <a:r>
              <a:rPr lang="en-US" sz="1600" b="1" dirty="0">
                <a:solidFill>
                  <a:srgbClr val="2C3249"/>
                </a:solidFill>
                <a:latin typeface="Kanit Light" pitchFamily="34" charset="0"/>
                <a:ea typeface="Kanit Light" pitchFamily="34" charset="-122"/>
                <a:cs typeface="Kanit Light" pitchFamily="34" charset="-120"/>
              </a:rPr>
              <a:t>What type of accounts are they?</a:t>
            </a:r>
            <a:endParaRPr lang="en-US" sz="1600" b="1" dirty="0"/>
          </a:p>
        </p:txBody>
      </p:sp>
      <p:sp>
        <p:nvSpPr>
          <p:cNvPr id="11" name="Text 9"/>
          <p:cNvSpPr/>
          <p:nvPr/>
        </p:nvSpPr>
        <p:spPr>
          <a:xfrm>
            <a:off x="4518606" y="2540694"/>
            <a:ext cx="3038697" cy="674787"/>
          </a:xfrm>
          <a:prstGeom prst="rect">
            <a:avLst/>
          </a:prstGeom>
          <a:noFill/>
          <a:ln/>
        </p:spPr>
        <p:txBody>
          <a:bodyPr wrap="square" lIns="0" tIns="0" rIns="0" bIns="0" rtlCol="0" anchor="t">
            <a:normAutofit/>
          </a:bodyPr>
          <a:lstStyle/>
          <a:p>
            <a:pPr marL="0" indent="0" algn="l">
              <a:lnSpc>
                <a:spcPct val="113000"/>
              </a:lnSpc>
              <a:buNone/>
            </a:pPr>
            <a:r>
              <a:rPr lang="en-US" sz="1300" dirty="0">
                <a:solidFill>
                  <a:srgbClr val="2C3249"/>
                </a:solidFill>
                <a:latin typeface="Martel Sans" pitchFamily="34" charset="0"/>
                <a:ea typeface="Martel Sans" pitchFamily="34" charset="-122"/>
                <a:cs typeface="Martel Sans" pitchFamily="34" charset="-120"/>
              </a:rPr>
              <a:t>Classify each account as an asset, liability, capital/equity, income or expense.</a:t>
            </a:r>
            <a:endParaRPr lang="en-US" sz="1300" dirty="0"/>
          </a:p>
        </p:txBody>
      </p:sp>
      <p:sp>
        <p:nvSpPr>
          <p:cNvPr id="12" name="Shape 10"/>
          <p:cNvSpPr/>
          <p:nvPr/>
        </p:nvSpPr>
        <p:spPr>
          <a:xfrm>
            <a:off x="8003677" y="1992213"/>
            <a:ext cx="372061" cy="372070"/>
          </a:xfrm>
          <a:prstGeom prst="roundRect">
            <a:avLst>
              <a:gd name="adj" fmla="val 18670"/>
            </a:avLst>
          </a:prstGeom>
          <a:solidFill>
            <a:srgbClr val="DFECE9"/>
          </a:solidFill>
          <a:ln w="6350">
            <a:solidFill>
              <a:srgbClr val="C5D2CF"/>
            </a:solidFill>
            <a:prstDash val="solid"/>
          </a:ln>
        </p:spPr>
        <p:txBody>
          <a:bodyPr/>
          <a:lstStyle/>
          <a:p>
            <a:endParaRPr lang="en-US"/>
          </a:p>
        </p:txBody>
      </p:sp>
      <p:sp>
        <p:nvSpPr>
          <p:cNvPr id="13" name="Text 11"/>
          <p:cNvSpPr/>
          <p:nvPr/>
        </p:nvSpPr>
        <p:spPr>
          <a:xfrm>
            <a:off x="8065687" y="2023219"/>
            <a:ext cx="248041" cy="310059"/>
          </a:xfrm>
          <a:prstGeom prst="rect">
            <a:avLst/>
          </a:prstGeom>
          <a:noFill/>
          <a:ln/>
        </p:spPr>
        <p:txBody>
          <a:bodyPr wrap="none" lIns="0" tIns="0" rIns="0" bIns="0" rtlCol="0" anchor="ctr"/>
          <a:lstStyle/>
          <a:p>
            <a:pPr marL="0" indent="0" algn="ctr">
              <a:lnSpc>
                <a:spcPct val="100000"/>
              </a:lnSpc>
              <a:buNone/>
            </a:pPr>
            <a:r>
              <a:rPr lang="en-US" sz="1950" dirty="0">
                <a:solidFill>
                  <a:srgbClr val="2C3249"/>
                </a:solidFill>
                <a:latin typeface="Kanit Light" pitchFamily="34" charset="0"/>
                <a:ea typeface="Kanit Light" pitchFamily="34" charset="-122"/>
                <a:cs typeface="Kanit Light" pitchFamily="34" charset="-120"/>
              </a:rPr>
              <a:t>3</a:t>
            </a:r>
            <a:endParaRPr lang="en-US" sz="1950" dirty="0"/>
          </a:p>
        </p:txBody>
      </p:sp>
      <p:sp>
        <p:nvSpPr>
          <p:cNvPr id="14" name="Text 12"/>
          <p:cNvSpPr/>
          <p:nvPr/>
        </p:nvSpPr>
        <p:spPr>
          <a:xfrm>
            <a:off x="8491424" y="2049066"/>
            <a:ext cx="3038697" cy="516930"/>
          </a:xfrm>
          <a:prstGeom prst="rect">
            <a:avLst/>
          </a:prstGeom>
          <a:noFill/>
          <a:ln/>
        </p:spPr>
        <p:txBody>
          <a:bodyPr wrap="square" lIns="0" tIns="0" rIns="0" bIns="0" rtlCol="0" anchor="t">
            <a:normAutofit/>
          </a:bodyPr>
          <a:lstStyle/>
          <a:p>
            <a:pPr marL="0" indent="0" algn="l">
              <a:lnSpc>
                <a:spcPct val="104000"/>
              </a:lnSpc>
              <a:buNone/>
            </a:pPr>
            <a:r>
              <a:rPr lang="en-US" sz="1600" b="1" dirty="0">
                <a:solidFill>
                  <a:srgbClr val="2C3249"/>
                </a:solidFill>
                <a:latin typeface="Kanit Light" pitchFamily="34" charset="0"/>
                <a:ea typeface="Kanit Light" pitchFamily="34" charset="-122"/>
                <a:cs typeface="Kanit Light" pitchFamily="34" charset="-120"/>
              </a:rPr>
              <a:t>Has each account increased or decreased?</a:t>
            </a:r>
            <a:endParaRPr lang="en-US" sz="1600" b="1" dirty="0"/>
          </a:p>
        </p:txBody>
      </p:sp>
      <p:sp>
        <p:nvSpPr>
          <p:cNvPr id="15" name="Text 13"/>
          <p:cNvSpPr/>
          <p:nvPr/>
        </p:nvSpPr>
        <p:spPr>
          <a:xfrm>
            <a:off x="8491424" y="2635448"/>
            <a:ext cx="3038697" cy="674787"/>
          </a:xfrm>
          <a:prstGeom prst="rect">
            <a:avLst/>
          </a:prstGeom>
          <a:noFill/>
          <a:ln/>
        </p:spPr>
        <p:txBody>
          <a:bodyPr wrap="square" lIns="0" tIns="0" rIns="0" bIns="0" rtlCol="0" anchor="t">
            <a:normAutofit/>
          </a:bodyPr>
          <a:lstStyle/>
          <a:p>
            <a:pPr marL="0" indent="0" algn="l">
              <a:lnSpc>
                <a:spcPct val="113000"/>
              </a:lnSpc>
              <a:buNone/>
            </a:pPr>
            <a:r>
              <a:rPr lang="en-US" sz="1300" dirty="0">
                <a:solidFill>
                  <a:srgbClr val="2C3249"/>
                </a:solidFill>
                <a:latin typeface="Martel Sans" pitchFamily="34" charset="0"/>
                <a:ea typeface="Martel Sans" pitchFamily="34" charset="-122"/>
                <a:cs typeface="Martel Sans" pitchFamily="34" charset="-120"/>
              </a:rPr>
              <a:t>Determine the direction of change, then apply the debit/credit rules accordingly.</a:t>
            </a:r>
            <a:endParaRPr lang="en-US" sz="1300" dirty="0"/>
          </a:p>
        </p:txBody>
      </p:sp>
      <p:sp>
        <p:nvSpPr>
          <p:cNvPr id="16" name="Shape 14"/>
          <p:cNvSpPr/>
          <p:nvPr/>
        </p:nvSpPr>
        <p:spPr>
          <a:xfrm>
            <a:off x="661475" y="3440410"/>
            <a:ext cx="10868745" cy="2528590"/>
          </a:xfrm>
          <a:prstGeom prst="roundRect">
            <a:avLst>
              <a:gd name="adj" fmla="val 2747"/>
            </a:avLst>
          </a:prstGeom>
          <a:noFill/>
          <a:ln w="6350">
            <a:solidFill>
              <a:srgbClr val="000000">
                <a:alpha val="8000"/>
              </a:srgbClr>
            </a:solidFill>
            <a:prstDash val="solid"/>
          </a:ln>
        </p:spPr>
        <p:txBody>
          <a:bodyPr/>
          <a:lstStyle/>
          <a:p>
            <a:endParaRPr lang="en-US"/>
          </a:p>
        </p:txBody>
      </p:sp>
      <p:sp>
        <p:nvSpPr>
          <p:cNvPr id="17" name="Shape 15"/>
          <p:cNvSpPr/>
          <p:nvPr/>
        </p:nvSpPr>
        <p:spPr>
          <a:xfrm>
            <a:off x="661475" y="3826470"/>
            <a:ext cx="10868745" cy="10337"/>
          </a:xfrm>
          <a:prstGeom prst="rect">
            <a:avLst/>
          </a:prstGeom>
          <a:solidFill>
            <a:srgbClr val="000000">
              <a:alpha val="8000"/>
            </a:srgbClr>
          </a:solidFill>
          <a:ln/>
        </p:spPr>
        <p:txBody>
          <a:bodyPr/>
          <a:lstStyle/>
          <a:p>
            <a:endParaRPr lang="en-US"/>
          </a:p>
        </p:txBody>
      </p:sp>
      <p:sp>
        <p:nvSpPr>
          <p:cNvPr id="18" name="Shape 16"/>
          <p:cNvSpPr/>
          <p:nvPr/>
        </p:nvSpPr>
        <p:spPr>
          <a:xfrm>
            <a:off x="661475" y="4209355"/>
            <a:ext cx="10868745" cy="10337"/>
          </a:xfrm>
          <a:prstGeom prst="rect">
            <a:avLst/>
          </a:prstGeom>
          <a:solidFill>
            <a:srgbClr val="000000">
              <a:alpha val="8000"/>
            </a:srgbClr>
          </a:solidFill>
          <a:ln/>
        </p:spPr>
        <p:txBody>
          <a:bodyPr/>
          <a:lstStyle/>
          <a:p>
            <a:endParaRPr lang="en-US"/>
          </a:p>
        </p:txBody>
      </p:sp>
      <p:sp>
        <p:nvSpPr>
          <p:cNvPr id="19" name="Shape 17"/>
          <p:cNvSpPr/>
          <p:nvPr/>
        </p:nvSpPr>
        <p:spPr>
          <a:xfrm>
            <a:off x="661475" y="4592241"/>
            <a:ext cx="10868745" cy="10337"/>
          </a:xfrm>
          <a:prstGeom prst="rect">
            <a:avLst/>
          </a:prstGeom>
          <a:solidFill>
            <a:srgbClr val="000000">
              <a:alpha val="8000"/>
            </a:srgbClr>
          </a:solidFill>
          <a:ln/>
        </p:spPr>
        <p:txBody>
          <a:bodyPr/>
          <a:lstStyle/>
          <a:p>
            <a:endParaRPr lang="en-US"/>
          </a:p>
        </p:txBody>
      </p:sp>
      <p:sp>
        <p:nvSpPr>
          <p:cNvPr id="20" name="Shape 18"/>
          <p:cNvSpPr/>
          <p:nvPr/>
        </p:nvSpPr>
        <p:spPr>
          <a:xfrm>
            <a:off x="661475" y="5200055"/>
            <a:ext cx="10868745" cy="10337"/>
          </a:xfrm>
          <a:prstGeom prst="rect">
            <a:avLst/>
          </a:prstGeom>
          <a:solidFill>
            <a:srgbClr val="000000">
              <a:alpha val="8000"/>
            </a:srgbClr>
          </a:solidFill>
          <a:ln/>
        </p:spPr>
        <p:txBody>
          <a:bodyPr/>
          <a:lstStyle/>
          <a:p>
            <a:endParaRPr lang="en-US"/>
          </a:p>
        </p:txBody>
      </p:sp>
      <p:sp>
        <p:nvSpPr>
          <p:cNvPr id="21" name="Shape 19"/>
          <p:cNvSpPr/>
          <p:nvPr/>
        </p:nvSpPr>
        <p:spPr>
          <a:xfrm>
            <a:off x="661475" y="5582940"/>
            <a:ext cx="10868745" cy="10337"/>
          </a:xfrm>
          <a:prstGeom prst="rect">
            <a:avLst/>
          </a:prstGeom>
          <a:solidFill>
            <a:srgbClr val="000000">
              <a:alpha val="8000"/>
            </a:srgbClr>
          </a:solidFill>
          <a:ln/>
        </p:spPr>
        <p:txBody>
          <a:bodyPr/>
          <a:lstStyle/>
          <a:p>
            <a:endParaRPr lang="en-US"/>
          </a:p>
        </p:txBody>
      </p:sp>
      <p:sp>
        <p:nvSpPr>
          <p:cNvPr id="22" name="Text 20"/>
          <p:cNvSpPr/>
          <p:nvPr/>
        </p:nvSpPr>
        <p:spPr>
          <a:xfrm>
            <a:off x="833317" y="3522563"/>
            <a:ext cx="2992958" cy="224929"/>
          </a:xfrm>
          <a:prstGeom prst="rect">
            <a:avLst/>
          </a:prstGeom>
          <a:noFill/>
          <a:ln/>
        </p:spPr>
        <p:txBody>
          <a:bodyPr wrap="none" lIns="0" tIns="0" rIns="0" bIns="0" rtlCol="0" anchor="t"/>
          <a:lstStyle/>
          <a:p>
            <a:pPr marL="0" indent="0" algn="l">
              <a:lnSpc>
                <a:spcPct val="113000"/>
              </a:lnSpc>
              <a:buNone/>
            </a:pPr>
            <a:r>
              <a:rPr lang="en-US" sz="1300" b="1" dirty="0">
                <a:solidFill>
                  <a:srgbClr val="2C3249"/>
                </a:solidFill>
                <a:latin typeface="Martel Sans Bold" pitchFamily="34" charset="0"/>
                <a:ea typeface="Martel Sans Bold" pitchFamily="34" charset="-122"/>
                <a:cs typeface="Martel Sans Bold" pitchFamily="34" charset="-120"/>
              </a:rPr>
              <a:t>Account</a:t>
            </a:r>
            <a:endParaRPr lang="en-US" sz="1300" dirty="0"/>
          </a:p>
        </p:txBody>
      </p:sp>
      <p:sp>
        <p:nvSpPr>
          <p:cNvPr id="23" name="Text 21"/>
          <p:cNvSpPr/>
          <p:nvPr/>
        </p:nvSpPr>
        <p:spPr>
          <a:xfrm>
            <a:off x="3547279" y="3522563"/>
            <a:ext cx="2992958" cy="224929"/>
          </a:xfrm>
          <a:prstGeom prst="rect">
            <a:avLst/>
          </a:prstGeom>
          <a:noFill/>
          <a:ln/>
        </p:spPr>
        <p:txBody>
          <a:bodyPr wrap="none" lIns="0" tIns="0" rIns="0" bIns="0" rtlCol="0" anchor="t"/>
          <a:lstStyle/>
          <a:p>
            <a:pPr marL="0" indent="0" algn="l">
              <a:lnSpc>
                <a:spcPct val="113000"/>
              </a:lnSpc>
              <a:buNone/>
            </a:pPr>
            <a:r>
              <a:rPr lang="en-US" sz="1300" b="1" dirty="0">
                <a:solidFill>
                  <a:srgbClr val="2C3249"/>
                </a:solidFill>
                <a:latin typeface="Martel Sans Bold" pitchFamily="34" charset="0"/>
                <a:ea typeface="Martel Sans Bold" pitchFamily="34" charset="-122"/>
                <a:cs typeface="Martel Sans Bold" pitchFamily="34" charset="-120"/>
              </a:rPr>
              <a:t>If it Increases</a:t>
            </a:r>
            <a:endParaRPr lang="en-US" sz="1300" dirty="0"/>
          </a:p>
        </p:txBody>
      </p:sp>
      <p:sp>
        <p:nvSpPr>
          <p:cNvPr id="24" name="Text 22"/>
          <p:cNvSpPr/>
          <p:nvPr/>
        </p:nvSpPr>
        <p:spPr>
          <a:xfrm>
            <a:off x="6261241" y="3522563"/>
            <a:ext cx="2992958" cy="224929"/>
          </a:xfrm>
          <a:prstGeom prst="rect">
            <a:avLst/>
          </a:prstGeom>
          <a:noFill/>
          <a:ln/>
        </p:spPr>
        <p:txBody>
          <a:bodyPr wrap="none" lIns="0" tIns="0" rIns="0" bIns="0" rtlCol="0" anchor="t"/>
          <a:lstStyle/>
          <a:p>
            <a:pPr marL="0" indent="0" algn="l">
              <a:lnSpc>
                <a:spcPct val="113000"/>
              </a:lnSpc>
              <a:buNone/>
            </a:pPr>
            <a:r>
              <a:rPr lang="en-US" sz="1300" b="1" dirty="0">
                <a:solidFill>
                  <a:srgbClr val="2C3249"/>
                </a:solidFill>
                <a:latin typeface="Martel Sans Bold" pitchFamily="34" charset="0"/>
                <a:ea typeface="Martel Sans Bold" pitchFamily="34" charset="-122"/>
                <a:cs typeface="Martel Sans Bold" pitchFamily="34" charset="-120"/>
              </a:rPr>
              <a:t>If it Decreases</a:t>
            </a:r>
            <a:endParaRPr lang="en-US" sz="1300" dirty="0"/>
          </a:p>
        </p:txBody>
      </p:sp>
      <p:sp>
        <p:nvSpPr>
          <p:cNvPr id="25" name="Text 23"/>
          <p:cNvSpPr/>
          <p:nvPr/>
        </p:nvSpPr>
        <p:spPr>
          <a:xfrm>
            <a:off x="8975203" y="3522563"/>
            <a:ext cx="2992958" cy="224929"/>
          </a:xfrm>
          <a:prstGeom prst="rect">
            <a:avLst/>
          </a:prstGeom>
          <a:noFill/>
          <a:ln/>
        </p:spPr>
        <p:txBody>
          <a:bodyPr wrap="none" lIns="0" tIns="0" rIns="0" bIns="0" rtlCol="0" anchor="t"/>
          <a:lstStyle/>
          <a:p>
            <a:pPr marL="0" indent="0" algn="l">
              <a:lnSpc>
                <a:spcPct val="113000"/>
              </a:lnSpc>
              <a:buNone/>
            </a:pPr>
            <a:r>
              <a:rPr lang="en-US" sz="1300" b="1" dirty="0">
                <a:solidFill>
                  <a:srgbClr val="2C3249"/>
                </a:solidFill>
                <a:latin typeface="Martel Sans Bold" pitchFamily="34" charset="0"/>
                <a:ea typeface="Martel Sans Bold" pitchFamily="34" charset="-122"/>
                <a:cs typeface="Martel Sans Bold" pitchFamily="34" charset="-120"/>
              </a:rPr>
              <a:t>Example</a:t>
            </a:r>
            <a:endParaRPr lang="en-US" sz="1300" dirty="0"/>
          </a:p>
        </p:txBody>
      </p:sp>
      <p:sp>
        <p:nvSpPr>
          <p:cNvPr id="26" name="Text 24"/>
          <p:cNvSpPr/>
          <p:nvPr/>
        </p:nvSpPr>
        <p:spPr>
          <a:xfrm>
            <a:off x="833317" y="3905448"/>
            <a:ext cx="2992958" cy="224929"/>
          </a:xfrm>
          <a:prstGeom prst="rect">
            <a:avLst/>
          </a:prstGeom>
          <a:noFill/>
          <a:ln/>
        </p:spPr>
        <p:txBody>
          <a:bodyPr wrap="none" lIns="0" tIns="0" rIns="0" bIns="0" rtlCol="0" anchor="t"/>
          <a:lstStyle/>
          <a:p>
            <a:pPr marL="0" indent="0" algn="l">
              <a:lnSpc>
                <a:spcPct val="113000"/>
              </a:lnSpc>
              <a:buNone/>
            </a:pPr>
            <a:r>
              <a:rPr lang="en-US" sz="1300" dirty="0">
                <a:solidFill>
                  <a:srgbClr val="2C3249"/>
                </a:solidFill>
                <a:latin typeface="Martel Sans" pitchFamily="34" charset="0"/>
                <a:ea typeface="Martel Sans" pitchFamily="34" charset="-122"/>
                <a:cs typeface="Martel Sans" pitchFamily="34" charset="-120"/>
              </a:rPr>
              <a:t>Asset</a:t>
            </a:r>
            <a:endParaRPr lang="en-US" sz="1300" dirty="0"/>
          </a:p>
        </p:txBody>
      </p:sp>
      <p:sp>
        <p:nvSpPr>
          <p:cNvPr id="27" name="Text 25"/>
          <p:cNvSpPr/>
          <p:nvPr/>
        </p:nvSpPr>
        <p:spPr>
          <a:xfrm>
            <a:off x="3547279" y="3905448"/>
            <a:ext cx="2992958" cy="224929"/>
          </a:xfrm>
          <a:prstGeom prst="rect">
            <a:avLst/>
          </a:prstGeom>
          <a:noFill/>
          <a:ln/>
        </p:spPr>
        <p:txBody>
          <a:bodyPr wrap="none" lIns="0" tIns="0" rIns="0" bIns="0" rtlCol="0" anchor="t"/>
          <a:lstStyle/>
          <a:p>
            <a:pPr marL="0" indent="0" algn="l">
              <a:lnSpc>
                <a:spcPct val="113000"/>
              </a:lnSpc>
              <a:buNone/>
            </a:pPr>
            <a:r>
              <a:rPr lang="en-US" sz="1300" dirty="0">
                <a:solidFill>
                  <a:srgbClr val="2C3249"/>
                </a:solidFill>
                <a:latin typeface="Martel Sans" pitchFamily="34" charset="0"/>
                <a:ea typeface="Martel Sans" pitchFamily="34" charset="-122"/>
                <a:cs typeface="Martel Sans" pitchFamily="34" charset="-120"/>
              </a:rPr>
              <a:t>Debit</a:t>
            </a:r>
            <a:endParaRPr lang="en-US" sz="1300" dirty="0"/>
          </a:p>
        </p:txBody>
      </p:sp>
      <p:sp>
        <p:nvSpPr>
          <p:cNvPr id="28" name="Text 26"/>
          <p:cNvSpPr/>
          <p:nvPr/>
        </p:nvSpPr>
        <p:spPr>
          <a:xfrm>
            <a:off x="6261241" y="3905448"/>
            <a:ext cx="2992958" cy="224929"/>
          </a:xfrm>
          <a:prstGeom prst="rect">
            <a:avLst/>
          </a:prstGeom>
          <a:noFill/>
          <a:ln/>
        </p:spPr>
        <p:txBody>
          <a:bodyPr wrap="none" lIns="0" tIns="0" rIns="0" bIns="0" rtlCol="0" anchor="t"/>
          <a:lstStyle/>
          <a:p>
            <a:pPr marL="0" indent="0" algn="l">
              <a:lnSpc>
                <a:spcPct val="113000"/>
              </a:lnSpc>
              <a:buNone/>
            </a:pPr>
            <a:r>
              <a:rPr lang="en-US" sz="1300" dirty="0">
                <a:solidFill>
                  <a:srgbClr val="2C3249"/>
                </a:solidFill>
                <a:latin typeface="Martel Sans" pitchFamily="34" charset="0"/>
                <a:ea typeface="Martel Sans" pitchFamily="34" charset="-122"/>
                <a:cs typeface="Martel Sans" pitchFamily="34" charset="-120"/>
              </a:rPr>
              <a:t>Credit</a:t>
            </a:r>
            <a:endParaRPr lang="en-US" sz="1300" dirty="0"/>
          </a:p>
        </p:txBody>
      </p:sp>
      <p:sp>
        <p:nvSpPr>
          <p:cNvPr id="29" name="Text 27"/>
          <p:cNvSpPr/>
          <p:nvPr/>
        </p:nvSpPr>
        <p:spPr>
          <a:xfrm>
            <a:off x="8975203" y="3905448"/>
            <a:ext cx="2992958" cy="224929"/>
          </a:xfrm>
          <a:prstGeom prst="rect">
            <a:avLst/>
          </a:prstGeom>
          <a:noFill/>
          <a:ln/>
        </p:spPr>
        <p:txBody>
          <a:bodyPr wrap="none" lIns="0" tIns="0" rIns="0" bIns="0" rtlCol="0" anchor="t"/>
          <a:lstStyle/>
          <a:p>
            <a:pPr marL="0" indent="0" algn="l">
              <a:lnSpc>
                <a:spcPct val="113000"/>
              </a:lnSpc>
              <a:buNone/>
            </a:pPr>
            <a:r>
              <a:rPr lang="en-US" sz="1300" dirty="0">
                <a:solidFill>
                  <a:srgbClr val="2C3249"/>
                </a:solidFill>
                <a:latin typeface="Martel Sans" pitchFamily="34" charset="0"/>
                <a:ea typeface="Martel Sans" pitchFamily="34" charset="-122"/>
                <a:cs typeface="Martel Sans" pitchFamily="34" charset="-120"/>
              </a:rPr>
              <a:t>Cash received → Dr Cash</a:t>
            </a:r>
            <a:endParaRPr lang="en-US" sz="1300" dirty="0"/>
          </a:p>
        </p:txBody>
      </p:sp>
      <p:sp>
        <p:nvSpPr>
          <p:cNvPr id="30" name="Text 28"/>
          <p:cNvSpPr/>
          <p:nvPr/>
        </p:nvSpPr>
        <p:spPr>
          <a:xfrm>
            <a:off x="833317" y="4288334"/>
            <a:ext cx="2992958" cy="224929"/>
          </a:xfrm>
          <a:prstGeom prst="rect">
            <a:avLst/>
          </a:prstGeom>
          <a:noFill/>
          <a:ln/>
        </p:spPr>
        <p:txBody>
          <a:bodyPr wrap="none" lIns="0" tIns="0" rIns="0" bIns="0" rtlCol="0" anchor="t"/>
          <a:lstStyle/>
          <a:p>
            <a:pPr marL="0" indent="0" algn="l">
              <a:lnSpc>
                <a:spcPct val="113000"/>
              </a:lnSpc>
              <a:buNone/>
            </a:pPr>
            <a:r>
              <a:rPr lang="en-US" sz="1300" dirty="0">
                <a:solidFill>
                  <a:srgbClr val="2C3249"/>
                </a:solidFill>
                <a:latin typeface="Martel Sans" pitchFamily="34" charset="0"/>
                <a:ea typeface="Martel Sans" pitchFamily="34" charset="-122"/>
                <a:cs typeface="Martel Sans" pitchFamily="34" charset="-120"/>
              </a:rPr>
              <a:t>Liability</a:t>
            </a:r>
            <a:endParaRPr lang="en-US" sz="1300" dirty="0"/>
          </a:p>
        </p:txBody>
      </p:sp>
      <p:sp>
        <p:nvSpPr>
          <p:cNvPr id="31" name="Text 29"/>
          <p:cNvSpPr/>
          <p:nvPr/>
        </p:nvSpPr>
        <p:spPr>
          <a:xfrm>
            <a:off x="3547279" y="4288334"/>
            <a:ext cx="2992958" cy="224929"/>
          </a:xfrm>
          <a:prstGeom prst="rect">
            <a:avLst/>
          </a:prstGeom>
          <a:noFill/>
          <a:ln/>
        </p:spPr>
        <p:txBody>
          <a:bodyPr wrap="none" lIns="0" tIns="0" rIns="0" bIns="0" rtlCol="0" anchor="t"/>
          <a:lstStyle/>
          <a:p>
            <a:pPr marL="0" indent="0" algn="l">
              <a:lnSpc>
                <a:spcPct val="113000"/>
              </a:lnSpc>
              <a:buNone/>
            </a:pPr>
            <a:r>
              <a:rPr lang="en-US" sz="1300" dirty="0">
                <a:solidFill>
                  <a:srgbClr val="2C3249"/>
                </a:solidFill>
                <a:latin typeface="Martel Sans" pitchFamily="34" charset="0"/>
                <a:ea typeface="Martel Sans" pitchFamily="34" charset="-122"/>
                <a:cs typeface="Martel Sans" pitchFamily="34" charset="-120"/>
              </a:rPr>
              <a:t>Credit</a:t>
            </a:r>
            <a:endParaRPr lang="en-US" sz="1300" dirty="0"/>
          </a:p>
        </p:txBody>
      </p:sp>
      <p:sp>
        <p:nvSpPr>
          <p:cNvPr id="32" name="Text 30"/>
          <p:cNvSpPr/>
          <p:nvPr/>
        </p:nvSpPr>
        <p:spPr>
          <a:xfrm>
            <a:off x="6261241" y="4288334"/>
            <a:ext cx="2992958" cy="224929"/>
          </a:xfrm>
          <a:prstGeom prst="rect">
            <a:avLst/>
          </a:prstGeom>
          <a:noFill/>
          <a:ln/>
        </p:spPr>
        <p:txBody>
          <a:bodyPr wrap="none" lIns="0" tIns="0" rIns="0" bIns="0" rtlCol="0" anchor="t"/>
          <a:lstStyle/>
          <a:p>
            <a:pPr marL="0" indent="0" algn="l">
              <a:lnSpc>
                <a:spcPct val="113000"/>
              </a:lnSpc>
              <a:buNone/>
            </a:pPr>
            <a:r>
              <a:rPr lang="en-US" sz="1300" dirty="0">
                <a:solidFill>
                  <a:srgbClr val="2C3249"/>
                </a:solidFill>
                <a:latin typeface="Martel Sans" pitchFamily="34" charset="0"/>
                <a:ea typeface="Martel Sans" pitchFamily="34" charset="-122"/>
                <a:cs typeface="Martel Sans" pitchFamily="34" charset="-120"/>
              </a:rPr>
              <a:t>Debit</a:t>
            </a:r>
            <a:endParaRPr lang="en-US" sz="1300" dirty="0"/>
          </a:p>
        </p:txBody>
      </p:sp>
      <p:sp>
        <p:nvSpPr>
          <p:cNvPr id="33" name="Text 31"/>
          <p:cNvSpPr/>
          <p:nvPr/>
        </p:nvSpPr>
        <p:spPr>
          <a:xfrm>
            <a:off x="8975203" y="4288334"/>
            <a:ext cx="2992958" cy="224929"/>
          </a:xfrm>
          <a:prstGeom prst="rect">
            <a:avLst/>
          </a:prstGeom>
          <a:noFill/>
          <a:ln/>
        </p:spPr>
        <p:txBody>
          <a:bodyPr wrap="none" lIns="0" tIns="0" rIns="0" bIns="0" rtlCol="0" anchor="t"/>
          <a:lstStyle/>
          <a:p>
            <a:pPr marL="0" indent="0" algn="l">
              <a:lnSpc>
                <a:spcPct val="113000"/>
              </a:lnSpc>
              <a:buNone/>
            </a:pPr>
            <a:r>
              <a:rPr lang="en-US" sz="1300" dirty="0">
                <a:solidFill>
                  <a:srgbClr val="2C3249"/>
                </a:solidFill>
                <a:latin typeface="Martel Sans" pitchFamily="34" charset="0"/>
                <a:ea typeface="Martel Sans" pitchFamily="34" charset="-122"/>
                <a:cs typeface="Martel Sans" pitchFamily="34" charset="-120"/>
              </a:rPr>
              <a:t>Loan received → Cr Loan</a:t>
            </a:r>
            <a:endParaRPr lang="en-US" sz="1300" dirty="0"/>
          </a:p>
        </p:txBody>
      </p:sp>
      <p:sp>
        <p:nvSpPr>
          <p:cNvPr id="34" name="Text 32"/>
          <p:cNvSpPr/>
          <p:nvPr/>
        </p:nvSpPr>
        <p:spPr>
          <a:xfrm>
            <a:off x="833317" y="4671219"/>
            <a:ext cx="2992958" cy="224929"/>
          </a:xfrm>
          <a:prstGeom prst="rect">
            <a:avLst/>
          </a:prstGeom>
          <a:noFill/>
          <a:ln/>
        </p:spPr>
        <p:txBody>
          <a:bodyPr wrap="none" lIns="0" tIns="0" rIns="0" bIns="0" rtlCol="0" anchor="t"/>
          <a:lstStyle/>
          <a:p>
            <a:pPr marL="0" indent="0" algn="l">
              <a:lnSpc>
                <a:spcPct val="113000"/>
              </a:lnSpc>
              <a:buNone/>
            </a:pPr>
            <a:r>
              <a:rPr lang="en-US" sz="1300" dirty="0">
                <a:solidFill>
                  <a:srgbClr val="2C3249"/>
                </a:solidFill>
                <a:latin typeface="Martel Sans" pitchFamily="34" charset="0"/>
                <a:ea typeface="Martel Sans" pitchFamily="34" charset="-122"/>
                <a:cs typeface="Martel Sans" pitchFamily="34" charset="-120"/>
              </a:rPr>
              <a:t>Capital/Equity</a:t>
            </a:r>
            <a:endParaRPr lang="en-US" sz="1300" dirty="0"/>
          </a:p>
        </p:txBody>
      </p:sp>
      <p:sp>
        <p:nvSpPr>
          <p:cNvPr id="35" name="Text 33"/>
          <p:cNvSpPr/>
          <p:nvPr/>
        </p:nvSpPr>
        <p:spPr>
          <a:xfrm>
            <a:off x="3547279" y="4671219"/>
            <a:ext cx="2992958" cy="224929"/>
          </a:xfrm>
          <a:prstGeom prst="rect">
            <a:avLst/>
          </a:prstGeom>
          <a:noFill/>
          <a:ln/>
        </p:spPr>
        <p:txBody>
          <a:bodyPr wrap="none" lIns="0" tIns="0" rIns="0" bIns="0" rtlCol="0" anchor="t"/>
          <a:lstStyle/>
          <a:p>
            <a:pPr marL="0" indent="0" algn="l">
              <a:lnSpc>
                <a:spcPct val="113000"/>
              </a:lnSpc>
              <a:buNone/>
            </a:pPr>
            <a:r>
              <a:rPr lang="en-US" sz="1300" dirty="0">
                <a:solidFill>
                  <a:srgbClr val="2C3249"/>
                </a:solidFill>
                <a:latin typeface="Martel Sans" pitchFamily="34" charset="0"/>
                <a:ea typeface="Martel Sans" pitchFamily="34" charset="-122"/>
                <a:cs typeface="Martel Sans" pitchFamily="34" charset="-120"/>
              </a:rPr>
              <a:t>Credit</a:t>
            </a:r>
            <a:endParaRPr lang="en-US" sz="1300" dirty="0"/>
          </a:p>
        </p:txBody>
      </p:sp>
      <p:sp>
        <p:nvSpPr>
          <p:cNvPr id="36" name="Text 34"/>
          <p:cNvSpPr/>
          <p:nvPr/>
        </p:nvSpPr>
        <p:spPr>
          <a:xfrm>
            <a:off x="6261241" y="4671219"/>
            <a:ext cx="2992958" cy="224929"/>
          </a:xfrm>
          <a:prstGeom prst="rect">
            <a:avLst/>
          </a:prstGeom>
          <a:noFill/>
          <a:ln/>
        </p:spPr>
        <p:txBody>
          <a:bodyPr wrap="none" lIns="0" tIns="0" rIns="0" bIns="0" rtlCol="0" anchor="t"/>
          <a:lstStyle/>
          <a:p>
            <a:pPr marL="0" indent="0" algn="l">
              <a:lnSpc>
                <a:spcPct val="113000"/>
              </a:lnSpc>
              <a:buNone/>
            </a:pPr>
            <a:r>
              <a:rPr lang="en-US" sz="1300" dirty="0">
                <a:solidFill>
                  <a:srgbClr val="2C3249"/>
                </a:solidFill>
                <a:latin typeface="Martel Sans" pitchFamily="34" charset="0"/>
                <a:ea typeface="Martel Sans" pitchFamily="34" charset="-122"/>
                <a:cs typeface="Martel Sans" pitchFamily="34" charset="-120"/>
              </a:rPr>
              <a:t>Debit</a:t>
            </a:r>
            <a:endParaRPr lang="en-US" sz="1300" dirty="0"/>
          </a:p>
        </p:txBody>
      </p:sp>
      <p:sp>
        <p:nvSpPr>
          <p:cNvPr id="37" name="Text 35"/>
          <p:cNvSpPr/>
          <p:nvPr/>
        </p:nvSpPr>
        <p:spPr>
          <a:xfrm>
            <a:off x="8975203" y="4671219"/>
            <a:ext cx="2383373" cy="449858"/>
          </a:xfrm>
          <a:prstGeom prst="rect">
            <a:avLst/>
          </a:prstGeom>
          <a:noFill/>
          <a:ln/>
        </p:spPr>
        <p:txBody>
          <a:bodyPr wrap="square" lIns="0" tIns="0" rIns="0" bIns="0" rtlCol="0" anchor="t">
            <a:normAutofit/>
          </a:bodyPr>
          <a:lstStyle/>
          <a:p>
            <a:pPr marL="0" indent="0" algn="l">
              <a:lnSpc>
                <a:spcPct val="113000"/>
              </a:lnSpc>
              <a:buNone/>
            </a:pPr>
            <a:r>
              <a:rPr lang="en-US" sz="1300" dirty="0">
                <a:solidFill>
                  <a:srgbClr val="2C3249"/>
                </a:solidFill>
                <a:latin typeface="Martel Sans" pitchFamily="34" charset="0"/>
                <a:ea typeface="Martel Sans" pitchFamily="34" charset="-122"/>
                <a:cs typeface="Martel Sans" pitchFamily="34" charset="-120"/>
              </a:rPr>
              <a:t>Owner introduces capital → Cr Capital</a:t>
            </a:r>
            <a:endParaRPr lang="en-US" sz="1300" dirty="0"/>
          </a:p>
        </p:txBody>
      </p:sp>
      <p:sp>
        <p:nvSpPr>
          <p:cNvPr id="38" name="Text 36"/>
          <p:cNvSpPr/>
          <p:nvPr/>
        </p:nvSpPr>
        <p:spPr>
          <a:xfrm>
            <a:off x="833317" y="5279033"/>
            <a:ext cx="2992958" cy="224929"/>
          </a:xfrm>
          <a:prstGeom prst="rect">
            <a:avLst/>
          </a:prstGeom>
          <a:noFill/>
          <a:ln/>
        </p:spPr>
        <p:txBody>
          <a:bodyPr wrap="none" lIns="0" tIns="0" rIns="0" bIns="0" rtlCol="0" anchor="t"/>
          <a:lstStyle/>
          <a:p>
            <a:pPr marL="0" indent="0" algn="l">
              <a:lnSpc>
                <a:spcPct val="113000"/>
              </a:lnSpc>
              <a:buNone/>
            </a:pPr>
            <a:r>
              <a:rPr lang="en-US" sz="1300" dirty="0">
                <a:solidFill>
                  <a:srgbClr val="2C3249"/>
                </a:solidFill>
                <a:latin typeface="Martel Sans" pitchFamily="34" charset="0"/>
                <a:ea typeface="Martel Sans" pitchFamily="34" charset="-122"/>
                <a:cs typeface="Martel Sans" pitchFamily="34" charset="-120"/>
              </a:rPr>
              <a:t>Income</a:t>
            </a:r>
            <a:endParaRPr lang="en-US" sz="1300" dirty="0"/>
          </a:p>
        </p:txBody>
      </p:sp>
      <p:sp>
        <p:nvSpPr>
          <p:cNvPr id="39" name="Text 37"/>
          <p:cNvSpPr/>
          <p:nvPr/>
        </p:nvSpPr>
        <p:spPr>
          <a:xfrm>
            <a:off x="3547279" y="5279033"/>
            <a:ext cx="2992958" cy="224929"/>
          </a:xfrm>
          <a:prstGeom prst="rect">
            <a:avLst/>
          </a:prstGeom>
          <a:noFill/>
          <a:ln/>
        </p:spPr>
        <p:txBody>
          <a:bodyPr wrap="none" lIns="0" tIns="0" rIns="0" bIns="0" rtlCol="0" anchor="t"/>
          <a:lstStyle/>
          <a:p>
            <a:pPr marL="0" indent="0" algn="l">
              <a:lnSpc>
                <a:spcPct val="113000"/>
              </a:lnSpc>
              <a:buNone/>
            </a:pPr>
            <a:r>
              <a:rPr lang="en-US" sz="1300" dirty="0">
                <a:solidFill>
                  <a:srgbClr val="2C3249"/>
                </a:solidFill>
                <a:latin typeface="Martel Sans" pitchFamily="34" charset="0"/>
                <a:ea typeface="Martel Sans" pitchFamily="34" charset="-122"/>
                <a:cs typeface="Martel Sans" pitchFamily="34" charset="-120"/>
              </a:rPr>
              <a:t>Credit</a:t>
            </a:r>
            <a:endParaRPr lang="en-US" sz="1300" dirty="0"/>
          </a:p>
        </p:txBody>
      </p:sp>
      <p:sp>
        <p:nvSpPr>
          <p:cNvPr id="40" name="Text 38"/>
          <p:cNvSpPr/>
          <p:nvPr/>
        </p:nvSpPr>
        <p:spPr>
          <a:xfrm>
            <a:off x="6261241" y="5279033"/>
            <a:ext cx="2992958" cy="224929"/>
          </a:xfrm>
          <a:prstGeom prst="rect">
            <a:avLst/>
          </a:prstGeom>
          <a:noFill/>
          <a:ln/>
        </p:spPr>
        <p:txBody>
          <a:bodyPr wrap="none" lIns="0" tIns="0" rIns="0" bIns="0" rtlCol="0" anchor="t"/>
          <a:lstStyle/>
          <a:p>
            <a:pPr marL="0" indent="0" algn="l">
              <a:lnSpc>
                <a:spcPct val="113000"/>
              </a:lnSpc>
              <a:buNone/>
            </a:pPr>
            <a:r>
              <a:rPr lang="en-US" sz="1300" dirty="0">
                <a:solidFill>
                  <a:srgbClr val="2C3249"/>
                </a:solidFill>
                <a:latin typeface="Martel Sans" pitchFamily="34" charset="0"/>
                <a:ea typeface="Martel Sans" pitchFamily="34" charset="-122"/>
                <a:cs typeface="Martel Sans" pitchFamily="34" charset="-120"/>
              </a:rPr>
              <a:t>Debit</a:t>
            </a:r>
            <a:endParaRPr lang="en-US" sz="1300" dirty="0"/>
          </a:p>
        </p:txBody>
      </p:sp>
      <p:sp>
        <p:nvSpPr>
          <p:cNvPr id="41" name="Text 39"/>
          <p:cNvSpPr/>
          <p:nvPr/>
        </p:nvSpPr>
        <p:spPr>
          <a:xfrm>
            <a:off x="8975203" y="5279033"/>
            <a:ext cx="2992958" cy="224929"/>
          </a:xfrm>
          <a:prstGeom prst="rect">
            <a:avLst/>
          </a:prstGeom>
          <a:noFill/>
          <a:ln/>
        </p:spPr>
        <p:txBody>
          <a:bodyPr wrap="none" lIns="0" tIns="0" rIns="0" bIns="0" rtlCol="0" anchor="t"/>
          <a:lstStyle/>
          <a:p>
            <a:pPr marL="0" indent="0" algn="l">
              <a:lnSpc>
                <a:spcPct val="113000"/>
              </a:lnSpc>
              <a:buNone/>
            </a:pPr>
            <a:r>
              <a:rPr lang="en-US" sz="1300" dirty="0">
                <a:solidFill>
                  <a:srgbClr val="2C3249"/>
                </a:solidFill>
                <a:latin typeface="Martel Sans" pitchFamily="34" charset="0"/>
                <a:ea typeface="Martel Sans" pitchFamily="34" charset="-122"/>
                <a:cs typeface="Martel Sans" pitchFamily="34" charset="-120"/>
              </a:rPr>
              <a:t>Sales made → Cr Sales</a:t>
            </a:r>
            <a:endParaRPr lang="en-US" sz="1300" dirty="0"/>
          </a:p>
        </p:txBody>
      </p:sp>
      <p:sp>
        <p:nvSpPr>
          <p:cNvPr id="42" name="Text 40"/>
          <p:cNvSpPr/>
          <p:nvPr/>
        </p:nvSpPr>
        <p:spPr>
          <a:xfrm>
            <a:off x="833317" y="5661918"/>
            <a:ext cx="2992958" cy="224929"/>
          </a:xfrm>
          <a:prstGeom prst="rect">
            <a:avLst/>
          </a:prstGeom>
          <a:noFill/>
          <a:ln/>
        </p:spPr>
        <p:txBody>
          <a:bodyPr wrap="none" lIns="0" tIns="0" rIns="0" bIns="0" rtlCol="0" anchor="t"/>
          <a:lstStyle/>
          <a:p>
            <a:pPr marL="0" indent="0" algn="l">
              <a:lnSpc>
                <a:spcPct val="113000"/>
              </a:lnSpc>
              <a:buNone/>
            </a:pPr>
            <a:r>
              <a:rPr lang="en-US" sz="1300" dirty="0">
                <a:solidFill>
                  <a:srgbClr val="2C3249"/>
                </a:solidFill>
                <a:latin typeface="Martel Sans" pitchFamily="34" charset="0"/>
                <a:ea typeface="Martel Sans" pitchFamily="34" charset="-122"/>
                <a:cs typeface="Martel Sans" pitchFamily="34" charset="-120"/>
              </a:rPr>
              <a:t>Expense</a:t>
            </a:r>
            <a:endParaRPr lang="en-US" sz="1300" dirty="0"/>
          </a:p>
        </p:txBody>
      </p:sp>
      <p:sp>
        <p:nvSpPr>
          <p:cNvPr id="43" name="Text 41"/>
          <p:cNvSpPr/>
          <p:nvPr/>
        </p:nvSpPr>
        <p:spPr>
          <a:xfrm>
            <a:off x="3547279" y="5661918"/>
            <a:ext cx="2992958" cy="224929"/>
          </a:xfrm>
          <a:prstGeom prst="rect">
            <a:avLst/>
          </a:prstGeom>
          <a:noFill/>
          <a:ln/>
        </p:spPr>
        <p:txBody>
          <a:bodyPr wrap="none" lIns="0" tIns="0" rIns="0" bIns="0" rtlCol="0" anchor="t"/>
          <a:lstStyle/>
          <a:p>
            <a:pPr marL="0" indent="0" algn="l">
              <a:lnSpc>
                <a:spcPct val="113000"/>
              </a:lnSpc>
              <a:buNone/>
            </a:pPr>
            <a:r>
              <a:rPr lang="en-US" sz="1300" dirty="0">
                <a:solidFill>
                  <a:srgbClr val="2C3249"/>
                </a:solidFill>
                <a:latin typeface="Martel Sans" pitchFamily="34" charset="0"/>
                <a:ea typeface="Martel Sans" pitchFamily="34" charset="-122"/>
                <a:cs typeface="Martel Sans" pitchFamily="34" charset="-120"/>
              </a:rPr>
              <a:t>Debit</a:t>
            </a:r>
            <a:endParaRPr lang="en-US" sz="1300" dirty="0"/>
          </a:p>
        </p:txBody>
      </p:sp>
      <p:sp>
        <p:nvSpPr>
          <p:cNvPr id="44" name="Text 42"/>
          <p:cNvSpPr/>
          <p:nvPr/>
        </p:nvSpPr>
        <p:spPr>
          <a:xfrm>
            <a:off x="6261241" y="5661918"/>
            <a:ext cx="2992958" cy="224929"/>
          </a:xfrm>
          <a:prstGeom prst="rect">
            <a:avLst/>
          </a:prstGeom>
          <a:noFill/>
          <a:ln/>
        </p:spPr>
        <p:txBody>
          <a:bodyPr wrap="none" lIns="0" tIns="0" rIns="0" bIns="0" rtlCol="0" anchor="t"/>
          <a:lstStyle/>
          <a:p>
            <a:pPr marL="0" indent="0" algn="l">
              <a:lnSpc>
                <a:spcPct val="113000"/>
              </a:lnSpc>
              <a:buNone/>
            </a:pPr>
            <a:r>
              <a:rPr lang="en-US" sz="1300" dirty="0">
                <a:solidFill>
                  <a:srgbClr val="2C3249"/>
                </a:solidFill>
                <a:latin typeface="Martel Sans" pitchFamily="34" charset="0"/>
                <a:ea typeface="Martel Sans" pitchFamily="34" charset="-122"/>
                <a:cs typeface="Martel Sans" pitchFamily="34" charset="-120"/>
              </a:rPr>
              <a:t>Credit</a:t>
            </a:r>
            <a:endParaRPr lang="en-US" sz="1300" dirty="0"/>
          </a:p>
        </p:txBody>
      </p:sp>
      <p:sp>
        <p:nvSpPr>
          <p:cNvPr id="45" name="Text 43"/>
          <p:cNvSpPr/>
          <p:nvPr/>
        </p:nvSpPr>
        <p:spPr>
          <a:xfrm>
            <a:off x="8975203" y="5661918"/>
            <a:ext cx="2992958" cy="224929"/>
          </a:xfrm>
          <a:prstGeom prst="rect">
            <a:avLst/>
          </a:prstGeom>
          <a:noFill/>
          <a:ln/>
        </p:spPr>
        <p:txBody>
          <a:bodyPr wrap="none" lIns="0" tIns="0" rIns="0" bIns="0" rtlCol="0" anchor="t"/>
          <a:lstStyle/>
          <a:p>
            <a:pPr marL="0" indent="0" algn="l">
              <a:lnSpc>
                <a:spcPct val="113000"/>
              </a:lnSpc>
              <a:buNone/>
            </a:pPr>
            <a:r>
              <a:rPr lang="en-US" sz="1300" dirty="0">
                <a:solidFill>
                  <a:srgbClr val="2C3249"/>
                </a:solidFill>
                <a:latin typeface="Martel Sans" pitchFamily="34" charset="0"/>
                <a:ea typeface="Martel Sans" pitchFamily="34" charset="-122"/>
                <a:cs typeface="Martel Sans" pitchFamily="34" charset="-120"/>
              </a:rPr>
              <a:t>Rent paid → Dr Rent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2107737" y="403566"/>
            <a:ext cx="7507317" cy="701477"/>
          </a:xfrm>
          <a:prstGeom prst="rect">
            <a:avLst/>
          </a:prstGeom>
          <a:noFill/>
          <a:ln/>
        </p:spPr>
        <p:txBody>
          <a:bodyPr wrap="none" lIns="0" tIns="0" rIns="0" bIns="0" rtlCol="0" anchor="t"/>
          <a:lstStyle/>
          <a:p>
            <a:pPr marL="0" indent="0" algn="l">
              <a:lnSpc>
                <a:spcPct val="104000"/>
              </a:lnSpc>
              <a:buNone/>
            </a:pPr>
            <a:r>
              <a:rPr lang="en-US" sz="4400" dirty="0">
                <a:solidFill>
                  <a:srgbClr val="272D45"/>
                </a:solidFill>
                <a:latin typeface="Kanit Light" pitchFamily="34" charset="0"/>
                <a:ea typeface="Kanit Light" pitchFamily="34" charset="-122"/>
                <a:cs typeface="Kanit Light" pitchFamily="34" charset="-120"/>
              </a:rPr>
              <a:t>Double Entry Examples 1 &amp; 2</a:t>
            </a:r>
            <a:endParaRPr lang="en-US" sz="4400" dirty="0"/>
          </a:p>
        </p:txBody>
      </p:sp>
      <p:sp>
        <p:nvSpPr>
          <p:cNvPr id="3" name="Shape 1"/>
          <p:cNvSpPr/>
          <p:nvPr/>
        </p:nvSpPr>
        <p:spPr>
          <a:xfrm>
            <a:off x="499852" y="1371600"/>
            <a:ext cx="5483782" cy="4674989"/>
          </a:xfrm>
          <a:prstGeom prst="roundRect">
            <a:avLst>
              <a:gd name="adj" fmla="val 3835"/>
            </a:avLst>
          </a:prstGeom>
          <a:solidFill>
            <a:srgbClr val="437066"/>
          </a:solidFill>
          <a:ln/>
        </p:spPr>
        <p:txBody>
          <a:bodyPr/>
          <a:lstStyle/>
          <a:p>
            <a:endParaRPr lang="en-US"/>
          </a:p>
        </p:txBody>
      </p:sp>
      <p:sp>
        <p:nvSpPr>
          <p:cNvPr id="4" name="Text 2"/>
          <p:cNvSpPr/>
          <p:nvPr/>
        </p:nvSpPr>
        <p:spPr>
          <a:xfrm>
            <a:off x="724279" y="1657250"/>
            <a:ext cx="5034928" cy="701477"/>
          </a:xfrm>
          <a:prstGeom prst="rect">
            <a:avLst/>
          </a:prstGeom>
          <a:noFill/>
          <a:ln/>
        </p:spPr>
        <p:txBody>
          <a:bodyPr wrap="square" lIns="0" tIns="0" rIns="0" bIns="0" rtlCol="0" anchor="t">
            <a:normAutofit/>
          </a:bodyPr>
          <a:lstStyle/>
          <a:p>
            <a:pPr marL="0" indent="0" algn="l">
              <a:lnSpc>
                <a:spcPct val="104000"/>
              </a:lnSpc>
              <a:buNone/>
            </a:pPr>
            <a:r>
              <a:rPr lang="en-US" sz="2200" dirty="0">
                <a:solidFill>
                  <a:srgbClr val="FFFFFF"/>
                </a:solidFill>
                <a:latin typeface="Kanit Light" pitchFamily="34" charset="0"/>
                <a:ea typeface="Kanit Light" pitchFamily="34" charset="-122"/>
                <a:cs typeface="Kanit Light" pitchFamily="34" charset="-120"/>
              </a:rPr>
              <a:t>Example 1: Owner Introduces Sh 100,000 Cash</a:t>
            </a:r>
            <a:endParaRPr lang="en-US" sz="2200" dirty="0"/>
          </a:p>
        </p:txBody>
      </p:sp>
      <p:sp>
        <p:nvSpPr>
          <p:cNvPr id="5" name="Text 3"/>
          <p:cNvSpPr/>
          <p:nvPr/>
        </p:nvSpPr>
        <p:spPr>
          <a:xfrm>
            <a:off x="724279" y="2960489"/>
            <a:ext cx="5034928" cy="700088"/>
          </a:xfrm>
          <a:prstGeom prst="rect">
            <a:avLst/>
          </a:prstGeom>
          <a:noFill/>
          <a:ln/>
        </p:spPr>
        <p:txBody>
          <a:bodyPr wrap="square" lIns="0" tIns="0" rIns="0" bIns="0" rtlCol="0" anchor="t">
            <a:normAutofit/>
          </a:bodyPr>
          <a:lstStyle/>
          <a:p>
            <a:pPr marL="0" indent="0" algn="l">
              <a:lnSpc>
                <a:spcPct val="130000"/>
              </a:lnSpc>
              <a:buNone/>
            </a:pPr>
            <a:r>
              <a:rPr lang="en-US" sz="1750" dirty="0">
                <a:solidFill>
                  <a:srgbClr val="FFFFFF"/>
                </a:solidFill>
                <a:latin typeface="Martel Sans" pitchFamily="34" charset="0"/>
                <a:ea typeface="Martel Sans" pitchFamily="34" charset="-122"/>
                <a:cs typeface="Martel Sans" pitchFamily="34" charset="-120"/>
              </a:rPr>
              <a:t>Two accounts are affected: Cash (Asset) increases and Capital (Equity) increases.</a:t>
            </a:r>
            <a:endParaRPr lang="en-US" sz="1750" dirty="0"/>
          </a:p>
        </p:txBody>
      </p:sp>
      <p:sp>
        <p:nvSpPr>
          <p:cNvPr id="6" name="Shape 4"/>
          <p:cNvSpPr/>
          <p:nvPr/>
        </p:nvSpPr>
        <p:spPr>
          <a:xfrm>
            <a:off x="724279" y="3900388"/>
            <a:ext cx="5034928" cy="1906389"/>
          </a:xfrm>
          <a:prstGeom prst="roundRect">
            <a:avLst>
              <a:gd name="adj" fmla="val 4945"/>
            </a:avLst>
          </a:prstGeom>
          <a:noFill/>
          <a:ln w="12700">
            <a:solidFill>
              <a:srgbClr val="FFFFFF">
                <a:alpha val="24000"/>
              </a:srgbClr>
            </a:solidFill>
            <a:prstDash val="solid"/>
          </a:ln>
        </p:spPr>
        <p:txBody>
          <a:bodyPr/>
          <a:lstStyle/>
          <a:p>
            <a:endParaRPr lang="en-US"/>
          </a:p>
        </p:txBody>
      </p:sp>
      <p:sp>
        <p:nvSpPr>
          <p:cNvPr id="7" name="Shape 5"/>
          <p:cNvSpPr/>
          <p:nvPr/>
        </p:nvSpPr>
        <p:spPr>
          <a:xfrm>
            <a:off x="724279" y="4537968"/>
            <a:ext cx="5034928" cy="14029"/>
          </a:xfrm>
          <a:prstGeom prst="rect">
            <a:avLst/>
          </a:prstGeom>
          <a:solidFill>
            <a:srgbClr val="FFFFFF">
              <a:alpha val="24000"/>
            </a:srgbClr>
          </a:solidFill>
          <a:ln/>
        </p:spPr>
        <p:txBody>
          <a:bodyPr/>
          <a:lstStyle/>
          <a:p>
            <a:endParaRPr lang="en-US"/>
          </a:p>
        </p:txBody>
      </p:sp>
      <p:sp>
        <p:nvSpPr>
          <p:cNvPr id="8" name="Shape 6"/>
          <p:cNvSpPr/>
          <p:nvPr/>
        </p:nvSpPr>
        <p:spPr>
          <a:xfrm>
            <a:off x="724279" y="5169198"/>
            <a:ext cx="5034928" cy="14029"/>
          </a:xfrm>
          <a:prstGeom prst="rect">
            <a:avLst/>
          </a:prstGeom>
          <a:solidFill>
            <a:srgbClr val="FFFFFF">
              <a:alpha val="24000"/>
            </a:srgbClr>
          </a:solidFill>
          <a:ln/>
        </p:spPr>
        <p:txBody>
          <a:bodyPr/>
          <a:lstStyle/>
          <a:p>
            <a:endParaRPr lang="en-US"/>
          </a:p>
        </p:txBody>
      </p:sp>
      <p:sp>
        <p:nvSpPr>
          <p:cNvPr id="9" name="Shape 7"/>
          <p:cNvSpPr/>
          <p:nvPr/>
        </p:nvSpPr>
        <p:spPr>
          <a:xfrm>
            <a:off x="2407086" y="3900388"/>
            <a:ext cx="14029" cy="1906389"/>
          </a:xfrm>
          <a:prstGeom prst="rect">
            <a:avLst/>
          </a:prstGeom>
          <a:solidFill>
            <a:srgbClr val="FFFFFF">
              <a:alpha val="24000"/>
            </a:srgbClr>
          </a:solidFill>
          <a:ln/>
        </p:spPr>
        <p:txBody>
          <a:bodyPr/>
          <a:lstStyle/>
          <a:p>
            <a:endParaRPr lang="en-US"/>
          </a:p>
        </p:txBody>
      </p:sp>
      <p:sp>
        <p:nvSpPr>
          <p:cNvPr id="10" name="Shape 8"/>
          <p:cNvSpPr/>
          <p:nvPr/>
        </p:nvSpPr>
        <p:spPr>
          <a:xfrm>
            <a:off x="4076499" y="3900388"/>
            <a:ext cx="14029" cy="1906389"/>
          </a:xfrm>
          <a:prstGeom prst="rect">
            <a:avLst/>
          </a:prstGeom>
          <a:solidFill>
            <a:srgbClr val="FFFFFF">
              <a:alpha val="24000"/>
            </a:srgbClr>
          </a:solidFill>
          <a:ln/>
        </p:spPr>
        <p:txBody>
          <a:bodyPr/>
          <a:lstStyle/>
          <a:p>
            <a:endParaRPr lang="en-US"/>
          </a:p>
        </p:txBody>
      </p:sp>
      <p:sp>
        <p:nvSpPr>
          <p:cNvPr id="11" name="Text 9"/>
          <p:cNvSpPr/>
          <p:nvPr/>
        </p:nvSpPr>
        <p:spPr>
          <a:xfrm>
            <a:off x="962100" y="4047331"/>
            <a:ext cx="1823793" cy="350044"/>
          </a:xfrm>
          <a:prstGeom prst="rect">
            <a:avLst/>
          </a:prstGeom>
          <a:noFill/>
          <a:ln/>
        </p:spPr>
        <p:txBody>
          <a:bodyPr wrap="none" lIns="0" tIns="0" rIns="0" bIns="0" rtlCol="0" anchor="t"/>
          <a:lstStyle/>
          <a:p>
            <a:pPr marL="0" indent="0" algn="l">
              <a:lnSpc>
                <a:spcPct val="130000"/>
              </a:lnSpc>
              <a:buNone/>
            </a:pPr>
            <a:r>
              <a:rPr lang="en-US" sz="1750" b="1" dirty="0">
                <a:solidFill>
                  <a:srgbClr val="FFFFFF"/>
                </a:solidFill>
                <a:latin typeface="Martel Sans Bold" pitchFamily="34" charset="0"/>
                <a:ea typeface="Martel Sans Bold" pitchFamily="34" charset="-122"/>
                <a:cs typeface="Martel Sans Bold" pitchFamily="34" charset="-120"/>
              </a:rPr>
              <a:t>Account</a:t>
            </a:r>
            <a:endParaRPr lang="en-US" sz="1750" dirty="0"/>
          </a:p>
        </p:txBody>
      </p:sp>
      <p:sp>
        <p:nvSpPr>
          <p:cNvPr id="12" name="Text 10"/>
          <p:cNvSpPr/>
          <p:nvPr/>
        </p:nvSpPr>
        <p:spPr>
          <a:xfrm>
            <a:off x="2637863" y="4047331"/>
            <a:ext cx="1817444" cy="350044"/>
          </a:xfrm>
          <a:prstGeom prst="rect">
            <a:avLst/>
          </a:prstGeom>
          <a:noFill/>
          <a:ln/>
        </p:spPr>
        <p:txBody>
          <a:bodyPr wrap="none" lIns="0" tIns="0" rIns="0" bIns="0" rtlCol="0" anchor="t"/>
          <a:lstStyle/>
          <a:p>
            <a:pPr marL="0" indent="0" algn="l">
              <a:lnSpc>
                <a:spcPct val="130000"/>
              </a:lnSpc>
              <a:buNone/>
            </a:pPr>
            <a:r>
              <a:rPr lang="en-US" sz="1750" b="1" dirty="0">
                <a:solidFill>
                  <a:srgbClr val="FFFFFF"/>
                </a:solidFill>
                <a:latin typeface="Martel Sans Bold" pitchFamily="34" charset="0"/>
                <a:ea typeface="Martel Sans Bold" pitchFamily="34" charset="-122"/>
                <a:cs typeface="Martel Sans Bold" pitchFamily="34" charset="-120"/>
              </a:rPr>
              <a:t>Debit</a:t>
            </a:r>
            <a:endParaRPr lang="en-US" sz="1750" dirty="0"/>
          </a:p>
        </p:txBody>
      </p:sp>
      <p:sp>
        <p:nvSpPr>
          <p:cNvPr id="13" name="Text 11"/>
          <p:cNvSpPr/>
          <p:nvPr/>
        </p:nvSpPr>
        <p:spPr>
          <a:xfrm>
            <a:off x="4307276" y="4047331"/>
            <a:ext cx="1823793" cy="350044"/>
          </a:xfrm>
          <a:prstGeom prst="rect">
            <a:avLst/>
          </a:prstGeom>
          <a:noFill/>
          <a:ln/>
        </p:spPr>
        <p:txBody>
          <a:bodyPr wrap="none" lIns="0" tIns="0" rIns="0" bIns="0" rtlCol="0" anchor="t"/>
          <a:lstStyle/>
          <a:p>
            <a:pPr marL="0" indent="0" algn="l">
              <a:lnSpc>
                <a:spcPct val="130000"/>
              </a:lnSpc>
              <a:buNone/>
            </a:pPr>
            <a:r>
              <a:rPr lang="en-US" sz="1750" b="1" dirty="0">
                <a:solidFill>
                  <a:srgbClr val="FFFFFF"/>
                </a:solidFill>
                <a:latin typeface="Martel Sans Bold" pitchFamily="34" charset="0"/>
                <a:ea typeface="Martel Sans Bold" pitchFamily="34" charset="-122"/>
                <a:cs typeface="Martel Sans Bold" pitchFamily="34" charset="-120"/>
              </a:rPr>
              <a:t>Credit</a:t>
            </a:r>
            <a:endParaRPr lang="en-US" sz="1750" dirty="0"/>
          </a:p>
        </p:txBody>
      </p:sp>
      <p:sp>
        <p:nvSpPr>
          <p:cNvPr id="14" name="Text 12"/>
          <p:cNvSpPr/>
          <p:nvPr/>
        </p:nvSpPr>
        <p:spPr>
          <a:xfrm>
            <a:off x="962100" y="4678561"/>
            <a:ext cx="1823793" cy="350044"/>
          </a:xfrm>
          <a:prstGeom prst="rect">
            <a:avLst/>
          </a:prstGeom>
          <a:noFill/>
          <a:ln/>
        </p:spPr>
        <p:txBody>
          <a:bodyPr wrap="none" lIns="0" tIns="0" rIns="0" bIns="0" rtlCol="0" anchor="t"/>
          <a:lstStyle/>
          <a:p>
            <a:pPr marL="0" indent="0" algn="l">
              <a:lnSpc>
                <a:spcPct val="130000"/>
              </a:lnSpc>
              <a:buNone/>
            </a:pPr>
            <a:r>
              <a:rPr lang="en-US" sz="1750" dirty="0">
                <a:solidFill>
                  <a:srgbClr val="FFFFFF"/>
                </a:solidFill>
                <a:latin typeface="Martel Sans" pitchFamily="34" charset="0"/>
                <a:ea typeface="Martel Sans" pitchFamily="34" charset="-122"/>
                <a:cs typeface="Martel Sans" pitchFamily="34" charset="-120"/>
              </a:rPr>
              <a:t>Cash</a:t>
            </a:r>
            <a:endParaRPr lang="en-US" sz="1750" dirty="0"/>
          </a:p>
        </p:txBody>
      </p:sp>
      <p:sp>
        <p:nvSpPr>
          <p:cNvPr id="15" name="Text 13"/>
          <p:cNvSpPr/>
          <p:nvPr/>
        </p:nvSpPr>
        <p:spPr>
          <a:xfrm>
            <a:off x="2637863" y="4678561"/>
            <a:ext cx="1817444" cy="350044"/>
          </a:xfrm>
          <a:prstGeom prst="rect">
            <a:avLst/>
          </a:prstGeom>
          <a:noFill/>
          <a:ln/>
        </p:spPr>
        <p:txBody>
          <a:bodyPr wrap="none" lIns="0" tIns="0" rIns="0" bIns="0" rtlCol="0" anchor="t"/>
          <a:lstStyle/>
          <a:p>
            <a:pPr marL="0" indent="0" algn="l">
              <a:lnSpc>
                <a:spcPct val="130000"/>
              </a:lnSpc>
              <a:buNone/>
            </a:pPr>
            <a:r>
              <a:rPr lang="en-US" sz="1750" dirty="0">
                <a:solidFill>
                  <a:srgbClr val="FFFFFF"/>
                </a:solidFill>
                <a:latin typeface="Martel Sans" pitchFamily="34" charset="0"/>
                <a:ea typeface="Martel Sans" pitchFamily="34" charset="-122"/>
                <a:cs typeface="Martel Sans" pitchFamily="34" charset="-120"/>
              </a:rPr>
              <a:t>100,000</a:t>
            </a:r>
            <a:endParaRPr lang="en-US" sz="1750" dirty="0"/>
          </a:p>
        </p:txBody>
      </p:sp>
      <p:sp>
        <p:nvSpPr>
          <p:cNvPr id="16" name="Text 14"/>
          <p:cNvSpPr/>
          <p:nvPr/>
        </p:nvSpPr>
        <p:spPr>
          <a:xfrm>
            <a:off x="4307276" y="4678561"/>
            <a:ext cx="1823793" cy="350044"/>
          </a:xfrm>
          <a:prstGeom prst="rect">
            <a:avLst/>
          </a:prstGeom>
          <a:noFill/>
          <a:ln/>
        </p:spPr>
        <p:txBody>
          <a:bodyPr wrap="none" lIns="0" tIns="0" rIns="0" bIns="0" rtlCol="0" anchor="t"/>
          <a:lstStyle/>
          <a:p>
            <a:pPr marL="0" indent="0" algn="l">
              <a:lnSpc>
                <a:spcPct val="130000"/>
              </a:lnSpc>
              <a:buNone/>
            </a:pPr>
            <a:r>
              <a:rPr lang="en-US" sz="1750" dirty="0">
                <a:solidFill>
                  <a:srgbClr val="FFFFFF"/>
                </a:solidFill>
                <a:latin typeface="Martel Sans" pitchFamily="34" charset="0"/>
                <a:ea typeface="Martel Sans" pitchFamily="34" charset="-122"/>
                <a:cs typeface="Martel Sans" pitchFamily="34" charset="-120"/>
              </a:rPr>
              <a:t>—</a:t>
            </a:r>
            <a:endParaRPr lang="en-US" sz="1750" dirty="0"/>
          </a:p>
        </p:txBody>
      </p:sp>
      <p:sp>
        <p:nvSpPr>
          <p:cNvPr id="17" name="Text 15"/>
          <p:cNvSpPr/>
          <p:nvPr/>
        </p:nvSpPr>
        <p:spPr>
          <a:xfrm>
            <a:off x="962100" y="5309791"/>
            <a:ext cx="1823793" cy="350044"/>
          </a:xfrm>
          <a:prstGeom prst="rect">
            <a:avLst/>
          </a:prstGeom>
          <a:noFill/>
          <a:ln/>
        </p:spPr>
        <p:txBody>
          <a:bodyPr wrap="none" lIns="0" tIns="0" rIns="0" bIns="0" rtlCol="0" anchor="t"/>
          <a:lstStyle/>
          <a:p>
            <a:pPr marL="0" indent="0" algn="l">
              <a:lnSpc>
                <a:spcPct val="130000"/>
              </a:lnSpc>
              <a:buNone/>
            </a:pPr>
            <a:r>
              <a:rPr lang="en-US" sz="1750" dirty="0">
                <a:solidFill>
                  <a:srgbClr val="FFFFFF"/>
                </a:solidFill>
                <a:latin typeface="Martel Sans" pitchFamily="34" charset="0"/>
                <a:ea typeface="Martel Sans" pitchFamily="34" charset="-122"/>
                <a:cs typeface="Martel Sans" pitchFamily="34" charset="-120"/>
              </a:rPr>
              <a:t>Capital</a:t>
            </a:r>
            <a:endParaRPr lang="en-US" sz="1750" dirty="0"/>
          </a:p>
        </p:txBody>
      </p:sp>
      <p:sp>
        <p:nvSpPr>
          <p:cNvPr id="18" name="Text 16"/>
          <p:cNvSpPr/>
          <p:nvPr/>
        </p:nvSpPr>
        <p:spPr>
          <a:xfrm>
            <a:off x="2637863" y="5309791"/>
            <a:ext cx="1817444" cy="350044"/>
          </a:xfrm>
          <a:prstGeom prst="rect">
            <a:avLst/>
          </a:prstGeom>
          <a:noFill/>
          <a:ln/>
        </p:spPr>
        <p:txBody>
          <a:bodyPr wrap="none" lIns="0" tIns="0" rIns="0" bIns="0" rtlCol="0" anchor="t"/>
          <a:lstStyle/>
          <a:p>
            <a:pPr marL="0" indent="0" algn="l">
              <a:lnSpc>
                <a:spcPct val="130000"/>
              </a:lnSpc>
              <a:buNone/>
            </a:pPr>
            <a:r>
              <a:rPr lang="en-US" sz="1750" dirty="0">
                <a:solidFill>
                  <a:srgbClr val="FFFFFF"/>
                </a:solidFill>
                <a:latin typeface="Martel Sans" pitchFamily="34" charset="0"/>
                <a:ea typeface="Martel Sans" pitchFamily="34" charset="-122"/>
                <a:cs typeface="Martel Sans" pitchFamily="34" charset="-120"/>
              </a:rPr>
              <a:t>—</a:t>
            </a:r>
            <a:endParaRPr lang="en-US" sz="1750" dirty="0"/>
          </a:p>
        </p:txBody>
      </p:sp>
      <p:sp>
        <p:nvSpPr>
          <p:cNvPr id="19" name="Text 17"/>
          <p:cNvSpPr/>
          <p:nvPr/>
        </p:nvSpPr>
        <p:spPr>
          <a:xfrm>
            <a:off x="4307276" y="5309791"/>
            <a:ext cx="1823793" cy="350044"/>
          </a:xfrm>
          <a:prstGeom prst="rect">
            <a:avLst/>
          </a:prstGeom>
          <a:noFill/>
          <a:ln/>
        </p:spPr>
        <p:txBody>
          <a:bodyPr wrap="none" lIns="0" tIns="0" rIns="0" bIns="0" rtlCol="0" anchor="t"/>
          <a:lstStyle/>
          <a:p>
            <a:pPr marL="0" indent="0" algn="l">
              <a:lnSpc>
                <a:spcPct val="130000"/>
              </a:lnSpc>
              <a:buNone/>
            </a:pPr>
            <a:r>
              <a:rPr lang="en-US" sz="1750" dirty="0">
                <a:solidFill>
                  <a:srgbClr val="FFFFFF"/>
                </a:solidFill>
                <a:latin typeface="Martel Sans" pitchFamily="34" charset="0"/>
                <a:ea typeface="Martel Sans" pitchFamily="34" charset="-122"/>
                <a:cs typeface="Martel Sans" pitchFamily="34" charset="-120"/>
              </a:rPr>
              <a:t>100,000</a:t>
            </a:r>
            <a:endParaRPr lang="en-US" sz="1750" dirty="0"/>
          </a:p>
        </p:txBody>
      </p:sp>
      <p:sp>
        <p:nvSpPr>
          <p:cNvPr id="20" name="Text 18"/>
          <p:cNvSpPr/>
          <p:nvPr/>
        </p:nvSpPr>
        <p:spPr>
          <a:xfrm>
            <a:off x="6376034" y="1695052"/>
            <a:ext cx="5160536" cy="701477"/>
          </a:xfrm>
          <a:prstGeom prst="rect">
            <a:avLst/>
          </a:prstGeom>
          <a:noFill/>
          <a:ln/>
        </p:spPr>
        <p:txBody>
          <a:bodyPr wrap="square" lIns="0" tIns="0" rIns="0" bIns="0" rtlCol="0" anchor="t">
            <a:normAutofit/>
          </a:bodyPr>
          <a:lstStyle/>
          <a:p>
            <a:pPr marL="0" indent="0" algn="l">
              <a:lnSpc>
                <a:spcPct val="104000"/>
              </a:lnSpc>
              <a:buNone/>
            </a:pPr>
            <a:r>
              <a:rPr lang="en-US" sz="2200" dirty="0">
                <a:solidFill>
                  <a:srgbClr val="272D45"/>
                </a:solidFill>
                <a:latin typeface="Kanit Light" pitchFamily="34" charset="0"/>
                <a:ea typeface="Kanit Light" pitchFamily="34" charset="-122"/>
                <a:cs typeface="Kanit Light" pitchFamily="34" charset="-120"/>
              </a:rPr>
              <a:t>Example 2: Business Purchases Equipment for Sh 50,000 Cash</a:t>
            </a:r>
            <a:endParaRPr lang="en-US" sz="2200" dirty="0"/>
          </a:p>
        </p:txBody>
      </p:sp>
      <p:sp>
        <p:nvSpPr>
          <p:cNvPr id="21" name="Text 19"/>
          <p:cNvSpPr/>
          <p:nvPr/>
        </p:nvSpPr>
        <p:spPr>
          <a:xfrm>
            <a:off x="6376034" y="2960489"/>
            <a:ext cx="5160536" cy="700088"/>
          </a:xfrm>
          <a:prstGeom prst="rect">
            <a:avLst/>
          </a:prstGeom>
          <a:noFill/>
          <a:ln/>
        </p:spPr>
        <p:txBody>
          <a:bodyPr wrap="square" lIns="0" tIns="0" rIns="0" bIns="0" rtlCol="0" anchor="t">
            <a:normAutofit/>
          </a:bodyPr>
          <a:lstStyle/>
          <a:p>
            <a:pPr marL="0" indent="0" algn="l">
              <a:lnSpc>
                <a:spcPct val="130000"/>
              </a:lnSpc>
              <a:buNone/>
            </a:pPr>
            <a:r>
              <a:rPr lang="en-US" sz="1750" dirty="0">
                <a:solidFill>
                  <a:srgbClr val="2C3249"/>
                </a:solidFill>
                <a:latin typeface="Martel Sans" pitchFamily="34" charset="0"/>
                <a:ea typeface="Martel Sans" pitchFamily="34" charset="-122"/>
                <a:cs typeface="Martel Sans" pitchFamily="34" charset="-120"/>
              </a:rPr>
              <a:t>Equipment (Asset) increases and Cash (Asset) decreases.</a:t>
            </a:r>
            <a:endParaRPr lang="en-US" sz="1750" dirty="0"/>
          </a:p>
        </p:txBody>
      </p:sp>
      <p:sp>
        <p:nvSpPr>
          <p:cNvPr id="22" name="Shape 20"/>
          <p:cNvSpPr/>
          <p:nvPr/>
        </p:nvSpPr>
        <p:spPr>
          <a:xfrm>
            <a:off x="6376034" y="3900388"/>
            <a:ext cx="5160536" cy="1906389"/>
          </a:xfrm>
          <a:prstGeom prst="roundRect">
            <a:avLst>
              <a:gd name="adj" fmla="val 4945"/>
            </a:avLst>
          </a:prstGeom>
          <a:noFill/>
          <a:ln w="12700">
            <a:solidFill>
              <a:srgbClr val="000000">
                <a:alpha val="8000"/>
              </a:srgbClr>
            </a:solidFill>
            <a:prstDash val="solid"/>
          </a:ln>
        </p:spPr>
        <p:txBody>
          <a:bodyPr/>
          <a:lstStyle/>
          <a:p>
            <a:endParaRPr lang="en-US"/>
          </a:p>
        </p:txBody>
      </p:sp>
      <p:sp>
        <p:nvSpPr>
          <p:cNvPr id="23" name="Shape 21"/>
          <p:cNvSpPr/>
          <p:nvPr/>
        </p:nvSpPr>
        <p:spPr>
          <a:xfrm>
            <a:off x="6376034" y="4537968"/>
            <a:ext cx="5160536" cy="14029"/>
          </a:xfrm>
          <a:prstGeom prst="rect">
            <a:avLst/>
          </a:prstGeom>
          <a:solidFill>
            <a:srgbClr val="000000">
              <a:alpha val="8000"/>
            </a:srgbClr>
          </a:solidFill>
          <a:ln/>
        </p:spPr>
        <p:txBody>
          <a:bodyPr/>
          <a:lstStyle/>
          <a:p>
            <a:endParaRPr lang="en-US"/>
          </a:p>
        </p:txBody>
      </p:sp>
      <p:sp>
        <p:nvSpPr>
          <p:cNvPr id="24" name="Shape 22"/>
          <p:cNvSpPr/>
          <p:nvPr/>
        </p:nvSpPr>
        <p:spPr>
          <a:xfrm>
            <a:off x="6376034" y="5169198"/>
            <a:ext cx="5160536" cy="14029"/>
          </a:xfrm>
          <a:prstGeom prst="rect">
            <a:avLst/>
          </a:prstGeom>
          <a:solidFill>
            <a:srgbClr val="000000">
              <a:alpha val="8000"/>
            </a:srgbClr>
          </a:solidFill>
          <a:ln/>
        </p:spPr>
        <p:txBody>
          <a:bodyPr/>
          <a:lstStyle/>
          <a:p>
            <a:endParaRPr lang="en-US"/>
          </a:p>
        </p:txBody>
      </p:sp>
      <p:sp>
        <p:nvSpPr>
          <p:cNvPr id="25" name="Shape 23"/>
          <p:cNvSpPr/>
          <p:nvPr/>
        </p:nvSpPr>
        <p:spPr>
          <a:xfrm>
            <a:off x="8100711" y="3900388"/>
            <a:ext cx="14029" cy="1906389"/>
          </a:xfrm>
          <a:prstGeom prst="rect">
            <a:avLst/>
          </a:prstGeom>
          <a:solidFill>
            <a:srgbClr val="000000">
              <a:alpha val="8000"/>
            </a:srgbClr>
          </a:solidFill>
          <a:ln/>
        </p:spPr>
        <p:txBody>
          <a:bodyPr/>
          <a:lstStyle/>
          <a:p>
            <a:endParaRPr lang="en-US"/>
          </a:p>
        </p:txBody>
      </p:sp>
      <p:sp>
        <p:nvSpPr>
          <p:cNvPr id="26" name="Shape 24"/>
          <p:cNvSpPr/>
          <p:nvPr/>
        </p:nvSpPr>
        <p:spPr>
          <a:xfrm>
            <a:off x="9811993" y="3900388"/>
            <a:ext cx="14029" cy="1906389"/>
          </a:xfrm>
          <a:prstGeom prst="rect">
            <a:avLst/>
          </a:prstGeom>
          <a:solidFill>
            <a:srgbClr val="000000">
              <a:alpha val="8000"/>
            </a:srgbClr>
          </a:solidFill>
          <a:ln/>
        </p:spPr>
        <p:txBody>
          <a:bodyPr/>
          <a:lstStyle/>
          <a:p>
            <a:endParaRPr lang="en-US"/>
          </a:p>
        </p:txBody>
      </p:sp>
      <p:sp>
        <p:nvSpPr>
          <p:cNvPr id="27" name="Text 25"/>
          <p:cNvSpPr/>
          <p:nvPr/>
        </p:nvSpPr>
        <p:spPr>
          <a:xfrm>
            <a:off x="6613856" y="4047331"/>
            <a:ext cx="1865663" cy="350044"/>
          </a:xfrm>
          <a:prstGeom prst="rect">
            <a:avLst/>
          </a:prstGeom>
          <a:noFill/>
          <a:ln/>
        </p:spPr>
        <p:txBody>
          <a:bodyPr wrap="none" lIns="0" tIns="0" rIns="0" bIns="0" rtlCol="0" anchor="t"/>
          <a:lstStyle/>
          <a:p>
            <a:pPr marL="0" indent="0" algn="l">
              <a:lnSpc>
                <a:spcPct val="130000"/>
              </a:lnSpc>
              <a:buNone/>
            </a:pPr>
            <a:r>
              <a:rPr lang="en-US" sz="1750" b="1" dirty="0">
                <a:solidFill>
                  <a:srgbClr val="2C3249"/>
                </a:solidFill>
                <a:latin typeface="Martel Sans Bold" pitchFamily="34" charset="0"/>
                <a:ea typeface="Martel Sans Bold" pitchFamily="34" charset="-122"/>
                <a:cs typeface="Martel Sans Bold" pitchFamily="34" charset="-120"/>
              </a:rPr>
              <a:t>Account</a:t>
            </a:r>
            <a:endParaRPr lang="en-US" sz="1750" dirty="0"/>
          </a:p>
        </p:txBody>
      </p:sp>
      <p:sp>
        <p:nvSpPr>
          <p:cNvPr id="28" name="Text 26"/>
          <p:cNvSpPr/>
          <p:nvPr/>
        </p:nvSpPr>
        <p:spPr>
          <a:xfrm>
            <a:off x="8331488" y="4047331"/>
            <a:ext cx="1859313" cy="350044"/>
          </a:xfrm>
          <a:prstGeom prst="rect">
            <a:avLst/>
          </a:prstGeom>
          <a:noFill/>
          <a:ln/>
        </p:spPr>
        <p:txBody>
          <a:bodyPr wrap="none" lIns="0" tIns="0" rIns="0" bIns="0" rtlCol="0" anchor="t"/>
          <a:lstStyle/>
          <a:p>
            <a:pPr marL="0" indent="0" algn="l">
              <a:lnSpc>
                <a:spcPct val="130000"/>
              </a:lnSpc>
              <a:buNone/>
            </a:pPr>
            <a:r>
              <a:rPr lang="en-US" sz="1750" b="1" dirty="0">
                <a:solidFill>
                  <a:srgbClr val="2C3249"/>
                </a:solidFill>
                <a:latin typeface="Martel Sans Bold" pitchFamily="34" charset="0"/>
                <a:ea typeface="Martel Sans Bold" pitchFamily="34" charset="-122"/>
                <a:cs typeface="Martel Sans Bold" pitchFamily="34" charset="-120"/>
              </a:rPr>
              <a:t>Debit</a:t>
            </a:r>
            <a:endParaRPr lang="en-US" sz="1750" dirty="0"/>
          </a:p>
        </p:txBody>
      </p:sp>
      <p:sp>
        <p:nvSpPr>
          <p:cNvPr id="29" name="Text 27"/>
          <p:cNvSpPr/>
          <p:nvPr/>
        </p:nvSpPr>
        <p:spPr>
          <a:xfrm>
            <a:off x="10042770" y="4047331"/>
            <a:ext cx="1865663" cy="350044"/>
          </a:xfrm>
          <a:prstGeom prst="rect">
            <a:avLst/>
          </a:prstGeom>
          <a:noFill/>
          <a:ln/>
        </p:spPr>
        <p:txBody>
          <a:bodyPr wrap="none" lIns="0" tIns="0" rIns="0" bIns="0" rtlCol="0" anchor="t"/>
          <a:lstStyle/>
          <a:p>
            <a:pPr marL="0" indent="0" algn="l">
              <a:lnSpc>
                <a:spcPct val="130000"/>
              </a:lnSpc>
              <a:buNone/>
            </a:pPr>
            <a:r>
              <a:rPr lang="en-US" sz="1750" b="1" dirty="0">
                <a:solidFill>
                  <a:srgbClr val="2C3249"/>
                </a:solidFill>
                <a:latin typeface="Martel Sans Bold" pitchFamily="34" charset="0"/>
                <a:ea typeface="Martel Sans Bold" pitchFamily="34" charset="-122"/>
                <a:cs typeface="Martel Sans Bold" pitchFamily="34" charset="-120"/>
              </a:rPr>
              <a:t>Credit</a:t>
            </a:r>
            <a:endParaRPr lang="en-US" sz="1750" dirty="0"/>
          </a:p>
        </p:txBody>
      </p:sp>
      <p:sp>
        <p:nvSpPr>
          <p:cNvPr id="30" name="Text 28"/>
          <p:cNvSpPr/>
          <p:nvPr/>
        </p:nvSpPr>
        <p:spPr>
          <a:xfrm>
            <a:off x="6613856" y="4678561"/>
            <a:ext cx="1865663" cy="350044"/>
          </a:xfrm>
          <a:prstGeom prst="rect">
            <a:avLst/>
          </a:prstGeom>
          <a:noFill/>
          <a:ln/>
        </p:spPr>
        <p:txBody>
          <a:bodyPr wrap="none" lIns="0" tIns="0" rIns="0" bIns="0" rtlCol="0" anchor="t"/>
          <a:lstStyle/>
          <a:p>
            <a:pPr marL="0" indent="0" algn="l">
              <a:lnSpc>
                <a:spcPct val="130000"/>
              </a:lnSpc>
              <a:buNone/>
            </a:pPr>
            <a:r>
              <a:rPr lang="en-US" sz="1750" dirty="0">
                <a:solidFill>
                  <a:srgbClr val="2C3249"/>
                </a:solidFill>
                <a:latin typeface="Martel Sans" pitchFamily="34" charset="0"/>
                <a:ea typeface="Martel Sans" pitchFamily="34" charset="-122"/>
                <a:cs typeface="Martel Sans" pitchFamily="34" charset="-120"/>
              </a:rPr>
              <a:t>Equipment</a:t>
            </a:r>
            <a:endParaRPr lang="en-US" sz="1750" dirty="0"/>
          </a:p>
        </p:txBody>
      </p:sp>
      <p:sp>
        <p:nvSpPr>
          <p:cNvPr id="31" name="Text 29"/>
          <p:cNvSpPr/>
          <p:nvPr/>
        </p:nvSpPr>
        <p:spPr>
          <a:xfrm>
            <a:off x="8331488" y="4678561"/>
            <a:ext cx="1859313" cy="350044"/>
          </a:xfrm>
          <a:prstGeom prst="rect">
            <a:avLst/>
          </a:prstGeom>
          <a:noFill/>
          <a:ln/>
        </p:spPr>
        <p:txBody>
          <a:bodyPr wrap="none" lIns="0" tIns="0" rIns="0" bIns="0" rtlCol="0" anchor="t"/>
          <a:lstStyle/>
          <a:p>
            <a:pPr marL="0" indent="0" algn="l">
              <a:lnSpc>
                <a:spcPct val="130000"/>
              </a:lnSpc>
              <a:buNone/>
            </a:pPr>
            <a:r>
              <a:rPr lang="en-US" sz="1750" dirty="0">
                <a:solidFill>
                  <a:srgbClr val="2C3249"/>
                </a:solidFill>
                <a:latin typeface="Martel Sans" pitchFamily="34" charset="0"/>
                <a:ea typeface="Martel Sans" pitchFamily="34" charset="-122"/>
                <a:cs typeface="Martel Sans" pitchFamily="34" charset="-120"/>
              </a:rPr>
              <a:t>50,000</a:t>
            </a:r>
            <a:endParaRPr lang="en-US" sz="1750" dirty="0"/>
          </a:p>
        </p:txBody>
      </p:sp>
      <p:sp>
        <p:nvSpPr>
          <p:cNvPr id="32" name="Text 30"/>
          <p:cNvSpPr/>
          <p:nvPr/>
        </p:nvSpPr>
        <p:spPr>
          <a:xfrm>
            <a:off x="10042770" y="4678561"/>
            <a:ext cx="1865663" cy="350044"/>
          </a:xfrm>
          <a:prstGeom prst="rect">
            <a:avLst/>
          </a:prstGeom>
          <a:noFill/>
          <a:ln/>
        </p:spPr>
        <p:txBody>
          <a:bodyPr wrap="none" lIns="0" tIns="0" rIns="0" bIns="0" rtlCol="0" anchor="t"/>
          <a:lstStyle/>
          <a:p>
            <a:pPr marL="0" indent="0" algn="l">
              <a:lnSpc>
                <a:spcPct val="130000"/>
              </a:lnSpc>
              <a:buNone/>
            </a:pPr>
            <a:r>
              <a:rPr lang="en-US" sz="1750" dirty="0">
                <a:solidFill>
                  <a:srgbClr val="2C3249"/>
                </a:solidFill>
                <a:latin typeface="Martel Sans" pitchFamily="34" charset="0"/>
                <a:ea typeface="Martel Sans" pitchFamily="34" charset="-122"/>
                <a:cs typeface="Martel Sans" pitchFamily="34" charset="-120"/>
              </a:rPr>
              <a:t>—</a:t>
            </a:r>
            <a:endParaRPr lang="en-US" sz="1750" dirty="0"/>
          </a:p>
        </p:txBody>
      </p:sp>
      <p:sp>
        <p:nvSpPr>
          <p:cNvPr id="33" name="Text 31"/>
          <p:cNvSpPr/>
          <p:nvPr/>
        </p:nvSpPr>
        <p:spPr>
          <a:xfrm>
            <a:off x="6613856" y="5309791"/>
            <a:ext cx="1865663" cy="350044"/>
          </a:xfrm>
          <a:prstGeom prst="rect">
            <a:avLst/>
          </a:prstGeom>
          <a:noFill/>
          <a:ln/>
        </p:spPr>
        <p:txBody>
          <a:bodyPr wrap="none" lIns="0" tIns="0" rIns="0" bIns="0" rtlCol="0" anchor="t"/>
          <a:lstStyle/>
          <a:p>
            <a:pPr marL="0" indent="0" algn="l">
              <a:lnSpc>
                <a:spcPct val="130000"/>
              </a:lnSpc>
              <a:buNone/>
            </a:pPr>
            <a:r>
              <a:rPr lang="en-US" sz="1750" dirty="0">
                <a:solidFill>
                  <a:srgbClr val="2C3249"/>
                </a:solidFill>
                <a:latin typeface="Martel Sans" pitchFamily="34" charset="0"/>
                <a:ea typeface="Martel Sans" pitchFamily="34" charset="-122"/>
                <a:cs typeface="Martel Sans" pitchFamily="34" charset="-120"/>
              </a:rPr>
              <a:t>Cash</a:t>
            </a:r>
            <a:endParaRPr lang="en-US" sz="1750" dirty="0"/>
          </a:p>
        </p:txBody>
      </p:sp>
      <p:sp>
        <p:nvSpPr>
          <p:cNvPr id="34" name="Text 32"/>
          <p:cNvSpPr/>
          <p:nvPr/>
        </p:nvSpPr>
        <p:spPr>
          <a:xfrm>
            <a:off x="8331488" y="5309791"/>
            <a:ext cx="1859313" cy="350044"/>
          </a:xfrm>
          <a:prstGeom prst="rect">
            <a:avLst/>
          </a:prstGeom>
          <a:noFill/>
          <a:ln/>
        </p:spPr>
        <p:txBody>
          <a:bodyPr wrap="none" lIns="0" tIns="0" rIns="0" bIns="0" rtlCol="0" anchor="t"/>
          <a:lstStyle/>
          <a:p>
            <a:pPr marL="0" indent="0" algn="l">
              <a:lnSpc>
                <a:spcPct val="130000"/>
              </a:lnSpc>
              <a:buNone/>
            </a:pPr>
            <a:r>
              <a:rPr lang="en-US" sz="1750" dirty="0">
                <a:solidFill>
                  <a:srgbClr val="2C3249"/>
                </a:solidFill>
                <a:latin typeface="Martel Sans" pitchFamily="34" charset="0"/>
                <a:ea typeface="Martel Sans" pitchFamily="34" charset="-122"/>
                <a:cs typeface="Martel Sans" pitchFamily="34" charset="-120"/>
              </a:rPr>
              <a:t>—</a:t>
            </a:r>
            <a:endParaRPr lang="en-US" sz="1750" dirty="0"/>
          </a:p>
        </p:txBody>
      </p:sp>
      <p:sp>
        <p:nvSpPr>
          <p:cNvPr id="35" name="Text 33"/>
          <p:cNvSpPr/>
          <p:nvPr/>
        </p:nvSpPr>
        <p:spPr>
          <a:xfrm>
            <a:off x="10042770" y="5309791"/>
            <a:ext cx="1865663" cy="350044"/>
          </a:xfrm>
          <a:prstGeom prst="rect">
            <a:avLst/>
          </a:prstGeom>
          <a:noFill/>
          <a:ln/>
        </p:spPr>
        <p:txBody>
          <a:bodyPr wrap="none" lIns="0" tIns="0" rIns="0" bIns="0" rtlCol="0" anchor="t"/>
          <a:lstStyle/>
          <a:p>
            <a:pPr marL="0" indent="0" algn="l">
              <a:lnSpc>
                <a:spcPct val="130000"/>
              </a:lnSpc>
              <a:buNone/>
            </a:pPr>
            <a:r>
              <a:rPr lang="en-US" sz="1750" dirty="0">
                <a:solidFill>
                  <a:srgbClr val="2C3249"/>
                </a:solidFill>
                <a:latin typeface="Martel Sans" pitchFamily="34" charset="0"/>
                <a:ea typeface="Martel Sans" pitchFamily="34" charset="-122"/>
                <a:cs typeface="Martel Sans" pitchFamily="34" charset="-120"/>
              </a:rPr>
              <a:t>50,000</a:t>
            </a:r>
            <a:endParaRPr lang="en-US" sz="1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1969584" y="217587"/>
            <a:ext cx="9507456" cy="664468"/>
          </a:xfrm>
          <a:prstGeom prst="rect">
            <a:avLst/>
          </a:prstGeom>
          <a:noFill/>
          <a:ln/>
        </p:spPr>
        <p:txBody>
          <a:bodyPr wrap="none" lIns="0" tIns="0" rIns="0" bIns="0" rtlCol="0" anchor="t"/>
          <a:lstStyle/>
          <a:p>
            <a:pPr marL="0" indent="0" algn="l">
              <a:lnSpc>
                <a:spcPct val="104000"/>
              </a:lnSpc>
              <a:buNone/>
            </a:pPr>
            <a:r>
              <a:rPr lang="en-US" sz="4150" dirty="0">
                <a:solidFill>
                  <a:srgbClr val="272D45"/>
                </a:solidFill>
                <a:latin typeface="Kanit Light" pitchFamily="34" charset="0"/>
                <a:ea typeface="Kanit Light" pitchFamily="34" charset="-122"/>
                <a:cs typeface="Kanit Light" pitchFamily="34" charset="-120"/>
              </a:rPr>
              <a:t>Double Entry Examples 3 &amp; 4</a:t>
            </a:r>
            <a:endParaRPr lang="en-US" sz="4150" dirty="0"/>
          </a:p>
        </p:txBody>
      </p:sp>
      <p:sp>
        <p:nvSpPr>
          <p:cNvPr id="3" name="Text 1"/>
          <p:cNvSpPr/>
          <p:nvPr/>
        </p:nvSpPr>
        <p:spPr>
          <a:xfrm>
            <a:off x="661475" y="1302593"/>
            <a:ext cx="5175021" cy="664369"/>
          </a:xfrm>
          <a:prstGeom prst="rect">
            <a:avLst/>
          </a:prstGeom>
          <a:noFill/>
          <a:ln/>
        </p:spPr>
        <p:txBody>
          <a:bodyPr wrap="square" lIns="0" tIns="0" rIns="0" bIns="0" rtlCol="0" anchor="t">
            <a:normAutofit/>
          </a:bodyPr>
          <a:lstStyle/>
          <a:p>
            <a:pPr marL="0" indent="0" algn="l">
              <a:lnSpc>
                <a:spcPct val="104000"/>
              </a:lnSpc>
              <a:buNone/>
            </a:pPr>
            <a:r>
              <a:rPr lang="en-US" sz="2050" dirty="0">
                <a:solidFill>
                  <a:srgbClr val="272D45"/>
                </a:solidFill>
                <a:latin typeface="Kanit Light" pitchFamily="34" charset="0"/>
                <a:ea typeface="Kanit Light" pitchFamily="34" charset="-122"/>
                <a:cs typeface="Kanit Light" pitchFamily="34" charset="-120"/>
              </a:rPr>
              <a:t>Example 3: Business Receives a Bank Loan of Sh 200,000</a:t>
            </a:r>
            <a:endParaRPr lang="en-US" sz="2050" dirty="0"/>
          </a:p>
        </p:txBody>
      </p:sp>
      <p:sp>
        <p:nvSpPr>
          <p:cNvPr id="4" name="Text 2"/>
          <p:cNvSpPr/>
          <p:nvPr/>
        </p:nvSpPr>
        <p:spPr>
          <a:xfrm>
            <a:off x="661475" y="2412061"/>
            <a:ext cx="5175021" cy="646311"/>
          </a:xfrm>
          <a:prstGeom prst="rect">
            <a:avLst/>
          </a:prstGeom>
          <a:noFill/>
          <a:ln/>
        </p:spPr>
        <p:txBody>
          <a:bodyPr wrap="square" lIns="0" tIns="0" rIns="0" bIns="0" rtlCol="0" anchor="t">
            <a:normAutofit/>
          </a:bodyPr>
          <a:lstStyle/>
          <a:p>
            <a:pPr marL="0" indent="0" algn="l">
              <a:lnSpc>
                <a:spcPct val="127000"/>
              </a:lnSpc>
              <a:buNone/>
            </a:pPr>
            <a:r>
              <a:rPr lang="en-US" sz="1650" dirty="0">
                <a:solidFill>
                  <a:srgbClr val="2C3249"/>
                </a:solidFill>
                <a:latin typeface="Martel Sans" pitchFamily="34" charset="0"/>
                <a:ea typeface="Martel Sans" pitchFamily="34" charset="-122"/>
                <a:cs typeface="Martel Sans" pitchFamily="34" charset="-120"/>
              </a:rPr>
              <a:t>Bank/Cash (Asset) increases and Loan payable (Liability) increases.</a:t>
            </a:r>
            <a:endParaRPr lang="en-US" sz="1650" dirty="0"/>
          </a:p>
        </p:txBody>
      </p:sp>
      <p:sp>
        <p:nvSpPr>
          <p:cNvPr id="5" name="Shape 3"/>
          <p:cNvSpPr/>
          <p:nvPr/>
        </p:nvSpPr>
        <p:spPr>
          <a:xfrm>
            <a:off x="661475" y="3716238"/>
            <a:ext cx="5175021" cy="2070298"/>
          </a:xfrm>
          <a:prstGeom prst="roundRect">
            <a:avLst>
              <a:gd name="adj" fmla="val 4314"/>
            </a:avLst>
          </a:prstGeom>
          <a:noFill/>
          <a:ln w="12700">
            <a:solidFill>
              <a:srgbClr val="000000">
                <a:alpha val="8000"/>
              </a:srgbClr>
            </a:solidFill>
            <a:prstDash val="solid"/>
          </a:ln>
        </p:spPr>
        <p:txBody>
          <a:bodyPr/>
          <a:lstStyle/>
          <a:p>
            <a:endParaRPr lang="en-US"/>
          </a:p>
        </p:txBody>
      </p:sp>
      <p:sp>
        <p:nvSpPr>
          <p:cNvPr id="6" name="Shape 4"/>
          <p:cNvSpPr/>
          <p:nvPr/>
        </p:nvSpPr>
        <p:spPr>
          <a:xfrm>
            <a:off x="661475" y="4300736"/>
            <a:ext cx="5175021" cy="13291"/>
          </a:xfrm>
          <a:prstGeom prst="rect">
            <a:avLst/>
          </a:prstGeom>
          <a:solidFill>
            <a:srgbClr val="000000">
              <a:alpha val="8000"/>
            </a:srgbClr>
          </a:solidFill>
          <a:ln/>
        </p:spPr>
        <p:txBody>
          <a:bodyPr/>
          <a:lstStyle/>
          <a:p>
            <a:endParaRPr lang="en-US"/>
          </a:p>
        </p:txBody>
      </p:sp>
      <p:sp>
        <p:nvSpPr>
          <p:cNvPr id="7" name="Shape 5"/>
          <p:cNvSpPr/>
          <p:nvPr/>
        </p:nvSpPr>
        <p:spPr>
          <a:xfrm>
            <a:off x="661475" y="4878884"/>
            <a:ext cx="5175021" cy="13291"/>
          </a:xfrm>
          <a:prstGeom prst="rect">
            <a:avLst/>
          </a:prstGeom>
          <a:solidFill>
            <a:srgbClr val="000000">
              <a:alpha val="8000"/>
            </a:srgbClr>
          </a:solidFill>
          <a:ln/>
        </p:spPr>
        <p:txBody>
          <a:bodyPr/>
          <a:lstStyle/>
          <a:p>
            <a:endParaRPr lang="en-US"/>
          </a:p>
        </p:txBody>
      </p:sp>
      <p:sp>
        <p:nvSpPr>
          <p:cNvPr id="8" name="Shape 6"/>
          <p:cNvSpPr/>
          <p:nvPr/>
        </p:nvSpPr>
        <p:spPr>
          <a:xfrm>
            <a:off x="2390914" y="3716238"/>
            <a:ext cx="13290" cy="2070298"/>
          </a:xfrm>
          <a:prstGeom prst="rect">
            <a:avLst/>
          </a:prstGeom>
          <a:solidFill>
            <a:srgbClr val="000000">
              <a:alpha val="8000"/>
            </a:srgbClr>
          </a:solidFill>
          <a:ln/>
        </p:spPr>
        <p:txBody>
          <a:bodyPr/>
          <a:lstStyle/>
          <a:p>
            <a:endParaRPr lang="en-US"/>
          </a:p>
        </p:txBody>
      </p:sp>
      <p:sp>
        <p:nvSpPr>
          <p:cNvPr id="9" name="Shape 7"/>
          <p:cNvSpPr/>
          <p:nvPr/>
        </p:nvSpPr>
        <p:spPr>
          <a:xfrm>
            <a:off x="4107057" y="3716238"/>
            <a:ext cx="13290" cy="2070298"/>
          </a:xfrm>
          <a:prstGeom prst="rect">
            <a:avLst/>
          </a:prstGeom>
          <a:solidFill>
            <a:srgbClr val="000000">
              <a:alpha val="8000"/>
            </a:srgbClr>
          </a:solidFill>
          <a:ln/>
        </p:spPr>
        <p:txBody>
          <a:bodyPr/>
          <a:lstStyle/>
          <a:p>
            <a:endParaRPr lang="en-US"/>
          </a:p>
        </p:txBody>
      </p:sp>
      <p:sp>
        <p:nvSpPr>
          <p:cNvPr id="10" name="Text 8"/>
          <p:cNvSpPr/>
          <p:nvPr/>
        </p:nvSpPr>
        <p:spPr>
          <a:xfrm>
            <a:off x="887390" y="3850084"/>
            <a:ext cx="1894138" cy="323155"/>
          </a:xfrm>
          <a:prstGeom prst="rect">
            <a:avLst/>
          </a:prstGeom>
          <a:noFill/>
          <a:ln/>
        </p:spPr>
        <p:txBody>
          <a:bodyPr wrap="none" lIns="0" tIns="0" rIns="0" bIns="0" rtlCol="0" anchor="t"/>
          <a:lstStyle/>
          <a:p>
            <a:pPr marL="0" indent="0" algn="l">
              <a:lnSpc>
                <a:spcPct val="127000"/>
              </a:lnSpc>
              <a:buNone/>
            </a:pPr>
            <a:r>
              <a:rPr lang="en-US" sz="1650" b="1" dirty="0">
                <a:solidFill>
                  <a:srgbClr val="2C3249"/>
                </a:solidFill>
                <a:latin typeface="Martel Sans Bold" pitchFamily="34" charset="0"/>
                <a:ea typeface="Martel Sans Bold" pitchFamily="34" charset="-122"/>
                <a:cs typeface="Martel Sans Bold" pitchFamily="34" charset="-120"/>
              </a:rPr>
              <a:t>Account</a:t>
            </a:r>
            <a:endParaRPr lang="en-US" sz="1650" dirty="0"/>
          </a:p>
        </p:txBody>
      </p:sp>
      <p:sp>
        <p:nvSpPr>
          <p:cNvPr id="11" name="Text 9"/>
          <p:cNvSpPr/>
          <p:nvPr/>
        </p:nvSpPr>
        <p:spPr>
          <a:xfrm>
            <a:off x="2609884" y="3850084"/>
            <a:ext cx="1887788" cy="323155"/>
          </a:xfrm>
          <a:prstGeom prst="rect">
            <a:avLst/>
          </a:prstGeom>
          <a:noFill/>
          <a:ln/>
        </p:spPr>
        <p:txBody>
          <a:bodyPr wrap="none" lIns="0" tIns="0" rIns="0" bIns="0" rtlCol="0" anchor="t"/>
          <a:lstStyle/>
          <a:p>
            <a:pPr marL="0" indent="0" algn="l">
              <a:lnSpc>
                <a:spcPct val="127000"/>
              </a:lnSpc>
              <a:buNone/>
            </a:pPr>
            <a:r>
              <a:rPr lang="en-US" sz="1650" b="1" dirty="0">
                <a:solidFill>
                  <a:srgbClr val="2C3249"/>
                </a:solidFill>
                <a:latin typeface="Martel Sans Bold" pitchFamily="34" charset="0"/>
                <a:ea typeface="Martel Sans Bold" pitchFamily="34" charset="-122"/>
                <a:cs typeface="Martel Sans Bold" pitchFamily="34" charset="-120"/>
              </a:rPr>
              <a:t>Debit</a:t>
            </a:r>
            <a:endParaRPr lang="en-US" sz="1650" dirty="0"/>
          </a:p>
        </p:txBody>
      </p:sp>
      <p:sp>
        <p:nvSpPr>
          <p:cNvPr id="12" name="Text 10"/>
          <p:cNvSpPr/>
          <p:nvPr/>
        </p:nvSpPr>
        <p:spPr>
          <a:xfrm>
            <a:off x="4326028" y="3850084"/>
            <a:ext cx="1894138" cy="323155"/>
          </a:xfrm>
          <a:prstGeom prst="rect">
            <a:avLst/>
          </a:prstGeom>
          <a:noFill/>
          <a:ln/>
        </p:spPr>
        <p:txBody>
          <a:bodyPr wrap="none" lIns="0" tIns="0" rIns="0" bIns="0" rtlCol="0" anchor="t"/>
          <a:lstStyle/>
          <a:p>
            <a:pPr marL="0" indent="0" algn="l">
              <a:lnSpc>
                <a:spcPct val="127000"/>
              </a:lnSpc>
              <a:buNone/>
            </a:pPr>
            <a:r>
              <a:rPr lang="en-US" sz="1650" b="1" dirty="0">
                <a:solidFill>
                  <a:srgbClr val="2C3249"/>
                </a:solidFill>
                <a:latin typeface="Martel Sans Bold" pitchFamily="34" charset="0"/>
                <a:ea typeface="Martel Sans Bold" pitchFamily="34" charset="-122"/>
                <a:cs typeface="Martel Sans Bold" pitchFamily="34" charset="-120"/>
              </a:rPr>
              <a:t>Credit</a:t>
            </a:r>
            <a:endParaRPr lang="en-US" sz="1650" dirty="0"/>
          </a:p>
        </p:txBody>
      </p:sp>
      <p:sp>
        <p:nvSpPr>
          <p:cNvPr id="13" name="Text 11"/>
          <p:cNvSpPr/>
          <p:nvPr/>
        </p:nvSpPr>
        <p:spPr>
          <a:xfrm>
            <a:off x="887390" y="4428232"/>
            <a:ext cx="1894138" cy="323155"/>
          </a:xfrm>
          <a:prstGeom prst="rect">
            <a:avLst/>
          </a:prstGeom>
          <a:noFill/>
          <a:ln/>
        </p:spPr>
        <p:txBody>
          <a:bodyPr wrap="none" lIns="0" tIns="0" rIns="0" bIns="0" rtlCol="0" anchor="t"/>
          <a:lstStyle/>
          <a:p>
            <a:pPr marL="0" indent="0" algn="l">
              <a:lnSpc>
                <a:spcPct val="127000"/>
              </a:lnSpc>
              <a:buNone/>
            </a:pPr>
            <a:r>
              <a:rPr lang="en-US" sz="1650" dirty="0">
                <a:solidFill>
                  <a:srgbClr val="2C3249"/>
                </a:solidFill>
                <a:latin typeface="Martel Sans" pitchFamily="34" charset="0"/>
                <a:ea typeface="Martel Sans" pitchFamily="34" charset="-122"/>
                <a:cs typeface="Martel Sans" pitchFamily="34" charset="-120"/>
              </a:rPr>
              <a:t>Bank</a:t>
            </a:r>
            <a:endParaRPr lang="en-US" sz="1650" dirty="0"/>
          </a:p>
        </p:txBody>
      </p:sp>
      <p:sp>
        <p:nvSpPr>
          <p:cNvPr id="14" name="Text 12"/>
          <p:cNvSpPr/>
          <p:nvPr/>
        </p:nvSpPr>
        <p:spPr>
          <a:xfrm>
            <a:off x="2609884" y="4428232"/>
            <a:ext cx="1887788" cy="323155"/>
          </a:xfrm>
          <a:prstGeom prst="rect">
            <a:avLst/>
          </a:prstGeom>
          <a:noFill/>
          <a:ln/>
        </p:spPr>
        <p:txBody>
          <a:bodyPr wrap="none" lIns="0" tIns="0" rIns="0" bIns="0" rtlCol="0" anchor="t"/>
          <a:lstStyle/>
          <a:p>
            <a:pPr marL="0" indent="0" algn="l">
              <a:lnSpc>
                <a:spcPct val="127000"/>
              </a:lnSpc>
              <a:buNone/>
            </a:pPr>
            <a:r>
              <a:rPr lang="en-US" sz="1650" dirty="0">
                <a:solidFill>
                  <a:srgbClr val="2C3249"/>
                </a:solidFill>
                <a:latin typeface="Martel Sans" pitchFamily="34" charset="0"/>
                <a:ea typeface="Martel Sans" pitchFamily="34" charset="-122"/>
                <a:cs typeface="Martel Sans" pitchFamily="34" charset="-120"/>
              </a:rPr>
              <a:t>200,000</a:t>
            </a:r>
            <a:endParaRPr lang="en-US" sz="1650" dirty="0"/>
          </a:p>
        </p:txBody>
      </p:sp>
      <p:sp>
        <p:nvSpPr>
          <p:cNvPr id="15" name="Text 13"/>
          <p:cNvSpPr/>
          <p:nvPr/>
        </p:nvSpPr>
        <p:spPr>
          <a:xfrm>
            <a:off x="4326028" y="4428232"/>
            <a:ext cx="1894138" cy="323155"/>
          </a:xfrm>
          <a:prstGeom prst="rect">
            <a:avLst/>
          </a:prstGeom>
          <a:noFill/>
          <a:ln/>
        </p:spPr>
        <p:txBody>
          <a:bodyPr wrap="none" lIns="0" tIns="0" rIns="0" bIns="0" rtlCol="0" anchor="t"/>
          <a:lstStyle/>
          <a:p>
            <a:pPr marL="0" indent="0" algn="l">
              <a:lnSpc>
                <a:spcPct val="127000"/>
              </a:lnSpc>
              <a:buNone/>
            </a:pPr>
            <a:r>
              <a:rPr lang="en-US" sz="1650" dirty="0">
                <a:solidFill>
                  <a:srgbClr val="2C3249"/>
                </a:solidFill>
                <a:latin typeface="Martel Sans" pitchFamily="34" charset="0"/>
                <a:ea typeface="Martel Sans" pitchFamily="34" charset="-122"/>
                <a:cs typeface="Martel Sans" pitchFamily="34" charset="-120"/>
              </a:rPr>
              <a:t>—</a:t>
            </a:r>
            <a:endParaRPr lang="en-US" sz="1650" dirty="0"/>
          </a:p>
        </p:txBody>
      </p:sp>
      <p:sp>
        <p:nvSpPr>
          <p:cNvPr id="16" name="Text 14"/>
          <p:cNvSpPr/>
          <p:nvPr/>
        </p:nvSpPr>
        <p:spPr>
          <a:xfrm>
            <a:off x="887390" y="5006380"/>
            <a:ext cx="1284553" cy="646311"/>
          </a:xfrm>
          <a:prstGeom prst="rect">
            <a:avLst/>
          </a:prstGeom>
          <a:noFill/>
          <a:ln/>
        </p:spPr>
        <p:txBody>
          <a:bodyPr wrap="square" lIns="0" tIns="0" rIns="0" bIns="0" rtlCol="0" anchor="t">
            <a:normAutofit/>
          </a:bodyPr>
          <a:lstStyle/>
          <a:p>
            <a:pPr marL="0" indent="0" algn="l">
              <a:lnSpc>
                <a:spcPct val="127000"/>
              </a:lnSpc>
              <a:buNone/>
            </a:pPr>
            <a:r>
              <a:rPr lang="en-US" sz="1650" dirty="0">
                <a:solidFill>
                  <a:srgbClr val="2C3249"/>
                </a:solidFill>
                <a:latin typeface="Martel Sans" pitchFamily="34" charset="0"/>
                <a:ea typeface="Martel Sans" pitchFamily="34" charset="-122"/>
                <a:cs typeface="Martel Sans" pitchFamily="34" charset="-120"/>
              </a:rPr>
              <a:t>Loan payable</a:t>
            </a:r>
            <a:endParaRPr lang="en-US" sz="1650" dirty="0"/>
          </a:p>
        </p:txBody>
      </p:sp>
      <p:sp>
        <p:nvSpPr>
          <p:cNvPr id="17" name="Text 15"/>
          <p:cNvSpPr/>
          <p:nvPr/>
        </p:nvSpPr>
        <p:spPr>
          <a:xfrm>
            <a:off x="2609884" y="5006380"/>
            <a:ext cx="1887788" cy="323155"/>
          </a:xfrm>
          <a:prstGeom prst="rect">
            <a:avLst/>
          </a:prstGeom>
          <a:noFill/>
          <a:ln/>
        </p:spPr>
        <p:txBody>
          <a:bodyPr wrap="none" lIns="0" tIns="0" rIns="0" bIns="0" rtlCol="0" anchor="t"/>
          <a:lstStyle/>
          <a:p>
            <a:pPr marL="0" indent="0" algn="l">
              <a:lnSpc>
                <a:spcPct val="127000"/>
              </a:lnSpc>
              <a:buNone/>
            </a:pPr>
            <a:r>
              <a:rPr lang="en-US" sz="1650" dirty="0">
                <a:solidFill>
                  <a:srgbClr val="2C3249"/>
                </a:solidFill>
                <a:latin typeface="Martel Sans" pitchFamily="34" charset="0"/>
                <a:ea typeface="Martel Sans" pitchFamily="34" charset="-122"/>
                <a:cs typeface="Martel Sans" pitchFamily="34" charset="-120"/>
              </a:rPr>
              <a:t>—</a:t>
            </a:r>
            <a:endParaRPr lang="en-US" sz="1650" dirty="0"/>
          </a:p>
        </p:txBody>
      </p:sp>
      <p:sp>
        <p:nvSpPr>
          <p:cNvPr id="18" name="Text 16"/>
          <p:cNvSpPr/>
          <p:nvPr/>
        </p:nvSpPr>
        <p:spPr>
          <a:xfrm>
            <a:off x="4326028" y="5006380"/>
            <a:ext cx="1894138" cy="323155"/>
          </a:xfrm>
          <a:prstGeom prst="rect">
            <a:avLst/>
          </a:prstGeom>
          <a:noFill/>
          <a:ln/>
        </p:spPr>
        <p:txBody>
          <a:bodyPr wrap="none" lIns="0" tIns="0" rIns="0" bIns="0" rtlCol="0" anchor="t"/>
          <a:lstStyle/>
          <a:p>
            <a:pPr marL="0" indent="0" algn="l">
              <a:lnSpc>
                <a:spcPct val="127000"/>
              </a:lnSpc>
              <a:buNone/>
            </a:pPr>
            <a:r>
              <a:rPr lang="en-US" sz="1650" dirty="0">
                <a:solidFill>
                  <a:srgbClr val="2C3249"/>
                </a:solidFill>
                <a:latin typeface="Martel Sans" pitchFamily="34" charset="0"/>
                <a:ea typeface="Martel Sans" pitchFamily="34" charset="-122"/>
                <a:cs typeface="Martel Sans" pitchFamily="34" charset="-120"/>
              </a:rPr>
              <a:t>200,000</a:t>
            </a:r>
            <a:endParaRPr lang="en-US" sz="1650" dirty="0"/>
          </a:p>
        </p:txBody>
      </p:sp>
      <p:sp>
        <p:nvSpPr>
          <p:cNvPr id="19" name="Shape 17"/>
          <p:cNvSpPr/>
          <p:nvPr/>
        </p:nvSpPr>
        <p:spPr>
          <a:xfrm>
            <a:off x="6208458" y="1302594"/>
            <a:ext cx="5481203" cy="4699248"/>
          </a:xfrm>
          <a:prstGeom prst="roundRect">
            <a:avLst>
              <a:gd name="adj" fmla="val 3650"/>
            </a:avLst>
          </a:prstGeom>
          <a:solidFill>
            <a:srgbClr val="437066"/>
          </a:solidFill>
          <a:ln/>
        </p:spPr>
        <p:txBody>
          <a:bodyPr/>
          <a:lstStyle/>
          <a:p>
            <a:endParaRPr lang="en-US"/>
          </a:p>
        </p:txBody>
      </p:sp>
      <p:sp>
        <p:nvSpPr>
          <p:cNvPr id="20" name="Text 18"/>
          <p:cNvSpPr/>
          <p:nvPr/>
        </p:nvSpPr>
        <p:spPr>
          <a:xfrm>
            <a:off x="6421078" y="1565821"/>
            <a:ext cx="5055962" cy="664369"/>
          </a:xfrm>
          <a:prstGeom prst="rect">
            <a:avLst/>
          </a:prstGeom>
          <a:noFill/>
          <a:ln/>
        </p:spPr>
        <p:txBody>
          <a:bodyPr wrap="square" lIns="0" tIns="0" rIns="0" bIns="0" rtlCol="0" anchor="t">
            <a:normAutofit/>
          </a:bodyPr>
          <a:lstStyle/>
          <a:p>
            <a:pPr marL="0" indent="0" algn="l">
              <a:lnSpc>
                <a:spcPct val="104000"/>
              </a:lnSpc>
              <a:buNone/>
            </a:pPr>
            <a:r>
              <a:rPr lang="en-US" sz="2050" dirty="0">
                <a:solidFill>
                  <a:srgbClr val="FFFFFF"/>
                </a:solidFill>
                <a:latin typeface="Kanit Light" pitchFamily="34" charset="0"/>
                <a:ea typeface="Kanit Light" pitchFamily="34" charset="-122"/>
                <a:cs typeface="Kanit Light" pitchFamily="34" charset="-120"/>
              </a:rPr>
              <a:t>Example 4: Business Pays Salaries of Sh 30,000</a:t>
            </a:r>
            <a:endParaRPr lang="en-US" sz="2050" dirty="0"/>
          </a:p>
        </p:txBody>
      </p:sp>
      <p:sp>
        <p:nvSpPr>
          <p:cNvPr id="21" name="Text 19"/>
          <p:cNvSpPr/>
          <p:nvPr/>
        </p:nvSpPr>
        <p:spPr>
          <a:xfrm>
            <a:off x="6381439" y="2468964"/>
            <a:ext cx="5055962" cy="646311"/>
          </a:xfrm>
          <a:prstGeom prst="rect">
            <a:avLst/>
          </a:prstGeom>
          <a:noFill/>
          <a:ln/>
        </p:spPr>
        <p:txBody>
          <a:bodyPr wrap="square" lIns="0" tIns="0" rIns="0" bIns="0" rtlCol="0" anchor="t">
            <a:normAutofit/>
          </a:bodyPr>
          <a:lstStyle/>
          <a:p>
            <a:pPr marL="0" indent="0" algn="l">
              <a:lnSpc>
                <a:spcPct val="127000"/>
              </a:lnSpc>
              <a:buNone/>
            </a:pPr>
            <a:r>
              <a:rPr lang="en-US" sz="1650" dirty="0">
                <a:solidFill>
                  <a:srgbClr val="FFFFFF"/>
                </a:solidFill>
                <a:latin typeface="Martel Sans" pitchFamily="34" charset="0"/>
                <a:ea typeface="Martel Sans" pitchFamily="34" charset="-122"/>
                <a:cs typeface="Martel Sans" pitchFamily="34" charset="-120"/>
              </a:rPr>
              <a:t>Salaries expense increases and Cash/Bank decreases.</a:t>
            </a:r>
            <a:endParaRPr lang="en-US" sz="1650" dirty="0"/>
          </a:p>
        </p:txBody>
      </p:sp>
      <p:sp>
        <p:nvSpPr>
          <p:cNvPr id="22" name="Shape 20"/>
          <p:cNvSpPr/>
          <p:nvPr/>
        </p:nvSpPr>
        <p:spPr>
          <a:xfrm>
            <a:off x="6421078" y="3716238"/>
            <a:ext cx="5055962" cy="2070298"/>
          </a:xfrm>
          <a:prstGeom prst="roundRect">
            <a:avLst>
              <a:gd name="adj" fmla="val 4314"/>
            </a:avLst>
          </a:prstGeom>
          <a:noFill/>
          <a:ln w="12700">
            <a:solidFill>
              <a:srgbClr val="FFFFFF">
                <a:alpha val="24000"/>
              </a:srgbClr>
            </a:solidFill>
            <a:prstDash val="solid"/>
          </a:ln>
        </p:spPr>
        <p:txBody>
          <a:bodyPr/>
          <a:lstStyle/>
          <a:p>
            <a:endParaRPr lang="en-US"/>
          </a:p>
        </p:txBody>
      </p:sp>
      <p:sp>
        <p:nvSpPr>
          <p:cNvPr id="23" name="Shape 21"/>
          <p:cNvSpPr/>
          <p:nvPr/>
        </p:nvSpPr>
        <p:spPr>
          <a:xfrm>
            <a:off x="6421078" y="4300736"/>
            <a:ext cx="5055962" cy="13291"/>
          </a:xfrm>
          <a:prstGeom prst="rect">
            <a:avLst/>
          </a:prstGeom>
          <a:solidFill>
            <a:srgbClr val="FFFFFF">
              <a:alpha val="24000"/>
            </a:srgbClr>
          </a:solidFill>
          <a:ln/>
        </p:spPr>
        <p:txBody>
          <a:bodyPr/>
          <a:lstStyle/>
          <a:p>
            <a:endParaRPr lang="en-US"/>
          </a:p>
        </p:txBody>
      </p:sp>
      <p:sp>
        <p:nvSpPr>
          <p:cNvPr id="24" name="Shape 22"/>
          <p:cNvSpPr/>
          <p:nvPr/>
        </p:nvSpPr>
        <p:spPr>
          <a:xfrm>
            <a:off x="6421078" y="5202039"/>
            <a:ext cx="5055962" cy="13291"/>
          </a:xfrm>
          <a:prstGeom prst="rect">
            <a:avLst/>
          </a:prstGeom>
          <a:solidFill>
            <a:srgbClr val="FFFFFF">
              <a:alpha val="24000"/>
            </a:srgbClr>
          </a:solidFill>
          <a:ln/>
        </p:spPr>
        <p:txBody>
          <a:bodyPr/>
          <a:lstStyle/>
          <a:p>
            <a:endParaRPr lang="en-US"/>
          </a:p>
        </p:txBody>
      </p:sp>
      <p:sp>
        <p:nvSpPr>
          <p:cNvPr id="25" name="Shape 23"/>
          <p:cNvSpPr/>
          <p:nvPr/>
        </p:nvSpPr>
        <p:spPr>
          <a:xfrm>
            <a:off x="8110831" y="3716238"/>
            <a:ext cx="13290" cy="2070298"/>
          </a:xfrm>
          <a:prstGeom prst="rect">
            <a:avLst/>
          </a:prstGeom>
          <a:solidFill>
            <a:srgbClr val="FFFFFF">
              <a:alpha val="24000"/>
            </a:srgbClr>
          </a:solidFill>
          <a:ln/>
        </p:spPr>
        <p:txBody>
          <a:bodyPr/>
          <a:lstStyle/>
          <a:p>
            <a:endParaRPr lang="en-US"/>
          </a:p>
        </p:txBody>
      </p:sp>
      <p:sp>
        <p:nvSpPr>
          <p:cNvPr id="26" name="Shape 24"/>
          <p:cNvSpPr/>
          <p:nvPr/>
        </p:nvSpPr>
        <p:spPr>
          <a:xfrm>
            <a:off x="9787288" y="3716238"/>
            <a:ext cx="13290" cy="2070298"/>
          </a:xfrm>
          <a:prstGeom prst="rect">
            <a:avLst/>
          </a:prstGeom>
          <a:solidFill>
            <a:srgbClr val="FFFFFF">
              <a:alpha val="24000"/>
            </a:srgbClr>
          </a:solidFill>
          <a:ln/>
        </p:spPr>
        <p:txBody>
          <a:bodyPr/>
          <a:lstStyle/>
          <a:p>
            <a:endParaRPr lang="en-US"/>
          </a:p>
        </p:txBody>
      </p:sp>
      <p:sp>
        <p:nvSpPr>
          <p:cNvPr id="27" name="Text 25"/>
          <p:cNvSpPr/>
          <p:nvPr/>
        </p:nvSpPr>
        <p:spPr>
          <a:xfrm>
            <a:off x="6646994" y="3850084"/>
            <a:ext cx="1854451" cy="323155"/>
          </a:xfrm>
          <a:prstGeom prst="rect">
            <a:avLst/>
          </a:prstGeom>
          <a:noFill/>
          <a:ln/>
        </p:spPr>
        <p:txBody>
          <a:bodyPr wrap="none" lIns="0" tIns="0" rIns="0" bIns="0" rtlCol="0" anchor="t"/>
          <a:lstStyle/>
          <a:p>
            <a:pPr marL="0" indent="0" algn="l">
              <a:lnSpc>
                <a:spcPct val="127000"/>
              </a:lnSpc>
              <a:buNone/>
            </a:pPr>
            <a:r>
              <a:rPr lang="en-US" sz="1650" b="1" dirty="0">
                <a:solidFill>
                  <a:srgbClr val="FFFFFF"/>
                </a:solidFill>
                <a:latin typeface="Martel Sans Bold" pitchFamily="34" charset="0"/>
                <a:ea typeface="Martel Sans Bold" pitchFamily="34" charset="-122"/>
                <a:cs typeface="Martel Sans Bold" pitchFamily="34" charset="-120"/>
              </a:rPr>
              <a:t>Account</a:t>
            </a:r>
            <a:endParaRPr lang="en-US" sz="1650" dirty="0"/>
          </a:p>
        </p:txBody>
      </p:sp>
      <p:sp>
        <p:nvSpPr>
          <p:cNvPr id="28" name="Text 26"/>
          <p:cNvSpPr/>
          <p:nvPr/>
        </p:nvSpPr>
        <p:spPr>
          <a:xfrm>
            <a:off x="8329801" y="3850084"/>
            <a:ext cx="1848101" cy="323155"/>
          </a:xfrm>
          <a:prstGeom prst="rect">
            <a:avLst/>
          </a:prstGeom>
          <a:noFill/>
          <a:ln/>
        </p:spPr>
        <p:txBody>
          <a:bodyPr wrap="none" lIns="0" tIns="0" rIns="0" bIns="0" rtlCol="0" anchor="t"/>
          <a:lstStyle/>
          <a:p>
            <a:pPr marL="0" indent="0" algn="l">
              <a:lnSpc>
                <a:spcPct val="127000"/>
              </a:lnSpc>
              <a:buNone/>
            </a:pPr>
            <a:r>
              <a:rPr lang="en-US" sz="1650" b="1" dirty="0">
                <a:solidFill>
                  <a:srgbClr val="FFFFFF"/>
                </a:solidFill>
                <a:latin typeface="Martel Sans Bold" pitchFamily="34" charset="0"/>
                <a:ea typeface="Martel Sans Bold" pitchFamily="34" charset="-122"/>
                <a:cs typeface="Martel Sans Bold" pitchFamily="34" charset="-120"/>
              </a:rPr>
              <a:t>Debit</a:t>
            </a:r>
            <a:endParaRPr lang="en-US" sz="1650" dirty="0"/>
          </a:p>
        </p:txBody>
      </p:sp>
      <p:sp>
        <p:nvSpPr>
          <p:cNvPr id="29" name="Text 27"/>
          <p:cNvSpPr/>
          <p:nvPr/>
        </p:nvSpPr>
        <p:spPr>
          <a:xfrm>
            <a:off x="10006258" y="3850084"/>
            <a:ext cx="1854451" cy="323155"/>
          </a:xfrm>
          <a:prstGeom prst="rect">
            <a:avLst/>
          </a:prstGeom>
          <a:noFill/>
          <a:ln/>
        </p:spPr>
        <p:txBody>
          <a:bodyPr wrap="none" lIns="0" tIns="0" rIns="0" bIns="0" rtlCol="0" anchor="t"/>
          <a:lstStyle/>
          <a:p>
            <a:pPr marL="0" indent="0" algn="l">
              <a:lnSpc>
                <a:spcPct val="127000"/>
              </a:lnSpc>
              <a:buNone/>
            </a:pPr>
            <a:r>
              <a:rPr lang="en-US" sz="1650" b="1" dirty="0">
                <a:solidFill>
                  <a:srgbClr val="FFFFFF"/>
                </a:solidFill>
                <a:latin typeface="Martel Sans Bold" pitchFamily="34" charset="0"/>
                <a:ea typeface="Martel Sans Bold" pitchFamily="34" charset="-122"/>
                <a:cs typeface="Martel Sans Bold" pitchFamily="34" charset="-120"/>
              </a:rPr>
              <a:t>Credit</a:t>
            </a:r>
            <a:endParaRPr lang="en-US" sz="1650" dirty="0"/>
          </a:p>
        </p:txBody>
      </p:sp>
      <p:sp>
        <p:nvSpPr>
          <p:cNvPr id="30" name="Text 28"/>
          <p:cNvSpPr/>
          <p:nvPr/>
        </p:nvSpPr>
        <p:spPr>
          <a:xfrm>
            <a:off x="6646994" y="4428232"/>
            <a:ext cx="1244867" cy="646311"/>
          </a:xfrm>
          <a:prstGeom prst="rect">
            <a:avLst/>
          </a:prstGeom>
          <a:noFill/>
          <a:ln/>
        </p:spPr>
        <p:txBody>
          <a:bodyPr wrap="square" lIns="0" tIns="0" rIns="0" bIns="0" rtlCol="0" anchor="t">
            <a:normAutofit/>
          </a:bodyPr>
          <a:lstStyle/>
          <a:p>
            <a:pPr marL="0" indent="0" algn="l">
              <a:lnSpc>
                <a:spcPct val="127000"/>
              </a:lnSpc>
              <a:buNone/>
            </a:pPr>
            <a:r>
              <a:rPr lang="en-US" sz="1650" dirty="0">
                <a:solidFill>
                  <a:srgbClr val="FFFFFF"/>
                </a:solidFill>
                <a:latin typeface="Martel Sans" pitchFamily="34" charset="0"/>
                <a:ea typeface="Martel Sans" pitchFamily="34" charset="-122"/>
                <a:cs typeface="Martel Sans" pitchFamily="34" charset="-120"/>
              </a:rPr>
              <a:t>Salaries expense</a:t>
            </a:r>
            <a:endParaRPr lang="en-US" sz="1650" dirty="0"/>
          </a:p>
        </p:txBody>
      </p:sp>
      <p:sp>
        <p:nvSpPr>
          <p:cNvPr id="31" name="Text 29"/>
          <p:cNvSpPr/>
          <p:nvPr/>
        </p:nvSpPr>
        <p:spPr>
          <a:xfrm>
            <a:off x="8329801" y="4428232"/>
            <a:ext cx="1848101" cy="323155"/>
          </a:xfrm>
          <a:prstGeom prst="rect">
            <a:avLst/>
          </a:prstGeom>
          <a:noFill/>
          <a:ln/>
        </p:spPr>
        <p:txBody>
          <a:bodyPr wrap="none" lIns="0" tIns="0" rIns="0" bIns="0" rtlCol="0" anchor="t"/>
          <a:lstStyle/>
          <a:p>
            <a:pPr marL="0" indent="0" algn="l">
              <a:lnSpc>
                <a:spcPct val="127000"/>
              </a:lnSpc>
              <a:buNone/>
            </a:pPr>
            <a:r>
              <a:rPr lang="en-US" sz="1650" dirty="0">
                <a:solidFill>
                  <a:srgbClr val="FFFFFF"/>
                </a:solidFill>
                <a:latin typeface="Martel Sans" pitchFamily="34" charset="0"/>
                <a:ea typeface="Martel Sans" pitchFamily="34" charset="-122"/>
                <a:cs typeface="Martel Sans" pitchFamily="34" charset="-120"/>
              </a:rPr>
              <a:t>30,000</a:t>
            </a:r>
            <a:endParaRPr lang="en-US" sz="1650" dirty="0"/>
          </a:p>
        </p:txBody>
      </p:sp>
      <p:sp>
        <p:nvSpPr>
          <p:cNvPr id="32" name="Text 30"/>
          <p:cNvSpPr/>
          <p:nvPr/>
        </p:nvSpPr>
        <p:spPr>
          <a:xfrm>
            <a:off x="10006258" y="4428232"/>
            <a:ext cx="1854451" cy="323155"/>
          </a:xfrm>
          <a:prstGeom prst="rect">
            <a:avLst/>
          </a:prstGeom>
          <a:noFill/>
          <a:ln/>
        </p:spPr>
        <p:txBody>
          <a:bodyPr wrap="none" lIns="0" tIns="0" rIns="0" bIns="0" rtlCol="0" anchor="t"/>
          <a:lstStyle/>
          <a:p>
            <a:pPr marL="0" indent="0" algn="l">
              <a:lnSpc>
                <a:spcPct val="127000"/>
              </a:lnSpc>
              <a:buNone/>
            </a:pPr>
            <a:r>
              <a:rPr lang="en-US" sz="1650" dirty="0">
                <a:solidFill>
                  <a:srgbClr val="FFFFFF"/>
                </a:solidFill>
                <a:latin typeface="Martel Sans" pitchFamily="34" charset="0"/>
                <a:ea typeface="Martel Sans" pitchFamily="34" charset="-122"/>
                <a:cs typeface="Martel Sans" pitchFamily="34" charset="-120"/>
              </a:rPr>
              <a:t>—</a:t>
            </a:r>
            <a:endParaRPr lang="en-US" sz="1650" dirty="0"/>
          </a:p>
        </p:txBody>
      </p:sp>
      <p:sp>
        <p:nvSpPr>
          <p:cNvPr id="33" name="Text 31"/>
          <p:cNvSpPr/>
          <p:nvPr/>
        </p:nvSpPr>
        <p:spPr>
          <a:xfrm>
            <a:off x="6646994" y="5329535"/>
            <a:ext cx="1854451" cy="323155"/>
          </a:xfrm>
          <a:prstGeom prst="rect">
            <a:avLst/>
          </a:prstGeom>
          <a:noFill/>
          <a:ln/>
        </p:spPr>
        <p:txBody>
          <a:bodyPr wrap="none" lIns="0" tIns="0" rIns="0" bIns="0" rtlCol="0" anchor="t"/>
          <a:lstStyle/>
          <a:p>
            <a:pPr marL="0" indent="0" algn="l">
              <a:lnSpc>
                <a:spcPct val="127000"/>
              </a:lnSpc>
              <a:buNone/>
            </a:pPr>
            <a:r>
              <a:rPr lang="en-US" sz="1650" dirty="0">
                <a:solidFill>
                  <a:srgbClr val="FFFFFF"/>
                </a:solidFill>
                <a:latin typeface="Martel Sans" pitchFamily="34" charset="0"/>
                <a:ea typeface="Martel Sans" pitchFamily="34" charset="-122"/>
                <a:cs typeface="Martel Sans" pitchFamily="34" charset="-120"/>
              </a:rPr>
              <a:t>Bank/Cash</a:t>
            </a:r>
            <a:endParaRPr lang="en-US" sz="1650" dirty="0"/>
          </a:p>
        </p:txBody>
      </p:sp>
      <p:sp>
        <p:nvSpPr>
          <p:cNvPr id="34" name="Text 32"/>
          <p:cNvSpPr/>
          <p:nvPr/>
        </p:nvSpPr>
        <p:spPr>
          <a:xfrm>
            <a:off x="8329801" y="5329535"/>
            <a:ext cx="1848101" cy="323155"/>
          </a:xfrm>
          <a:prstGeom prst="rect">
            <a:avLst/>
          </a:prstGeom>
          <a:noFill/>
          <a:ln/>
        </p:spPr>
        <p:txBody>
          <a:bodyPr wrap="none" lIns="0" tIns="0" rIns="0" bIns="0" rtlCol="0" anchor="t"/>
          <a:lstStyle/>
          <a:p>
            <a:pPr marL="0" indent="0" algn="l">
              <a:lnSpc>
                <a:spcPct val="127000"/>
              </a:lnSpc>
              <a:buNone/>
            </a:pPr>
            <a:r>
              <a:rPr lang="en-US" sz="1650" dirty="0">
                <a:solidFill>
                  <a:srgbClr val="FFFFFF"/>
                </a:solidFill>
                <a:latin typeface="Martel Sans" pitchFamily="34" charset="0"/>
                <a:ea typeface="Martel Sans" pitchFamily="34" charset="-122"/>
                <a:cs typeface="Martel Sans" pitchFamily="34" charset="-120"/>
              </a:rPr>
              <a:t>—</a:t>
            </a:r>
            <a:endParaRPr lang="en-US" sz="1650" dirty="0"/>
          </a:p>
        </p:txBody>
      </p:sp>
      <p:sp>
        <p:nvSpPr>
          <p:cNvPr id="35" name="Text 33"/>
          <p:cNvSpPr/>
          <p:nvPr/>
        </p:nvSpPr>
        <p:spPr>
          <a:xfrm>
            <a:off x="10006258" y="5329535"/>
            <a:ext cx="1854451" cy="323155"/>
          </a:xfrm>
          <a:prstGeom prst="rect">
            <a:avLst/>
          </a:prstGeom>
          <a:noFill/>
          <a:ln/>
        </p:spPr>
        <p:txBody>
          <a:bodyPr wrap="none" lIns="0" tIns="0" rIns="0" bIns="0" rtlCol="0" anchor="t"/>
          <a:lstStyle/>
          <a:p>
            <a:pPr marL="0" indent="0" algn="l">
              <a:lnSpc>
                <a:spcPct val="127000"/>
              </a:lnSpc>
              <a:buNone/>
            </a:pPr>
            <a:r>
              <a:rPr lang="en-US" sz="1650" dirty="0">
                <a:solidFill>
                  <a:srgbClr val="FFFFFF"/>
                </a:solidFill>
                <a:latin typeface="Martel Sans" pitchFamily="34" charset="0"/>
                <a:ea typeface="Martel Sans" pitchFamily="34" charset="-122"/>
                <a:cs typeface="Martel Sans" pitchFamily="34" charset="-120"/>
              </a:rPr>
              <a:t>30,000</a:t>
            </a:r>
            <a:endParaRPr lang="en-US" sz="16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61475" y="332085"/>
            <a:ext cx="10868745" cy="1107480"/>
          </a:xfrm>
          <a:prstGeom prst="rect">
            <a:avLst/>
          </a:prstGeom>
          <a:noFill/>
          <a:ln/>
        </p:spPr>
        <p:txBody>
          <a:bodyPr wrap="square" lIns="0" tIns="0" rIns="0" bIns="0" rtlCol="0" anchor="t">
            <a:normAutofit/>
          </a:bodyPr>
          <a:lstStyle/>
          <a:p>
            <a:pPr marL="0" indent="0" algn="ctr">
              <a:lnSpc>
                <a:spcPct val="104000"/>
              </a:lnSpc>
              <a:buNone/>
            </a:pPr>
            <a:r>
              <a:rPr lang="en-US" sz="3450" dirty="0">
                <a:solidFill>
                  <a:srgbClr val="272D45"/>
                </a:solidFill>
                <a:latin typeface="Kanit Light" pitchFamily="34" charset="0"/>
                <a:ea typeface="Kanit Light" pitchFamily="34" charset="-122"/>
                <a:cs typeface="Kanit Light" pitchFamily="34" charset="-120"/>
              </a:rPr>
              <a:t>Income and Expenses: Why the Treatment Can Seem Counter-Intuitive</a:t>
            </a:r>
            <a:endParaRPr lang="en-US" sz="3450" dirty="0"/>
          </a:p>
        </p:txBody>
      </p:sp>
      <p:sp>
        <p:nvSpPr>
          <p:cNvPr id="3" name="Text 1"/>
          <p:cNvSpPr/>
          <p:nvPr/>
        </p:nvSpPr>
        <p:spPr>
          <a:xfrm>
            <a:off x="661475" y="1528664"/>
            <a:ext cx="7138634" cy="314821"/>
          </a:xfrm>
          <a:prstGeom prst="rect">
            <a:avLst/>
          </a:prstGeom>
          <a:noFill/>
          <a:ln/>
        </p:spPr>
        <p:txBody>
          <a:bodyPr wrap="none" lIns="0" tIns="0" rIns="0" bIns="0" rtlCol="0" anchor="t"/>
          <a:lstStyle/>
          <a:p>
            <a:pPr marL="0" indent="0" algn="l">
              <a:lnSpc>
                <a:spcPct val="117000"/>
              </a:lnSpc>
              <a:buNone/>
            </a:pPr>
            <a:r>
              <a:rPr lang="en-US" sz="1600" dirty="0">
                <a:solidFill>
                  <a:srgbClr val="2C3249"/>
                </a:solidFill>
                <a:latin typeface="Martel Sans" pitchFamily="34" charset="0"/>
                <a:ea typeface="Martel Sans" pitchFamily="34" charset="-122"/>
                <a:cs typeface="Martel Sans" pitchFamily="34" charset="-120"/>
              </a:rPr>
              <a:t>The treatment of income and expenses can initially appear counter-intuitive:</a:t>
            </a:r>
            <a:endParaRPr lang="en-US" sz="16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992908"/>
            <a:ext cx="5367898" cy="2259211"/>
          </a:xfrm>
          <a:prstGeom prst="rect">
            <a:avLst/>
          </a:prstGeom>
        </p:spPr>
      </p:pic>
      <p:sp>
        <p:nvSpPr>
          <p:cNvPr id="5" name="Text 2"/>
          <p:cNvSpPr/>
          <p:nvPr/>
        </p:nvSpPr>
        <p:spPr>
          <a:xfrm>
            <a:off x="933923" y="2146070"/>
            <a:ext cx="4899200" cy="276920"/>
          </a:xfrm>
          <a:prstGeom prst="rect">
            <a:avLst/>
          </a:prstGeom>
          <a:noFill/>
          <a:ln/>
        </p:spPr>
        <p:txBody>
          <a:bodyPr wrap="none" lIns="0" tIns="0" rIns="0" bIns="0" rtlCol="0" anchor="t"/>
          <a:lstStyle/>
          <a:p>
            <a:pPr marL="0" indent="0" algn="l">
              <a:lnSpc>
                <a:spcPct val="104000"/>
              </a:lnSpc>
              <a:buNone/>
            </a:pPr>
            <a:r>
              <a:rPr lang="en-US" sz="1700" b="1" dirty="0">
                <a:solidFill>
                  <a:srgbClr val="2C3249"/>
                </a:solidFill>
                <a:latin typeface="Kanit Light" pitchFamily="34" charset="0"/>
                <a:ea typeface="Kanit Light" pitchFamily="34" charset="-122"/>
                <a:cs typeface="Kanit Light" pitchFamily="34" charset="-120"/>
              </a:rPr>
              <a:t>Income is Credited</a:t>
            </a:r>
            <a:endParaRPr lang="en-US" sz="1700" b="1" dirty="0"/>
          </a:p>
        </p:txBody>
      </p:sp>
      <p:sp>
        <p:nvSpPr>
          <p:cNvPr id="6" name="Text 3"/>
          <p:cNvSpPr/>
          <p:nvPr/>
        </p:nvSpPr>
        <p:spPr>
          <a:xfrm>
            <a:off x="933923" y="2685256"/>
            <a:ext cx="4899200" cy="992188"/>
          </a:xfrm>
          <a:prstGeom prst="rect">
            <a:avLst/>
          </a:prstGeom>
          <a:noFill/>
          <a:ln/>
        </p:spPr>
        <p:txBody>
          <a:bodyPr wrap="square" lIns="0" tIns="0" rIns="0" bIns="0" rtlCol="0" anchor="t">
            <a:noAutofit/>
          </a:bodyPr>
          <a:lstStyle/>
          <a:p>
            <a:pPr marL="0" indent="0" algn="just">
              <a:lnSpc>
                <a:spcPct val="117000"/>
              </a:lnSpc>
              <a:buNone/>
            </a:pPr>
            <a:r>
              <a:rPr lang="en-US" sz="1500" dirty="0">
                <a:solidFill>
                  <a:srgbClr val="2C3249"/>
                </a:solidFill>
                <a:latin typeface="Martel Sans" pitchFamily="34" charset="0"/>
                <a:ea typeface="Martel Sans" pitchFamily="34" charset="-122"/>
                <a:cs typeface="Martel Sans" pitchFamily="34" charset="-120"/>
              </a:rPr>
              <a:t>Income is credited because it </a:t>
            </a:r>
            <a:r>
              <a:rPr lang="en-US" sz="1500" b="1" dirty="0">
                <a:solidFill>
                  <a:srgbClr val="2C3249"/>
                </a:solidFill>
                <a:latin typeface="Martel Sans Bold" pitchFamily="34" charset="0"/>
                <a:ea typeface="Martel Sans Bold" pitchFamily="34" charset="-122"/>
                <a:cs typeface="Martel Sans Bold" pitchFamily="34" charset="-120"/>
              </a:rPr>
              <a:t>increases equity</a:t>
            </a:r>
            <a:r>
              <a:rPr lang="en-US" sz="1500" dirty="0">
                <a:solidFill>
                  <a:srgbClr val="2C3249"/>
                </a:solidFill>
                <a:latin typeface="Martel Sans" pitchFamily="34" charset="0"/>
                <a:ea typeface="Martel Sans" pitchFamily="34" charset="-122"/>
                <a:cs typeface="Martel Sans" pitchFamily="34" charset="-120"/>
              </a:rPr>
              <a:t>. When a business earns revenue, the owners' interest in the business grows, which is reflected as a credit to income accounts.</a:t>
            </a:r>
            <a:endParaRPr lang="en-US" sz="15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62223" y="1992908"/>
            <a:ext cx="5367997" cy="2259211"/>
          </a:xfrm>
          <a:prstGeom prst="rect">
            <a:avLst/>
          </a:prstGeom>
        </p:spPr>
      </p:pic>
      <p:sp>
        <p:nvSpPr>
          <p:cNvPr id="8" name="Text 4"/>
          <p:cNvSpPr/>
          <p:nvPr/>
        </p:nvSpPr>
        <p:spPr>
          <a:xfrm>
            <a:off x="6434671" y="2176661"/>
            <a:ext cx="4899299" cy="276920"/>
          </a:xfrm>
          <a:prstGeom prst="rect">
            <a:avLst/>
          </a:prstGeom>
          <a:noFill/>
          <a:ln/>
        </p:spPr>
        <p:txBody>
          <a:bodyPr wrap="none" lIns="0" tIns="0" rIns="0" bIns="0" rtlCol="0" anchor="t"/>
          <a:lstStyle/>
          <a:p>
            <a:pPr marL="0" indent="0" algn="l">
              <a:lnSpc>
                <a:spcPct val="104000"/>
              </a:lnSpc>
              <a:buNone/>
            </a:pPr>
            <a:r>
              <a:rPr lang="en-US" sz="1700" b="1" dirty="0">
                <a:solidFill>
                  <a:srgbClr val="2C3249"/>
                </a:solidFill>
                <a:latin typeface="Kanit Light" pitchFamily="34" charset="0"/>
                <a:ea typeface="Kanit Light" pitchFamily="34" charset="-122"/>
                <a:cs typeface="Kanit Light" pitchFamily="34" charset="-120"/>
              </a:rPr>
              <a:t>Expenses are Debited</a:t>
            </a:r>
            <a:endParaRPr lang="en-US" sz="1700" b="1" dirty="0"/>
          </a:p>
        </p:txBody>
      </p:sp>
      <p:sp>
        <p:nvSpPr>
          <p:cNvPr id="9" name="Text 5"/>
          <p:cNvSpPr/>
          <p:nvPr/>
        </p:nvSpPr>
        <p:spPr>
          <a:xfrm>
            <a:off x="6400640" y="2659757"/>
            <a:ext cx="4899299" cy="992188"/>
          </a:xfrm>
          <a:prstGeom prst="rect">
            <a:avLst/>
          </a:prstGeom>
          <a:noFill/>
          <a:ln/>
        </p:spPr>
        <p:txBody>
          <a:bodyPr wrap="square" lIns="0" tIns="0" rIns="0" bIns="0" rtlCol="0" anchor="t">
            <a:noAutofit/>
          </a:bodyPr>
          <a:lstStyle/>
          <a:p>
            <a:pPr marL="0" indent="0" algn="just">
              <a:lnSpc>
                <a:spcPct val="117000"/>
              </a:lnSpc>
              <a:buNone/>
            </a:pPr>
            <a:r>
              <a:rPr lang="en-US" sz="1500" dirty="0">
                <a:solidFill>
                  <a:srgbClr val="2C3249"/>
                </a:solidFill>
                <a:latin typeface="Martel Sans" pitchFamily="34" charset="0"/>
                <a:ea typeface="Martel Sans" pitchFamily="34" charset="-122"/>
                <a:cs typeface="Martel Sans" pitchFamily="34" charset="-120"/>
              </a:rPr>
              <a:t>Expenses are debited because they </a:t>
            </a:r>
            <a:r>
              <a:rPr lang="en-US" sz="1500" b="1" dirty="0">
                <a:solidFill>
                  <a:srgbClr val="2C3249"/>
                </a:solidFill>
                <a:latin typeface="Martel Sans Bold" pitchFamily="34" charset="0"/>
                <a:ea typeface="Martel Sans Bold" pitchFamily="34" charset="-122"/>
                <a:cs typeface="Martel Sans Bold" pitchFamily="34" charset="-120"/>
              </a:rPr>
              <a:t>reduce equity</a:t>
            </a:r>
            <a:r>
              <a:rPr lang="en-US" sz="1500" dirty="0">
                <a:solidFill>
                  <a:srgbClr val="2C3249"/>
                </a:solidFill>
                <a:latin typeface="Martel Sans" pitchFamily="34" charset="0"/>
                <a:ea typeface="Martel Sans" pitchFamily="34" charset="-122"/>
                <a:cs typeface="Martel Sans" pitchFamily="34" charset="-120"/>
              </a:rPr>
              <a:t>. When a business incurs costs, the owners' interest is diminished, which is reflected as a debit to expense accounts.</a:t>
            </a:r>
            <a:endParaRPr lang="en-US" sz="1500" dirty="0"/>
          </a:p>
        </p:txBody>
      </p:sp>
      <p:sp>
        <p:nvSpPr>
          <p:cNvPr id="10" name="Text 6"/>
          <p:cNvSpPr/>
          <p:nvPr/>
        </p:nvSpPr>
        <p:spPr>
          <a:xfrm>
            <a:off x="661475" y="4401543"/>
            <a:ext cx="6570598" cy="220266"/>
          </a:xfrm>
          <a:prstGeom prst="rect">
            <a:avLst/>
          </a:prstGeom>
          <a:noFill/>
          <a:ln/>
        </p:spPr>
        <p:txBody>
          <a:bodyPr wrap="none" lIns="0" tIns="0" rIns="0" bIns="0" rtlCol="0" anchor="t"/>
          <a:lstStyle/>
          <a:p>
            <a:pPr marL="0" indent="0" algn="l">
              <a:lnSpc>
                <a:spcPct val="117000"/>
              </a:lnSpc>
              <a:buNone/>
            </a:pPr>
            <a:r>
              <a:rPr lang="en-US" sz="1600" dirty="0">
                <a:solidFill>
                  <a:srgbClr val="2C3249"/>
                </a:solidFill>
                <a:latin typeface="Martel Sans" pitchFamily="34" charset="0"/>
                <a:ea typeface="Martel Sans" pitchFamily="34" charset="-122"/>
                <a:cs typeface="Martel Sans" pitchFamily="34" charset="-120"/>
              </a:rPr>
              <a:t>For example, if a business makes a credit sale of Sh 80,000:</a:t>
            </a:r>
            <a:endParaRPr lang="en-US" sz="1600" dirty="0"/>
          </a:p>
        </p:txBody>
      </p:sp>
      <p:sp>
        <p:nvSpPr>
          <p:cNvPr id="11" name="Shape 7"/>
          <p:cNvSpPr/>
          <p:nvPr/>
        </p:nvSpPr>
        <p:spPr>
          <a:xfrm>
            <a:off x="661475" y="4799013"/>
            <a:ext cx="10868745" cy="921345"/>
          </a:xfrm>
          <a:prstGeom prst="roundRect">
            <a:avLst>
              <a:gd name="adj" fmla="val 8078"/>
            </a:avLst>
          </a:prstGeom>
          <a:solidFill>
            <a:srgbClr val="F2F2F2"/>
          </a:solidFill>
          <a:ln/>
        </p:spPr>
        <p:txBody>
          <a:bodyPr/>
          <a:lstStyle/>
          <a:p>
            <a:endParaRPr lang="en-US"/>
          </a:p>
        </p:txBody>
      </p:sp>
      <p:sp>
        <p:nvSpPr>
          <p:cNvPr id="12" name="Text 8"/>
          <p:cNvSpPr/>
          <p:nvPr/>
        </p:nvSpPr>
        <p:spPr>
          <a:xfrm>
            <a:off x="874095" y="4976217"/>
            <a:ext cx="10443504" cy="566936"/>
          </a:xfrm>
          <a:prstGeom prst="rect">
            <a:avLst/>
          </a:prstGeom>
          <a:noFill/>
          <a:ln/>
        </p:spPr>
        <p:txBody>
          <a:bodyPr wrap="square" lIns="0" tIns="0" rIns="0" bIns="0" rtlCol="0" anchor="t">
            <a:normAutofit/>
          </a:bodyPr>
          <a:lstStyle/>
          <a:p>
            <a:pPr marL="0" indent="0" algn="l">
              <a:lnSpc>
                <a:spcPct val="133000"/>
              </a:lnSpc>
              <a:buNone/>
            </a:pPr>
            <a:r>
              <a:rPr lang="en-US" sz="1350" dirty="0">
                <a:solidFill>
                  <a:srgbClr val="24292E"/>
                </a:solidFill>
                <a:latin typeface="Consolas" pitchFamily="34" charset="0"/>
                <a:ea typeface="Consolas" pitchFamily="34" charset="-122"/>
                <a:cs typeface="Consolas" pitchFamily="34" charset="-120"/>
              </a:rPr>
              <a:t>Dr Trade receivables    Sh 80,000</a:t>
            </a:r>
            <a:endParaRPr lang="en-US" sz="1350" dirty="0"/>
          </a:p>
          <a:p>
            <a:pPr marL="0" indent="0" algn="l">
              <a:lnSpc>
                <a:spcPct val="133000"/>
              </a:lnSpc>
              <a:buNone/>
            </a:pPr>
            <a:r>
              <a:rPr lang="en-US" sz="1350" dirty="0">
                <a:solidFill>
                  <a:srgbClr val="24292E"/>
                </a:solidFill>
                <a:latin typeface="Consolas" pitchFamily="34" charset="0"/>
                <a:ea typeface="Consolas" pitchFamily="34" charset="-122"/>
                <a:cs typeface="Consolas" pitchFamily="34" charset="-120"/>
              </a:rPr>
              <a:t>Cr Sales revenue        Sh 80,000</a:t>
            </a:r>
            <a:endParaRPr lang="en-US" sz="1350" dirty="0"/>
          </a:p>
        </p:txBody>
      </p:sp>
      <p:sp>
        <p:nvSpPr>
          <p:cNvPr id="13" name="Text 9"/>
          <p:cNvSpPr/>
          <p:nvPr/>
        </p:nvSpPr>
        <p:spPr>
          <a:xfrm>
            <a:off x="661475" y="5869781"/>
            <a:ext cx="8690343" cy="340222"/>
          </a:xfrm>
          <a:prstGeom prst="rect">
            <a:avLst/>
          </a:prstGeom>
          <a:noFill/>
          <a:ln/>
        </p:spPr>
        <p:txBody>
          <a:bodyPr wrap="none" lIns="0" tIns="0" rIns="0" bIns="0" rtlCol="0" anchor="t"/>
          <a:lstStyle/>
          <a:p>
            <a:pPr marL="0" indent="0" algn="l">
              <a:lnSpc>
                <a:spcPct val="117000"/>
              </a:lnSpc>
              <a:buNone/>
            </a:pPr>
            <a:r>
              <a:rPr lang="en-US" sz="1600" dirty="0">
                <a:solidFill>
                  <a:srgbClr val="2C3249"/>
                </a:solidFill>
                <a:latin typeface="Martel Sans" pitchFamily="34" charset="0"/>
                <a:ea typeface="Martel Sans" pitchFamily="34" charset="-122"/>
                <a:cs typeface="Martel Sans" pitchFamily="34" charset="-120"/>
              </a:rPr>
              <a:t>The receivable is an asset, while sales income increases equity through profit.</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2881746" y="165840"/>
            <a:ext cx="8537638" cy="581422"/>
          </a:xfrm>
          <a:prstGeom prst="rect">
            <a:avLst/>
          </a:prstGeom>
          <a:noFill/>
          <a:ln/>
        </p:spPr>
        <p:txBody>
          <a:bodyPr wrap="none" lIns="0" tIns="0" rIns="0" bIns="0" rtlCol="0" anchor="t"/>
          <a:lstStyle/>
          <a:p>
            <a:pPr marL="0" indent="0" algn="l">
              <a:lnSpc>
                <a:spcPct val="104000"/>
              </a:lnSpc>
              <a:buNone/>
            </a:pPr>
            <a:r>
              <a:rPr lang="en-US" sz="3650" dirty="0">
                <a:solidFill>
                  <a:srgbClr val="272D45"/>
                </a:solidFill>
                <a:latin typeface="Kanit Light" pitchFamily="34" charset="0"/>
                <a:ea typeface="Kanit Light" pitchFamily="34" charset="-122"/>
                <a:cs typeface="Kanit Light" pitchFamily="34" charset="-120"/>
              </a:rPr>
              <a:t>Contra-Asset Accounts</a:t>
            </a:r>
            <a:endParaRPr lang="en-US" sz="3650" dirty="0"/>
          </a:p>
        </p:txBody>
      </p:sp>
      <p:sp>
        <p:nvSpPr>
          <p:cNvPr id="3" name="Text 1"/>
          <p:cNvSpPr/>
          <p:nvPr/>
        </p:nvSpPr>
        <p:spPr>
          <a:xfrm>
            <a:off x="661475" y="954432"/>
            <a:ext cx="10868745" cy="798016"/>
          </a:xfrm>
          <a:prstGeom prst="rect">
            <a:avLst/>
          </a:prstGeom>
          <a:noFill/>
          <a:ln/>
        </p:spPr>
        <p:txBody>
          <a:bodyPr wrap="square" lIns="0" tIns="0" rIns="0" bIns="0" rtlCol="0" anchor="t">
            <a:noAutofit/>
          </a:bodyPr>
          <a:lstStyle/>
          <a:p>
            <a:pPr marL="0" indent="0" algn="just">
              <a:lnSpc>
                <a:spcPct val="119000"/>
              </a:lnSpc>
              <a:buNone/>
            </a:pPr>
            <a:r>
              <a:rPr lang="en-US" dirty="0">
                <a:solidFill>
                  <a:srgbClr val="2C3249"/>
                </a:solidFill>
                <a:latin typeface="Martel Sans" pitchFamily="34" charset="0"/>
                <a:ea typeface="Martel Sans" pitchFamily="34" charset="-122"/>
                <a:cs typeface="Martel Sans" pitchFamily="34" charset="-120"/>
              </a:rPr>
              <a:t>A </a:t>
            </a:r>
            <a:r>
              <a:rPr lang="en-US" b="1" dirty="0">
                <a:solidFill>
                  <a:srgbClr val="2C3249"/>
                </a:solidFill>
                <a:latin typeface="Martel Sans Bold" pitchFamily="34" charset="0"/>
                <a:ea typeface="Martel Sans Bold" pitchFamily="34" charset="-122"/>
                <a:cs typeface="Martel Sans Bold" pitchFamily="34" charset="-120"/>
              </a:rPr>
              <a:t>contra-asset account</a:t>
            </a:r>
            <a:r>
              <a:rPr lang="en-US" dirty="0">
                <a:solidFill>
                  <a:srgbClr val="2C3249"/>
                </a:solidFill>
                <a:latin typeface="Martel Sans" pitchFamily="34" charset="0"/>
                <a:ea typeface="Martel Sans" pitchFamily="34" charset="-122"/>
                <a:cs typeface="Martel Sans" pitchFamily="34" charset="-120"/>
              </a:rPr>
              <a:t> is an account that is presented against an asset and normally has a </a:t>
            </a:r>
            <a:r>
              <a:rPr lang="en-US" b="1" dirty="0">
                <a:solidFill>
                  <a:srgbClr val="2C3249"/>
                </a:solidFill>
                <a:latin typeface="Martel Sans Bold" pitchFamily="34" charset="0"/>
                <a:ea typeface="Martel Sans Bold" pitchFamily="34" charset="-122"/>
                <a:cs typeface="Martel Sans Bold" pitchFamily="34" charset="-120"/>
              </a:rPr>
              <a:t>credit balance</a:t>
            </a:r>
            <a:r>
              <a:rPr lang="en-US" dirty="0">
                <a:solidFill>
                  <a:srgbClr val="2C3249"/>
                </a:solidFill>
                <a:latin typeface="Martel Sans" pitchFamily="34" charset="0"/>
                <a:ea typeface="Martel Sans" pitchFamily="34" charset="-122"/>
                <a:cs typeface="Martel Sans" pitchFamily="34" charset="-120"/>
              </a:rPr>
              <a:t>, thereby reducing the carrying amount of the related asset. Two important examples are accumulated depreciation and the ECL allowance.</a:t>
            </a:r>
            <a:endParaRPr lang="en-US" dirty="0"/>
          </a:p>
        </p:txBody>
      </p:sp>
      <p:sp>
        <p:nvSpPr>
          <p:cNvPr id="4" name="Shape 2"/>
          <p:cNvSpPr/>
          <p:nvPr/>
        </p:nvSpPr>
        <p:spPr>
          <a:xfrm>
            <a:off x="527533" y="2286000"/>
            <a:ext cx="5475349" cy="4170217"/>
          </a:xfrm>
          <a:prstGeom prst="roundRect">
            <a:avLst>
              <a:gd name="adj" fmla="val 3713"/>
            </a:avLst>
          </a:prstGeom>
          <a:solidFill>
            <a:srgbClr val="437066"/>
          </a:solidFill>
          <a:ln/>
        </p:spPr>
        <p:txBody>
          <a:bodyPr/>
          <a:lstStyle/>
          <a:p>
            <a:endParaRPr lang="en-US"/>
          </a:p>
        </p:txBody>
      </p:sp>
      <p:sp>
        <p:nvSpPr>
          <p:cNvPr id="5" name="Text 3"/>
          <p:cNvSpPr/>
          <p:nvPr/>
        </p:nvSpPr>
        <p:spPr>
          <a:xfrm>
            <a:off x="713563" y="2399109"/>
            <a:ext cx="5103288" cy="290711"/>
          </a:xfrm>
          <a:prstGeom prst="rect">
            <a:avLst/>
          </a:prstGeom>
          <a:noFill/>
          <a:ln/>
        </p:spPr>
        <p:txBody>
          <a:bodyPr wrap="none" lIns="0" tIns="0" rIns="0" bIns="0" rtlCol="0" anchor="t"/>
          <a:lstStyle/>
          <a:p>
            <a:pPr marL="0" indent="0" algn="l">
              <a:lnSpc>
                <a:spcPct val="104000"/>
              </a:lnSpc>
              <a:buNone/>
            </a:pPr>
            <a:r>
              <a:rPr lang="en-US" sz="1800" dirty="0">
                <a:solidFill>
                  <a:srgbClr val="FFFFFF"/>
                </a:solidFill>
                <a:latin typeface="Kanit Light" pitchFamily="34" charset="0"/>
                <a:ea typeface="Kanit Light" pitchFamily="34" charset="-122"/>
                <a:cs typeface="Kanit Light" pitchFamily="34" charset="-120"/>
              </a:rPr>
              <a:t>(a) Accumulated Depreciation</a:t>
            </a:r>
            <a:endParaRPr lang="en-US" sz="1800" dirty="0"/>
          </a:p>
        </p:txBody>
      </p:sp>
      <p:sp>
        <p:nvSpPr>
          <p:cNvPr id="6" name="Text 4"/>
          <p:cNvSpPr/>
          <p:nvPr/>
        </p:nvSpPr>
        <p:spPr>
          <a:xfrm>
            <a:off x="713563" y="3126978"/>
            <a:ext cx="5103288" cy="798016"/>
          </a:xfrm>
          <a:prstGeom prst="rect">
            <a:avLst/>
          </a:prstGeom>
          <a:noFill/>
          <a:ln/>
        </p:spPr>
        <p:txBody>
          <a:bodyPr wrap="square" lIns="0" tIns="0" rIns="0" bIns="0" rtlCol="0" anchor="t">
            <a:normAutofit/>
          </a:bodyPr>
          <a:lstStyle/>
          <a:p>
            <a:pPr marL="0" indent="0" algn="l">
              <a:lnSpc>
                <a:spcPct val="119000"/>
              </a:lnSpc>
              <a:buNone/>
            </a:pPr>
            <a:r>
              <a:rPr lang="en-US" sz="1450" dirty="0">
                <a:solidFill>
                  <a:srgbClr val="FFFFFF"/>
                </a:solidFill>
                <a:latin typeface="Martel Sans" pitchFamily="34" charset="0"/>
                <a:ea typeface="Martel Sans" pitchFamily="34" charset="-122"/>
                <a:cs typeface="Martel Sans" pitchFamily="34" charset="-120"/>
              </a:rPr>
              <a:t>Records the total depreciation charged on a non-current asset since acquisition. When depreciation of Sh 10,000 is recognised:</a:t>
            </a:r>
            <a:endParaRPr lang="en-US" sz="1450" dirty="0"/>
          </a:p>
        </p:txBody>
      </p:sp>
      <p:sp>
        <p:nvSpPr>
          <p:cNvPr id="7" name="Shape 5"/>
          <p:cNvSpPr/>
          <p:nvPr/>
        </p:nvSpPr>
        <p:spPr>
          <a:xfrm>
            <a:off x="713563" y="4089797"/>
            <a:ext cx="5103288" cy="967383"/>
          </a:xfrm>
          <a:prstGeom prst="roundRect">
            <a:avLst>
              <a:gd name="adj" fmla="val 8078"/>
            </a:avLst>
          </a:prstGeom>
          <a:solidFill>
            <a:srgbClr val="507D73"/>
          </a:solidFill>
          <a:ln/>
        </p:spPr>
        <p:txBody>
          <a:bodyPr/>
          <a:lstStyle/>
          <a:p>
            <a:endParaRPr lang="en-US"/>
          </a:p>
        </p:txBody>
      </p:sp>
      <p:sp>
        <p:nvSpPr>
          <p:cNvPr id="8" name="Text 6"/>
          <p:cNvSpPr/>
          <p:nvPr/>
        </p:nvSpPr>
        <p:spPr>
          <a:xfrm>
            <a:off x="936800" y="4275832"/>
            <a:ext cx="4656815" cy="595313"/>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E6EDF3"/>
                </a:solidFill>
                <a:latin typeface="Consolas" pitchFamily="34" charset="0"/>
                <a:ea typeface="Consolas" pitchFamily="34" charset="-122"/>
                <a:cs typeface="Consolas" pitchFamily="34" charset="-120"/>
              </a:rPr>
              <a:t>Dr Depreciation Expense    Sh 10,000</a:t>
            </a:r>
            <a:endParaRPr lang="en-US" sz="1450" dirty="0"/>
          </a:p>
          <a:p>
            <a:pPr marL="0" indent="0" algn="l">
              <a:lnSpc>
                <a:spcPct val="133000"/>
              </a:lnSpc>
              <a:buNone/>
            </a:pPr>
            <a:r>
              <a:rPr lang="en-US" sz="1450" dirty="0">
                <a:solidFill>
                  <a:srgbClr val="E6EDF3"/>
                </a:solidFill>
                <a:latin typeface="Consolas" pitchFamily="34" charset="0"/>
                <a:ea typeface="Consolas" pitchFamily="34" charset="-122"/>
                <a:cs typeface="Consolas" pitchFamily="34" charset="-120"/>
              </a:rPr>
              <a:t>Cr Accumulated Depreciation Sh 10,000</a:t>
            </a:r>
            <a:endParaRPr lang="en-US" sz="1450" dirty="0"/>
          </a:p>
        </p:txBody>
      </p:sp>
      <p:sp>
        <p:nvSpPr>
          <p:cNvPr id="9" name="Text 7"/>
          <p:cNvSpPr/>
          <p:nvPr/>
        </p:nvSpPr>
        <p:spPr>
          <a:xfrm>
            <a:off x="713563" y="5221982"/>
            <a:ext cx="5103288" cy="798016"/>
          </a:xfrm>
          <a:prstGeom prst="rect">
            <a:avLst/>
          </a:prstGeom>
          <a:noFill/>
          <a:ln/>
        </p:spPr>
        <p:txBody>
          <a:bodyPr wrap="square" lIns="0" tIns="0" rIns="0" bIns="0" rtlCol="0" anchor="t">
            <a:normAutofit/>
          </a:bodyPr>
          <a:lstStyle/>
          <a:p>
            <a:pPr marL="0" indent="0" algn="l">
              <a:lnSpc>
                <a:spcPct val="119000"/>
              </a:lnSpc>
              <a:buNone/>
            </a:pPr>
            <a:r>
              <a:rPr lang="en-US" sz="1450" dirty="0">
                <a:solidFill>
                  <a:srgbClr val="FFFFFF"/>
                </a:solidFill>
                <a:latin typeface="Martel Sans" pitchFamily="34" charset="0"/>
                <a:ea typeface="Martel Sans" pitchFamily="34" charset="-122"/>
                <a:cs typeface="Martel Sans" pitchFamily="34" charset="-120"/>
              </a:rPr>
              <a:t>The credit balance in accumulated depreciation reduces the carrying amount:</a:t>
            </a:r>
            <a:endParaRPr lang="en-US" sz="1450" dirty="0"/>
          </a:p>
          <a:p>
            <a:pPr marL="0" indent="0" algn="l">
              <a:lnSpc>
                <a:spcPct val="119000"/>
              </a:lnSpc>
              <a:buNone/>
            </a:pPr>
            <a:r>
              <a:rPr lang="en-US" sz="1450" b="1" dirty="0">
                <a:solidFill>
                  <a:srgbClr val="FFFFFF"/>
                </a:solidFill>
                <a:latin typeface="Martel Sans Bold" pitchFamily="34" charset="0"/>
                <a:ea typeface="Martel Sans Bold" pitchFamily="34" charset="-122"/>
                <a:cs typeface="Martel Sans Bold" pitchFamily="34" charset="-120"/>
              </a:rPr>
              <a:t>Cost – Accumulated Depreciation = Carrying Amount</a:t>
            </a:r>
            <a:endParaRPr lang="en-US" sz="1450" dirty="0"/>
          </a:p>
        </p:txBody>
      </p:sp>
      <p:sp>
        <p:nvSpPr>
          <p:cNvPr id="10" name="Text 8"/>
          <p:cNvSpPr/>
          <p:nvPr/>
        </p:nvSpPr>
        <p:spPr>
          <a:xfrm>
            <a:off x="6329105" y="2399108"/>
            <a:ext cx="5207465" cy="290711"/>
          </a:xfrm>
          <a:prstGeom prst="rect">
            <a:avLst/>
          </a:prstGeom>
          <a:noFill/>
          <a:ln/>
        </p:spPr>
        <p:txBody>
          <a:bodyPr wrap="none" lIns="0" tIns="0" rIns="0" bIns="0" rtlCol="0" anchor="t"/>
          <a:lstStyle/>
          <a:p>
            <a:pPr marL="0" indent="0" algn="l">
              <a:lnSpc>
                <a:spcPct val="104000"/>
              </a:lnSpc>
              <a:buNone/>
            </a:pPr>
            <a:r>
              <a:rPr lang="en-US" sz="1800" dirty="0">
                <a:solidFill>
                  <a:srgbClr val="272D45"/>
                </a:solidFill>
                <a:latin typeface="Kanit Light" pitchFamily="34" charset="0"/>
                <a:ea typeface="Kanit Light" pitchFamily="34" charset="-122"/>
                <a:cs typeface="Kanit Light" pitchFamily="34" charset="-120"/>
              </a:rPr>
              <a:t>(b) Expected Credit Loss (ECL) Allowance</a:t>
            </a:r>
            <a:endParaRPr lang="en-US" sz="1800" dirty="0"/>
          </a:p>
        </p:txBody>
      </p:sp>
      <p:sp>
        <p:nvSpPr>
          <p:cNvPr id="11" name="Text 9"/>
          <p:cNvSpPr/>
          <p:nvPr/>
        </p:nvSpPr>
        <p:spPr>
          <a:xfrm>
            <a:off x="6329105" y="2896989"/>
            <a:ext cx="5207465" cy="1064022"/>
          </a:xfrm>
          <a:prstGeom prst="rect">
            <a:avLst/>
          </a:prstGeom>
          <a:noFill/>
          <a:ln/>
        </p:spPr>
        <p:txBody>
          <a:bodyPr wrap="square" lIns="0" tIns="0" rIns="0" bIns="0" rtlCol="0" anchor="t">
            <a:normAutofit/>
          </a:bodyPr>
          <a:lstStyle/>
          <a:p>
            <a:pPr marL="0" indent="0" algn="just">
              <a:lnSpc>
                <a:spcPct val="119000"/>
              </a:lnSpc>
              <a:buNone/>
            </a:pPr>
            <a:r>
              <a:rPr lang="en-US" sz="1450" dirty="0">
                <a:solidFill>
                  <a:srgbClr val="2C3249"/>
                </a:solidFill>
                <a:latin typeface="Martel Sans" pitchFamily="34" charset="0"/>
                <a:ea typeface="Martel Sans" pitchFamily="34" charset="-122"/>
                <a:cs typeface="Martel Sans" pitchFamily="34" charset="-120"/>
              </a:rPr>
              <a:t>An entity recognizes a loss allowance for expected credit losses on relevant financial assets such as trade receivables and loans. If an ECL allowance of Sh 5,000 is recognised:</a:t>
            </a:r>
            <a:endParaRPr lang="en-US" sz="1450" dirty="0"/>
          </a:p>
        </p:txBody>
      </p:sp>
      <p:sp>
        <p:nvSpPr>
          <p:cNvPr id="12" name="Shape 10"/>
          <p:cNvSpPr/>
          <p:nvPr/>
        </p:nvSpPr>
        <p:spPr>
          <a:xfrm>
            <a:off x="6329105" y="4355802"/>
            <a:ext cx="5207465" cy="967383"/>
          </a:xfrm>
          <a:prstGeom prst="roundRect">
            <a:avLst>
              <a:gd name="adj" fmla="val 8078"/>
            </a:avLst>
          </a:prstGeom>
          <a:solidFill>
            <a:srgbClr val="F2F2F2"/>
          </a:solidFill>
          <a:ln/>
        </p:spPr>
        <p:txBody>
          <a:bodyPr/>
          <a:lstStyle/>
          <a:p>
            <a:endParaRPr lang="en-US"/>
          </a:p>
        </p:txBody>
      </p:sp>
      <p:sp>
        <p:nvSpPr>
          <p:cNvPr id="13" name="Text 11"/>
          <p:cNvSpPr/>
          <p:nvPr/>
        </p:nvSpPr>
        <p:spPr>
          <a:xfrm>
            <a:off x="6552342" y="4541837"/>
            <a:ext cx="4760992" cy="595313"/>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4292E"/>
                </a:solidFill>
                <a:latin typeface="Consolas" pitchFamily="34" charset="0"/>
                <a:ea typeface="Consolas" pitchFamily="34" charset="-122"/>
                <a:cs typeface="Consolas" pitchFamily="34" charset="-120"/>
              </a:rPr>
              <a:t>Dr Impairment Loss/ECL Expense  Sh 5,000</a:t>
            </a:r>
            <a:endParaRPr lang="en-US" sz="1450" dirty="0"/>
          </a:p>
          <a:p>
            <a:pPr marL="0" indent="0" algn="l">
              <a:lnSpc>
                <a:spcPct val="133000"/>
              </a:lnSpc>
              <a:buNone/>
            </a:pPr>
            <a:r>
              <a:rPr lang="en-US" sz="1450" dirty="0">
                <a:solidFill>
                  <a:srgbClr val="24292E"/>
                </a:solidFill>
                <a:latin typeface="Consolas" pitchFamily="34" charset="0"/>
                <a:ea typeface="Consolas" pitchFamily="34" charset="-122"/>
                <a:cs typeface="Consolas" pitchFamily="34" charset="-120"/>
              </a:rPr>
              <a:t>Cr Loss Allowance for ECL       Sh 5,000</a:t>
            </a:r>
            <a:endParaRPr lang="en-US" sz="1450" dirty="0"/>
          </a:p>
        </p:txBody>
      </p:sp>
      <p:sp>
        <p:nvSpPr>
          <p:cNvPr id="14" name="Text 12"/>
          <p:cNvSpPr/>
          <p:nvPr/>
        </p:nvSpPr>
        <p:spPr>
          <a:xfrm>
            <a:off x="6329105" y="5487988"/>
            <a:ext cx="5207465" cy="532011"/>
          </a:xfrm>
          <a:prstGeom prst="rect">
            <a:avLst/>
          </a:prstGeom>
          <a:noFill/>
          <a:ln/>
        </p:spPr>
        <p:txBody>
          <a:bodyPr wrap="square" lIns="0" tIns="0" rIns="0" bIns="0" rtlCol="0" anchor="t">
            <a:normAutofit/>
          </a:bodyPr>
          <a:lstStyle/>
          <a:p>
            <a:pPr marL="0" indent="0" algn="l">
              <a:lnSpc>
                <a:spcPct val="119000"/>
              </a:lnSpc>
              <a:buNone/>
            </a:pPr>
            <a:r>
              <a:rPr lang="en-US" sz="1450" dirty="0">
                <a:solidFill>
                  <a:srgbClr val="2C3249"/>
                </a:solidFill>
                <a:latin typeface="Martel Sans" pitchFamily="34" charset="0"/>
                <a:ea typeface="Martel Sans" pitchFamily="34" charset="-122"/>
                <a:cs typeface="Martel Sans" pitchFamily="34" charset="-120"/>
              </a:rPr>
              <a:t>Thus: </a:t>
            </a:r>
            <a:r>
              <a:rPr lang="en-US" sz="1450" b="1" dirty="0">
                <a:solidFill>
                  <a:srgbClr val="2C3249"/>
                </a:solidFill>
                <a:latin typeface="Martel Sans Bold" pitchFamily="34" charset="0"/>
                <a:ea typeface="Martel Sans Bold" pitchFamily="34" charset="-122"/>
                <a:cs typeface="Martel Sans Bold" pitchFamily="34" charset="-120"/>
              </a:rPr>
              <a:t>Gross receivable – ECL allowance = Net carrying amount</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3075709" y="252413"/>
            <a:ext cx="6331527" cy="472380"/>
          </a:xfrm>
          <a:prstGeom prst="rect">
            <a:avLst/>
          </a:prstGeom>
          <a:noFill/>
          <a:ln/>
        </p:spPr>
        <p:txBody>
          <a:bodyPr wrap="none" lIns="0" tIns="0" rIns="0" bIns="0" rtlCol="0" anchor="t"/>
          <a:lstStyle/>
          <a:p>
            <a:pPr marL="0" indent="0" algn="l">
              <a:lnSpc>
                <a:spcPct val="104000"/>
              </a:lnSpc>
              <a:buNone/>
            </a:pPr>
            <a:r>
              <a:rPr lang="en-US" sz="2950" dirty="0">
                <a:solidFill>
                  <a:srgbClr val="272D45"/>
                </a:solidFill>
                <a:latin typeface="Kanit Light" pitchFamily="34" charset="0"/>
                <a:ea typeface="Kanit Light" pitchFamily="34" charset="-122"/>
                <a:cs typeface="Kanit Light" pitchFamily="34" charset="-120"/>
              </a:rPr>
              <a:t>The DEAD CLIC Mnemonic</a:t>
            </a:r>
            <a:endParaRPr lang="en-US" sz="2950" dirty="0"/>
          </a:p>
        </p:txBody>
      </p:sp>
      <p:sp>
        <p:nvSpPr>
          <p:cNvPr id="3" name="Text 1"/>
          <p:cNvSpPr/>
          <p:nvPr/>
        </p:nvSpPr>
        <p:spPr>
          <a:xfrm>
            <a:off x="661475" y="1011833"/>
            <a:ext cx="7914489" cy="302518"/>
          </a:xfrm>
          <a:prstGeom prst="rect">
            <a:avLst/>
          </a:prstGeom>
          <a:noFill/>
          <a:ln/>
        </p:spPr>
        <p:txBody>
          <a:bodyPr wrap="none" lIns="0" tIns="0" rIns="0" bIns="0" rtlCol="0" anchor="t"/>
          <a:lstStyle/>
          <a:p>
            <a:pPr marL="0" indent="0" algn="l">
              <a:lnSpc>
                <a:spcPct val="109000"/>
              </a:lnSpc>
              <a:buNone/>
            </a:pPr>
            <a:r>
              <a:rPr lang="en-US" dirty="0">
                <a:solidFill>
                  <a:srgbClr val="2C3249"/>
                </a:solidFill>
                <a:latin typeface="Martel Sans" pitchFamily="34" charset="0"/>
                <a:ea typeface="Martel Sans" pitchFamily="34" charset="-122"/>
                <a:cs typeface="Martel Sans" pitchFamily="34" charset="-120"/>
              </a:rPr>
              <a:t>A useful mnemonic for remembering the normal balance of each account type is </a:t>
            </a:r>
            <a:r>
              <a:rPr lang="en-US" b="1" dirty="0">
                <a:solidFill>
                  <a:srgbClr val="2C3249"/>
                </a:solidFill>
                <a:latin typeface="Martel Sans Bold" pitchFamily="34" charset="0"/>
                <a:ea typeface="Martel Sans Bold" pitchFamily="34" charset="-122"/>
                <a:cs typeface="Martel Sans Bold" pitchFamily="34" charset="-120"/>
              </a:rPr>
              <a:t>DEAD CLIC</a:t>
            </a:r>
            <a:r>
              <a:rPr lang="en-US" dirty="0">
                <a:solidFill>
                  <a:srgbClr val="2C3249"/>
                </a:solidFill>
                <a:latin typeface="Martel Sans" pitchFamily="34" charset="0"/>
                <a:ea typeface="Martel Sans" pitchFamily="34" charset="-122"/>
                <a:cs typeface="Martel Sans" pitchFamily="34" charset="-120"/>
              </a:rPr>
              <a:t>:</a:t>
            </a:r>
            <a:endParaRPr lang="en-US" dirty="0"/>
          </a:p>
        </p:txBody>
      </p:sp>
      <p:sp>
        <p:nvSpPr>
          <p:cNvPr id="4" name="Shape 2"/>
          <p:cNvSpPr/>
          <p:nvPr/>
        </p:nvSpPr>
        <p:spPr>
          <a:xfrm>
            <a:off x="661475" y="1626989"/>
            <a:ext cx="10868745" cy="1402457"/>
          </a:xfrm>
          <a:prstGeom prst="roundRect">
            <a:avLst>
              <a:gd name="adj" fmla="val 4527"/>
            </a:avLst>
          </a:prstGeom>
          <a:solidFill>
            <a:srgbClr val="DFECE9"/>
          </a:solidFill>
          <a:ln w="6350">
            <a:solidFill>
              <a:srgbClr val="C5D2CF"/>
            </a:solidFill>
            <a:prstDash val="solid"/>
          </a:ln>
        </p:spPr>
        <p:txBody>
          <a:bodyPr/>
          <a:lstStyle/>
          <a:p>
            <a:endParaRPr lang="en-US"/>
          </a:p>
        </p:txBody>
      </p:sp>
      <p:sp>
        <p:nvSpPr>
          <p:cNvPr id="5" name="Shape 3"/>
          <p:cNvSpPr/>
          <p:nvPr/>
        </p:nvSpPr>
        <p:spPr>
          <a:xfrm>
            <a:off x="667825" y="1423095"/>
            <a:ext cx="5428023" cy="1600002"/>
          </a:xfrm>
          <a:custGeom>
            <a:avLst/>
            <a:gdLst/>
            <a:ahLst/>
            <a:cxnLst/>
            <a:rect l="l" t="t" r="r" b="b"/>
            <a:pathLst>
              <a:path w="5428023" h="1389757">
                <a:moveTo>
                  <a:pt x="52912" y="0"/>
                </a:moveTo>
                <a:lnTo>
                  <a:pt x="5428023" y="0"/>
                </a:lnTo>
                <a:lnTo>
                  <a:pt x="5428023" y="1389757"/>
                </a:lnTo>
                <a:lnTo>
                  <a:pt x="52912" y="1389757"/>
                </a:lnTo>
                <a:arcTo wR="52912" hR="52914" stAng="5400000" swAng="5400000"/>
                <a:lnTo>
                  <a:pt x="0" y="52914"/>
                </a:lnTo>
                <a:arcTo wR="52912" hR="52914" stAng="10800000" swAng="5400000"/>
                <a:close/>
              </a:path>
            </a:pathLst>
          </a:custGeom>
          <a:solidFill>
            <a:srgbClr val="DFECE9"/>
          </a:solidFill>
          <a:ln/>
        </p:spPr>
        <p:txBody>
          <a:bodyPr/>
          <a:lstStyle/>
          <a:p>
            <a:endParaRPr lang="en-US"/>
          </a:p>
        </p:txBody>
      </p:sp>
      <p:sp>
        <p:nvSpPr>
          <p:cNvPr id="6" name="Text 4"/>
          <p:cNvSpPr/>
          <p:nvPr/>
        </p:nvSpPr>
        <p:spPr>
          <a:xfrm>
            <a:off x="812581" y="1590144"/>
            <a:ext cx="5125810" cy="236240"/>
          </a:xfrm>
          <a:prstGeom prst="rect">
            <a:avLst/>
          </a:prstGeom>
          <a:noFill/>
          <a:ln/>
        </p:spPr>
        <p:txBody>
          <a:bodyPr wrap="none" lIns="0" tIns="0" rIns="0" bIns="0" rtlCol="0" anchor="t"/>
          <a:lstStyle/>
          <a:p>
            <a:pPr marL="0" indent="0" algn="l">
              <a:lnSpc>
                <a:spcPct val="104000"/>
              </a:lnSpc>
              <a:buNone/>
            </a:pPr>
            <a:r>
              <a:rPr lang="en-US" sz="1450" dirty="0">
                <a:solidFill>
                  <a:srgbClr val="437066"/>
                </a:solidFill>
                <a:latin typeface="Kanit Light" pitchFamily="34" charset="0"/>
                <a:ea typeface="Kanit Light" pitchFamily="34" charset="-122"/>
                <a:cs typeface="Kanit Light" pitchFamily="34" charset="-120"/>
              </a:rPr>
              <a:t>D</a:t>
            </a:r>
            <a:r>
              <a:rPr lang="en-US" sz="1450" dirty="0">
                <a:solidFill>
                  <a:srgbClr val="2C3249"/>
                </a:solidFill>
                <a:latin typeface="Kanit Light" pitchFamily="34" charset="0"/>
                <a:ea typeface="Kanit Light" pitchFamily="34" charset="-122"/>
                <a:cs typeface="Kanit Light" pitchFamily="34" charset="-120"/>
              </a:rPr>
              <a:t>ebit Side</a:t>
            </a:r>
            <a:endParaRPr lang="en-US" sz="1450" dirty="0"/>
          </a:p>
        </p:txBody>
      </p:sp>
      <p:sp>
        <p:nvSpPr>
          <p:cNvPr id="7" name="Text 5"/>
          <p:cNvSpPr/>
          <p:nvPr/>
        </p:nvSpPr>
        <p:spPr>
          <a:xfrm>
            <a:off x="818931" y="2078633"/>
            <a:ext cx="5125810" cy="793353"/>
          </a:xfrm>
          <a:prstGeom prst="rect">
            <a:avLst/>
          </a:prstGeom>
          <a:noFill/>
          <a:ln/>
        </p:spPr>
        <p:txBody>
          <a:bodyPr wrap="square" lIns="0" tIns="0" rIns="0" bIns="0" rtlCol="0" anchor="t">
            <a:normAutofit/>
          </a:bodyPr>
          <a:lstStyle/>
          <a:p>
            <a:pPr marL="0" indent="0" algn="l">
              <a:lnSpc>
                <a:spcPct val="109000"/>
              </a:lnSpc>
              <a:buNone/>
            </a:pPr>
            <a:r>
              <a:rPr lang="en-US" sz="1150" b="1" dirty="0">
                <a:solidFill>
                  <a:srgbClr val="2C3249"/>
                </a:solidFill>
                <a:latin typeface="Martel Sans Bold" pitchFamily="34" charset="0"/>
                <a:ea typeface="Martel Sans Bold" pitchFamily="34" charset="-122"/>
                <a:cs typeface="Martel Sans Bold" pitchFamily="34" charset="-120"/>
              </a:rPr>
              <a:t>D</a:t>
            </a:r>
            <a:r>
              <a:rPr lang="en-US" sz="1150" dirty="0">
                <a:solidFill>
                  <a:srgbClr val="2C3249"/>
                </a:solidFill>
                <a:latin typeface="Martel Sans" pitchFamily="34" charset="0"/>
                <a:ea typeface="Martel Sans" pitchFamily="34" charset="-122"/>
                <a:cs typeface="Martel Sans" pitchFamily="34" charset="-120"/>
              </a:rPr>
              <a:t>rawings/Dividends</a:t>
            </a:r>
            <a:endParaRPr lang="en-US" sz="1150" dirty="0"/>
          </a:p>
          <a:p>
            <a:pPr marL="0" indent="0" algn="l">
              <a:lnSpc>
                <a:spcPct val="109000"/>
              </a:lnSpc>
              <a:buNone/>
            </a:pPr>
            <a:r>
              <a:rPr lang="en-US" sz="1150" b="1" dirty="0">
                <a:solidFill>
                  <a:srgbClr val="2C3249"/>
                </a:solidFill>
                <a:latin typeface="Martel Sans Bold" pitchFamily="34" charset="0"/>
                <a:ea typeface="Martel Sans Bold" pitchFamily="34" charset="-122"/>
                <a:cs typeface="Martel Sans Bold" pitchFamily="34" charset="-120"/>
              </a:rPr>
              <a:t>E</a:t>
            </a:r>
            <a:r>
              <a:rPr lang="en-US" sz="1150" dirty="0">
                <a:solidFill>
                  <a:srgbClr val="2C3249"/>
                </a:solidFill>
                <a:latin typeface="Martel Sans" pitchFamily="34" charset="0"/>
                <a:ea typeface="Martel Sans" pitchFamily="34" charset="-122"/>
                <a:cs typeface="Martel Sans" pitchFamily="34" charset="-120"/>
              </a:rPr>
              <a:t>xpenses</a:t>
            </a:r>
            <a:endParaRPr lang="en-US" sz="1150" dirty="0"/>
          </a:p>
          <a:p>
            <a:pPr marL="0" indent="0" algn="l">
              <a:lnSpc>
                <a:spcPct val="109000"/>
              </a:lnSpc>
              <a:buNone/>
            </a:pPr>
            <a:r>
              <a:rPr lang="en-US" sz="1150" b="1" dirty="0">
                <a:solidFill>
                  <a:srgbClr val="2C3249"/>
                </a:solidFill>
                <a:latin typeface="Martel Sans Bold" pitchFamily="34" charset="0"/>
                <a:ea typeface="Martel Sans Bold" pitchFamily="34" charset="-122"/>
                <a:cs typeface="Martel Sans Bold" pitchFamily="34" charset="-120"/>
              </a:rPr>
              <a:t>A</a:t>
            </a:r>
            <a:r>
              <a:rPr lang="en-US" sz="1150" dirty="0">
                <a:solidFill>
                  <a:srgbClr val="2C3249"/>
                </a:solidFill>
                <a:latin typeface="Martel Sans" pitchFamily="34" charset="0"/>
                <a:ea typeface="Martel Sans" pitchFamily="34" charset="-122"/>
                <a:cs typeface="Martel Sans" pitchFamily="34" charset="-120"/>
              </a:rPr>
              <a:t>ssets</a:t>
            </a:r>
            <a:endParaRPr lang="en-US" sz="1150" dirty="0"/>
          </a:p>
          <a:p>
            <a:pPr marL="0" indent="0" algn="l">
              <a:lnSpc>
                <a:spcPct val="109000"/>
              </a:lnSpc>
              <a:buNone/>
            </a:pPr>
            <a:r>
              <a:rPr lang="en-US" sz="1150" b="1" dirty="0">
                <a:solidFill>
                  <a:srgbClr val="2C3249"/>
                </a:solidFill>
                <a:latin typeface="Martel Sans Bold" pitchFamily="34" charset="0"/>
                <a:ea typeface="Martel Sans Bold" pitchFamily="34" charset="-122"/>
                <a:cs typeface="Martel Sans Bold" pitchFamily="34" charset="-120"/>
              </a:rPr>
              <a:t>D</a:t>
            </a:r>
            <a:r>
              <a:rPr lang="en-US" sz="1150" dirty="0">
                <a:solidFill>
                  <a:srgbClr val="2C3249"/>
                </a:solidFill>
                <a:latin typeface="Martel Sans" pitchFamily="34" charset="0"/>
                <a:ea typeface="Martel Sans" pitchFamily="34" charset="-122"/>
                <a:cs typeface="Martel Sans" pitchFamily="34" charset="-120"/>
              </a:rPr>
              <a:t>ebit normal balance</a:t>
            </a:r>
            <a:endParaRPr lang="en-US" sz="1150" dirty="0"/>
          </a:p>
        </p:txBody>
      </p:sp>
      <p:sp>
        <p:nvSpPr>
          <p:cNvPr id="8" name="Shape 6"/>
          <p:cNvSpPr/>
          <p:nvPr/>
        </p:nvSpPr>
        <p:spPr>
          <a:xfrm>
            <a:off x="6095848" y="1423095"/>
            <a:ext cx="5428023" cy="1600001"/>
          </a:xfrm>
          <a:custGeom>
            <a:avLst/>
            <a:gdLst/>
            <a:ahLst/>
            <a:cxnLst/>
            <a:rect l="l" t="t" r="r" b="b"/>
            <a:pathLst>
              <a:path w="5428023" h="1389757">
                <a:moveTo>
                  <a:pt x="0" y="0"/>
                </a:moveTo>
                <a:lnTo>
                  <a:pt x="5375111" y="0"/>
                </a:lnTo>
                <a:arcTo wR="52912" hR="52914" stAng="16200000" swAng="5400000"/>
                <a:lnTo>
                  <a:pt x="5428023" y="1336843"/>
                </a:lnTo>
                <a:arcTo wR="52912" hR="52914" stAng="0" swAng="5400000"/>
                <a:lnTo>
                  <a:pt x="0" y="1389757"/>
                </a:lnTo>
                <a:lnTo>
                  <a:pt x="0" y="0"/>
                </a:lnTo>
                <a:close/>
              </a:path>
            </a:pathLst>
          </a:custGeom>
          <a:solidFill>
            <a:srgbClr val="DFECE9"/>
          </a:solidFill>
          <a:ln/>
        </p:spPr>
        <p:txBody>
          <a:bodyPr/>
          <a:lstStyle/>
          <a:p>
            <a:endParaRPr lang="en-US"/>
          </a:p>
        </p:txBody>
      </p:sp>
      <p:sp>
        <p:nvSpPr>
          <p:cNvPr id="9" name="Shape 7"/>
          <p:cNvSpPr/>
          <p:nvPr/>
        </p:nvSpPr>
        <p:spPr>
          <a:xfrm>
            <a:off x="6095848" y="1633339"/>
            <a:ext cx="19050" cy="1389757"/>
          </a:xfrm>
          <a:prstGeom prst="roundRect">
            <a:avLst>
              <a:gd name="adj" fmla="val 49999"/>
            </a:avLst>
          </a:prstGeom>
          <a:solidFill>
            <a:srgbClr val="C5D2CF"/>
          </a:solidFill>
          <a:ln/>
        </p:spPr>
        <p:txBody>
          <a:bodyPr/>
          <a:lstStyle/>
          <a:p>
            <a:endParaRPr lang="en-US"/>
          </a:p>
        </p:txBody>
      </p:sp>
      <p:sp>
        <p:nvSpPr>
          <p:cNvPr id="10" name="Text 8"/>
          <p:cNvSpPr/>
          <p:nvPr/>
        </p:nvSpPr>
        <p:spPr>
          <a:xfrm>
            <a:off x="6237429" y="1590144"/>
            <a:ext cx="5125810" cy="236240"/>
          </a:xfrm>
          <a:prstGeom prst="rect">
            <a:avLst/>
          </a:prstGeom>
          <a:noFill/>
          <a:ln/>
        </p:spPr>
        <p:txBody>
          <a:bodyPr wrap="none" lIns="0" tIns="0" rIns="0" bIns="0" rtlCol="0" anchor="t"/>
          <a:lstStyle/>
          <a:p>
            <a:pPr marL="0" indent="0" algn="l">
              <a:lnSpc>
                <a:spcPct val="104000"/>
              </a:lnSpc>
              <a:buNone/>
            </a:pPr>
            <a:r>
              <a:rPr lang="en-US" sz="1450" dirty="0">
                <a:solidFill>
                  <a:srgbClr val="437066"/>
                </a:solidFill>
                <a:latin typeface="Kanit Light" pitchFamily="34" charset="0"/>
                <a:ea typeface="Kanit Light" pitchFamily="34" charset="-122"/>
                <a:cs typeface="Kanit Light" pitchFamily="34" charset="-120"/>
              </a:rPr>
              <a:t>C</a:t>
            </a:r>
            <a:r>
              <a:rPr lang="en-US" sz="1450" dirty="0">
                <a:solidFill>
                  <a:srgbClr val="2C3249"/>
                </a:solidFill>
                <a:latin typeface="Kanit Light" pitchFamily="34" charset="0"/>
                <a:ea typeface="Kanit Light" pitchFamily="34" charset="-122"/>
                <a:cs typeface="Kanit Light" pitchFamily="34" charset="-120"/>
              </a:rPr>
              <a:t>redit Side</a:t>
            </a:r>
            <a:endParaRPr lang="en-US" sz="1450" dirty="0"/>
          </a:p>
        </p:txBody>
      </p:sp>
      <p:sp>
        <p:nvSpPr>
          <p:cNvPr id="11" name="Text 9"/>
          <p:cNvSpPr/>
          <p:nvPr/>
        </p:nvSpPr>
        <p:spPr>
          <a:xfrm>
            <a:off x="6246954" y="2078633"/>
            <a:ext cx="5125810" cy="793353"/>
          </a:xfrm>
          <a:prstGeom prst="rect">
            <a:avLst/>
          </a:prstGeom>
          <a:noFill/>
          <a:ln/>
        </p:spPr>
        <p:txBody>
          <a:bodyPr wrap="square" lIns="0" tIns="0" rIns="0" bIns="0" rtlCol="0" anchor="t">
            <a:normAutofit/>
          </a:bodyPr>
          <a:lstStyle/>
          <a:p>
            <a:pPr marL="0" indent="0" algn="l">
              <a:lnSpc>
                <a:spcPct val="109000"/>
              </a:lnSpc>
              <a:buNone/>
            </a:pPr>
            <a:r>
              <a:rPr lang="en-US" sz="1150" b="1" dirty="0">
                <a:solidFill>
                  <a:srgbClr val="2C3249"/>
                </a:solidFill>
                <a:latin typeface="Martel Sans Bold" pitchFamily="34" charset="0"/>
                <a:ea typeface="Martel Sans Bold" pitchFamily="34" charset="-122"/>
                <a:cs typeface="Martel Sans Bold" pitchFamily="34" charset="-120"/>
              </a:rPr>
              <a:t>C</a:t>
            </a:r>
            <a:r>
              <a:rPr lang="en-US" sz="1150" dirty="0">
                <a:solidFill>
                  <a:srgbClr val="2C3249"/>
                </a:solidFill>
                <a:latin typeface="Martel Sans" pitchFamily="34" charset="0"/>
                <a:ea typeface="Martel Sans" pitchFamily="34" charset="-122"/>
                <a:cs typeface="Martel Sans" pitchFamily="34" charset="-120"/>
              </a:rPr>
              <a:t>apital</a:t>
            </a:r>
            <a:endParaRPr lang="en-US" sz="1150" dirty="0"/>
          </a:p>
          <a:p>
            <a:pPr marL="0" indent="0" algn="l">
              <a:lnSpc>
                <a:spcPct val="109000"/>
              </a:lnSpc>
              <a:buNone/>
            </a:pPr>
            <a:r>
              <a:rPr lang="en-US" sz="1150" b="1" dirty="0">
                <a:solidFill>
                  <a:srgbClr val="2C3249"/>
                </a:solidFill>
                <a:latin typeface="Martel Sans Bold" pitchFamily="34" charset="0"/>
                <a:ea typeface="Martel Sans Bold" pitchFamily="34" charset="-122"/>
                <a:cs typeface="Martel Sans Bold" pitchFamily="34" charset="-120"/>
              </a:rPr>
              <a:t>L</a:t>
            </a:r>
            <a:r>
              <a:rPr lang="en-US" sz="1150" dirty="0">
                <a:solidFill>
                  <a:srgbClr val="2C3249"/>
                </a:solidFill>
                <a:latin typeface="Martel Sans" pitchFamily="34" charset="0"/>
                <a:ea typeface="Martel Sans" pitchFamily="34" charset="-122"/>
                <a:cs typeface="Martel Sans" pitchFamily="34" charset="-120"/>
              </a:rPr>
              <a:t>iabilities</a:t>
            </a:r>
            <a:endParaRPr lang="en-US" sz="1150" dirty="0"/>
          </a:p>
          <a:p>
            <a:pPr marL="0" indent="0" algn="l">
              <a:lnSpc>
                <a:spcPct val="109000"/>
              </a:lnSpc>
              <a:buNone/>
            </a:pPr>
            <a:r>
              <a:rPr lang="en-US" sz="1150" b="1" dirty="0">
                <a:solidFill>
                  <a:srgbClr val="2C3249"/>
                </a:solidFill>
                <a:latin typeface="Martel Sans Bold" pitchFamily="34" charset="0"/>
                <a:ea typeface="Martel Sans Bold" pitchFamily="34" charset="-122"/>
                <a:cs typeface="Martel Sans Bold" pitchFamily="34" charset="-120"/>
              </a:rPr>
              <a:t>I</a:t>
            </a:r>
            <a:r>
              <a:rPr lang="en-US" sz="1150" dirty="0">
                <a:solidFill>
                  <a:srgbClr val="2C3249"/>
                </a:solidFill>
                <a:latin typeface="Martel Sans" pitchFamily="34" charset="0"/>
                <a:ea typeface="Martel Sans" pitchFamily="34" charset="-122"/>
                <a:cs typeface="Martel Sans" pitchFamily="34" charset="-120"/>
              </a:rPr>
              <a:t>ncome</a:t>
            </a:r>
            <a:endParaRPr lang="en-US" sz="1150" dirty="0"/>
          </a:p>
          <a:p>
            <a:pPr marL="0" indent="0" algn="l">
              <a:lnSpc>
                <a:spcPct val="109000"/>
              </a:lnSpc>
              <a:buNone/>
            </a:pPr>
            <a:r>
              <a:rPr lang="en-US" sz="1150" b="1" dirty="0">
                <a:solidFill>
                  <a:srgbClr val="2C3249"/>
                </a:solidFill>
                <a:latin typeface="Martel Sans Bold" pitchFamily="34" charset="0"/>
                <a:ea typeface="Martel Sans Bold" pitchFamily="34" charset="-122"/>
                <a:cs typeface="Martel Sans Bold" pitchFamily="34" charset="-120"/>
              </a:rPr>
              <a:t>C</a:t>
            </a:r>
            <a:r>
              <a:rPr lang="en-US" sz="1150" dirty="0">
                <a:solidFill>
                  <a:srgbClr val="2C3249"/>
                </a:solidFill>
                <a:latin typeface="Martel Sans" pitchFamily="34" charset="0"/>
                <a:ea typeface="Martel Sans" pitchFamily="34" charset="-122"/>
                <a:cs typeface="Martel Sans" pitchFamily="34" charset="-120"/>
              </a:rPr>
              <a:t>redit normal balance</a:t>
            </a:r>
            <a:endParaRPr lang="en-US" sz="1150" dirty="0"/>
          </a:p>
        </p:txBody>
      </p:sp>
      <p:sp>
        <p:nvSpPr>
          <p:cNvPr id="12" name="Shape 10"/>
          <p:cNvSpPr/>
          <p:nvPr/>
        </p:nvSpPr>
        <p:spPr>
          <a:xfrm>
            <a:off x="661475" y="3138190"/>
            <a:ext cx="10868745" cy="655737"/>
          </a:xfrm>
          <a:prstGeom prst="roundRect">
            <a:avLst>
              <a:gd name="adj" fmla="val 9683"/>
            </a:avLst>
          </a:prstGeom>
          <a:solidFill>
            <a:srgbClr val="DFECE9"/>
          </a:solidFill>
          <a:ln/>
        </p:spPr>
        <p:txBody>
          <a:bodyPr/>
          <a:lstStyle/>
          <a:p>
            <a:endParaRPr lang="en-US"/>
          </a:p>
        </p:txBody>
      </p:sp>
      <p:pic>
        <p:nvPicPr>
          <p:cNvPr id="13" name="Image 0" descr="preencoded.png"/>
          <p:cNvPicPr>
            <a:picLocks noChangeAspect="1"/>
          </p:cNvPicPr>
          <p:nvPr/>
        </p:nvPicPr>
        <p:blipFill>
          <a:blip r:embed="rId3"/>
          <a:stretch>
            <a:fillRect/>
          </a:stretch>
        </p:blipFill>
        <p:spPr>
          <a:xfrm>
            <a:off x="812581" y="3279973"/>
            <a:ext cx="188908" cy="151110"/>
          </a:xfrm>
          <a:prstGeom prst="rect">
            <a:avLst/>
          </a:prstGeom>
        </p:spPr>
      </p:pic>
      <p:sp>
        <p:nvSpPr>
          <p:cNvPr id="14" name="Text 11"/>
          <p:cNvSpPr/>
          <p:nvPr/>
        </p:nvSpPr>
        <p:spPr>
          <a:xfrm>
            <a:off x="1152595" y="3272532"/>
            <a:ext cx="10226518" cy="396677"/>
          </a:xfrm>
          <a:prstGeom prst="rect">
            <a:avLst/>
          </a:prstGeom>
          <a:noFill/>
          <a:ln/>
        </p:spPr>
        <p:txBody>
          <a:bodyPr wrap="square" lIns="0" tIns="0" rIns="0" bIns="0" rtlCol="0" anchor="t">
            <a:noAutofit/>
          </a:bodyPr>
          <a:lstStyle/>
          <a:p>
            <a:pPr marL="0" indent="0" algn="l">
              <a:lnSpc>
                <a:spcPct val="109000"/>
              </a:lnSpc>
              <a:buNone/>
            </a:pPr>
            <a:r>
              <a:rPr lang="en-US" sz="1400" dirty="0">
                <a:solidFill>
                  <a:srgbClr val="000000"/>
                </a:solidFill>
                <a:latin typeface="Martel Sans" pitchFamily="34" charset="0"/>
                <a:ea typeface="Martel Sans" pitchFamily="34" charset="-122"/>
                <a:cs typeface="Martel Sans" pitchFamily="34" charset="-120"/>
              </a:rPr>
              <a:t>For contra-assets: although they relate to assets, they normally carry a </a:t>
            </a:r>
            <a:r>
              <a:rPr lang="en-US" sz="1400" b="1" dirty="0">
                <a:solidFill>
                  <a:srgbClr val="000000"/>
                </a:solidFill>
                <a:latin typeface="Martel Sans Bold" pitchFamily="34" charset="0"/>
                <a:ea typeface="Martel Sans Bold" pitchFamily="34" charset="-122"/>
                <a:cs typeface="Martel Sans Bold" pitchFamily="34" charset="-120"/>
              </a:rPr>
              <a:t>credit balance</a:t>
            </a:r>
            <a:r>
              <a:rPr lang="en-US" sz="1400" dirty="0">
                <a:solidFill>
                  <a:srgbClr val="000000"/>
                </a:solidFill>
                <a:latin typeface="Martel Sans" pitchFamily="34" charset="0"/>
                <a:ea typeface="Martel Sans" pitchFamily="34" charset="-122"/>
                <a:cs typeface="Martel Sans" pitchFamily="34" charset="-120"/>
              </a:rPr>
              <a:t> because they reduce the related asset. This is an important exception to the simple asset rule.</a:t>
            </a:r>
            <a:endParaRPr lang="en-US" sz="1400" dirty="0"/>
          </a:p>
        </p:txBody>
      </p:sp>
      <p:sp>
        <p:nvSpPr>
          <p:cNvPr id="15" name="Shape 12"/>
          <p:cNvSpPr/>
          <p:nvPr/>
        </p:nvSpPr>
        <p:spPr>
          <a:xfrm>
            <a:off x="661475" y="3902670"/>
            <a:ext cx="10868745" cy="2301180"/>
          </a:xfrm>
          <a:prstGeom prst="roundRect">
            <a:avLst>
              <a:gd name="adj" fmla="val 2759"/>
            </a:avLst>
          </a:prstGeom>
          <a:noFill/>
          <a:ln w="6350">
            <a:solidFill>
              <a:srgbClr val="000000">
                <a:alpha val="8000"/>
              </a:srgbClr>
            </a:solidFill>
            <a:prstDash val="solid"/>
          </a:ln>
        </p:spPr>
        <p:txBody>
          <a:bodyPr/>
          <a:lstStyle/>
          <a:p>
            <a:endParaRPr lang="en-US"/>
          </a:p>
        </p:txBody>
      </p:sp>
      <p:sp>
        <p:nvSpPr>
          <p:cNvPr id="16" name="Shape 13"/>
          <p:cNvSpPr/>
          <p:nvPr/>
        </p:nvSpPr>
        <p:spPr>
          <a:xfrm>
            <a:off x="667825" y="3909020"/>
            <a:ext cx="10854954" cy="326926"/>
          </a:xfrm>
          <a:prstGeom prst="rect">
            <a:avLst/>
          </a:prstGeom>
          <a:solidFill>
            <a:srgbClr val="FFFFFF">
              <a:alpha val="4000"/>
            </a:srgbClr>
          </a:solidFill>
          <a:ln/>
        </p:spPr>
        <p:txBody>
          <a:bodyPr/>
          <a:lstStyle/>
          <a:p>
            <a:endParaRPr lang="en-US"/>
          </a:p>
        </p:txBody>
      </p:sp>
      <p:sp>
        <p:nvSpPr>
          <p:cNvPr id="17" name="Text 14"/>
          <p:cNvSpPr/>
          <p:nvPr/>
        </p:nvSpPr>
        <p:spPr>
          <a:xfrm>
            <a:off x="820122" y="3973314"/>
            <a:ext cx="3922118" cy="198338"/>
          </a:xfrm>
          <a:prstGeom prst="rect">
            <a:avLst/>
          </a:prstGeom>
          <a:noFill/>
          <a:ln/>
        </p:spPr>
        <p:txBody>
          <a:bodyPr wrap="none" lIns="0" tIns="0" rIns="0" bIns="0" rtlCol="0" anchor="t"/>
          <a:lstStyle/>
          <a:p>
            <a:pPr marL="0" indent="0" algn="l">
              <a:lnSpc>
                <a:spcPct val="109000"/>
              </a:lnSpc>
              <a:buNone/>
            </a:pPr>
            <a:r>
              <a:rPr lang="en-US" sz="1150" b="1" dirty="0">
                <a:solidFill>
                  <a:srgbClr val="2C3249"/>
                </a:solidFill>
                <a:latin typeface="Martel Sans Bold" pitchFamily="34" charset="0"/>
                <a:ea typeface="Martel Sans Bold" pitchFamily="34" charset="-122"/>
                <a:cs typeface="Martel Sans Bold" pitchFamily="34" charset="-120"/>
              </a:rPr>
              <a:t>Account Category</a:t>
            </a:r>
            <a:endParaRPr lang="en-US" sz="1150" dirty="0"/>
          </a:p>
        </p:txBody>
      </p:sp>
      <p:sp>
        <p:nvSpPr>
          <p:cNvPr id="18" name="Text 15"/>
          <p:cNvSpPr/>
          <p:nvPr/>
        </p:nvSpPr>
        <p:spPr>
          <a:xfrm>
            <a:off x="4441218" y="3973314"/>
            <a:ext cx="3918943" cy="198338"/>
          </a:xfrm>
          <a:prstGeom prst="rect">
            <a:avLst/>
          </a:prstGeom>
          <a:noFill/>
          <a:ln/>
        </p:spPr>
        <p:txBody>
          <a:bodyPr wrap="none" lIns="0" tIns="0" rIns="0" bIns="0" rtlCol="0" anchor="t"/>
          <a:lstStyle/>
          <a:p>
            <a:pPr marL="0" indent="0" algn="l">
              <a:lnSpc>
                <a:spcPct val="109000"/>
              </a:lnSpc>
              <a:buNone/>
            </a:pPr>
            <a:r>
              <a:rPr lang="en-US" sz="1150" b="1" dirty="0">
                <a:solidFill>
                  <a:srgbClr val="2C3249"/>
                </a:solidFill>
                <a:latin typeface="Martel Sans Bold" pitchFamily="34" charset="0"/>
                <a:ea typeface="Martel Sans Bold" pitchFamily="34" charset="-122"/>
                <a:cs typeface="Martel Sans Bold" pitchFamily="34" charset="-120"/>
              </a:rPr>
              <a:t>Increase</a:t>
            </a:r>
            <a:endParaRPr lang="en-US" sz="1150" dirty="0"/>
          </a:p>
        </p:txBody>
      </p:sp>
      <p:sp>
        <p:nvSpPr>
          <p:cNvPr id="19" name="Text 16"/>
          <p:cNvSpPr/>
          <p:nvPr/>
        </p:nvSpPr>
        <p:spPr>
          <a:xfrm>
            <a:off x="8059139" y="3973314"/>
            <a:ext cx="3922118" cy="198338"/>
          </a:xfrm>
          <a:prstGeom prst="rect">
            <a:avLst/>
          </a:prstGeom>
          <a:noFill/>
          <a:ln/>
        </p:spPr>
        <p:txBody>
          <a:bodyPr wrap="none" lIns="0" tIns="0" rIns="0" bIns="0" rtlCol="0" anchor="t"/>
          <a:lstStyle/>
          <a:p>
            <a:pPr marL="0" indent="0" algn="l">
              <a:lnSpc>
                <a:spcPct val="109000"/>
              </a:lnSpc>
              <a:buNone/>
            </a:pPr>
            <a:r>
              <a:rPr lang="en-US" sz="1150" b="1" dirty="0">
                <a:solidFill>
                  <a:srgbClr val="2C3249"/>
                </a:solidFill>
                <a:latin typeface="Martel Sans Bold" pitchFamily="34" charset="0"/>
                <a:ea typeface="Martel Sans Bold" pitchFamily="34" charset="-122"/>
                <a:cs typeface="Martel Sans Bold" pitchFamily="34" charset="-120"/>
              </a:rPr>
              <a:t>Decrease</a:t>
            </a:r>
            <a:endParaRPr lang="en-US" sz="1150" dirty="0"/>
          </a:p>
        </p:txBody>
      </p:sp>
      <p:sp>
        <p:nvSpPr>
          <p:cNvPr id="20" name="Shape 17"/>
          <p:cNvSpPr/>
          <p:nvPr/>
        </p:nvSpPr>
        <p:spPr>
          <a:xfrm>
            <a:off x="667825" y="4235946"/>
            <a:ext cx="10854954" cy="326926"/>
          </a:xfrm>
          <a:prstGeom prst="rect">
            <a:avLst/>
          </a:prstGeom>
          <a:solidFill>
            <a:srgbClr val="000000">
              <a:alpha val="4000"/>
            </a:srgbClr>
          </a:solidFill>
          <a:ln/>
        </p:spPr>
        <p:txBody>
          <a:bodyPr/>
          <a:lstStyle/>
          <a:p>
            <a:endParaRPr lang="en-US"/>
          </a:p>
        </p:txBody>
      </p:sp>
      <p:sp>
        <p:nvSpPr>
          <p:cNvPr id="21" name="Text 18"/>
          <p:cNvSpPr/>
          <p:nvPr/>
        </p:nvSpPr>
        <p:spPr>
          <a:xfrm>
            <a:off x="820122" y="4300240"/>
            <a:ext cx="3922118" cy="198338"/>
          </a:xfrm>
          <a:prstGeom prst="rect">
            <a:avLst/>
          </a:prstGeom>
          <a:noFill/>
          <a:ln/>
        </p:spPr>
        <p:txBody>
          <a:bodyPr wrap="none" lIns="0" tIns="0" rIns="0" bIns="0" rtlCol="0" anchor="t"/>
          <a:lstStyle/>
          <a:p>
            <a:pPr marL="0" indent="0" algn="l">
              <a:lnSpc>
                <a:spcPct val="109000"/>
              </a:lnSpc>
              <a:buNone/>
            </a:pPr>
            <a:r>
              <a:rPr lang="en-US" sz="1150" dirty="0">
                <a:solidFill>
                  <a:srgbClr val="2C3249"/>
                </a:solidFill>
                <a:latin typeface="Martel Sans" pitchFamily="34" charset="0"/>
                <a:ea typeface="Martel Sans" pitchFamily="34" charset="-122"/>
                <a:cs typeface="Martel Sans" pitchFamily="34" charset="-120"/>
              </a:rPr>
              <a:t>Assets</a:t>
            </a:r>
            <a:endParaRPr lang="en-US" sz="1150" dirty="0"/>
          </a:p>
        </p:txBody>
      </p:sp>
      <p:sp>
        <p:nvSpPr>
          <p:cNvPr id="22" name="Text 19"/>
          <p:cNvSpPr/>
          <p:nvPr/>
        </p:nvSpPr>
        <p:spPr>
          <a:xfrm>
            <a:off x="4441218" y="4300240"/>
            <a:ext cx="3918943" cy="198338"/>
          </a:xfrm>
          <a:prstGeom prst="rect">
            <a:avLst/>
          </a:prstGeom>
          <a:noFill/>
          <a:ln/>
        </p:spPr>
        <p:txBody>
          <a:bodyPr wrap="none" lIns="0" tIns="0" rIns="0" bIns="0" rtlCol="0" anchor="t"/>
          <a:lstStyle/>
          <a:p>
            <a:pPr marL="0" indent="0" algn="l">
              <a:lnSpc>
                <a:spcPct val="109000"/>
              </a:lnSpc>
              <a:buNone/>
            </a:pPr>
            <a:r>
              <a:rPr lang="en-US" sz="1150" dirty="0">
                <a:solidFill>
                  <a:srgbClr val="2C3249"/>
                </a:solidFill>
                <a:latin typeface="Martel Sans" pitchFamily="34" charset="0"/>
                <a:ea typeface="Martel Sans" pitchFamily="34" charset="-122"/>
                <a:cs typeface="Martel Sans" pitchFamily="34" charset="-120"/>
              </a:rPr>
              <a:t>Debit</a:t>
            </a:r>
            <a:endParaRPr lang="en-US" sz="1150" dirty="0"/>
          </a:p>
        </p:txBody>
      </p:sp>
      <p:sp>
        <p:nvSpPr>
          <p:cNvPr id="23" name="Text 20"/>
          <p:cNvSpPr/>
          <p:nvPr/>
        </p:nvSpPr>
        <p:spPr>
          <a:xfrm>
            <a:off x="8059139" y="4300240"/>
            <a:ext cx="3922118" cy="198338"/>
          </a:xfrm>
          <a:prstGeom prst="rect">
            <a:avLst/>
          </a:prstGeom>
          <a:noFill/>
          <a:ln/>
        </p:spPr>
        <p:txBody>
          <a:bodyPr wrap="none" lIns="0" tIns="0" rIns="0" bIns="0" rtlCol="0" anchor="t"/>
          <a:lstStyle/>
          <a:p>
            <a:pPr marL="0" indent="0" algn="l">
              <a:lnSpc>
                <a:spcPct val="109000"/>
              </a:lnSpc>
              <a:buNone/>
            </a:pPr>
            <a:r>
              <a:rPr lang="en-US" sz="1150" dirty="0">
                <a:solidFill>
                  <a:srgbClr val="2C3249"/>
                </a:solidFill>
                <a:latin typeface="Martel Sans" pitchFamily="34" charset="0"/>
                <a:ea typeface="Martel Sans" pitchFamily="34" charset="-122"/>
                <a:cs typeface="Martel Sans" pitchFamily="34" charset="-120"/>
              </a:rPr>
              <a:t>Credit</a:t>
            </a:r>
            <a:endParaRPr lang="en-US" sz="1150" dirty="0"/>
          </a:p>
        </p:txBody>
      </p:sp>
      <p:sp>
        <p:nvSpPr>
          <p:cNvPr id="24" name="Shape 21"/>
          <p:cNvSpPr/>
          <p:nvPr/>
        </p:nvSpPr>
        <p:spPr>
          <a:xfrm>
            <a:off x="667825" y="4562872"/>
            <a:ext cx="10854954" cy="326926"/>
          </a:xfrm>
          <a:prstGeom prst="rect">
            <a:avLst/>
          </a:prstGeom>
          <a:solidFill>
            <a:srgbClr val="FFFFFF">
              <a:alpha val="4000"/>
            </a:srgbClr>
          </a:solidFill>
          <a:ln/>
        </p:spPr>
        <p:txBody>
          <a:bodyPr/>
          <a:lstStyle/>
          <a:p>
            <a:endParaRPr lang="en-US"/>
          </a:p>
        </p:txBody>
      </p:sp>
      <p:sp>
        <p:nvSpPr>
          <p:cNvPr id="25" name="Text 22"/>
          <p:cNvSpPr/>
          <p:nvPr/>
        </p:nvSpPr>
        <p:spPr>
          <a:xfrm>
            <a:off x="820122" y="4627166"/>
            <a:ext cx="3922118" cy="198338"/>
          </a:xfrm>
          <a:prstGeom prst="rect">
            <a:avLst/>
          </a:prstGeom>
          <a:noFill/>
          <a:ln/>
        </p:spPr>
        <p:txBody>
          <a:bodyPr wrap="none" lIns="0" tIns="0" rIns="0" bIns="0" rtlCol="0" anchor="t"/>
          <a:lstStyle/>
          <a:p>
            <a:pPr marL="0" indent="0" algn="l">
              <a:lnSpc>
                <a:spcPct val="109000"/>
              </a:lnSpc>
              <a:buNone/>
            </a:pPr>
            <a:r>
              <a:rPr lang="en-US" sz="1150" dirty="0">
                <a:solidFill>
                  <a:srgbClr val="2C3249"/>
                </a:solidFill>
                <a:latin typeface="Martel Sans" pitchFamily="34" charset="0"/>
                <a:ea typeface="Martel Sans" pitchFamily="34" charset="-122"/>
                <a:cs typeface="Martel Sans" pitchFamily="34" charset="-120"/>
              </a:rPr>
              <a:t>Liabilities</a:t>
            </a:r>
            <a:endParaRPr lang="en-US" sz="1150" dirty="0"/>
          </a:p>
        </p:txBody>
      </p:sp>
      <p:sp>
        <p:nvSpPr>
          <p:cNvPr id="26" name="Text 23"/>
          <p:cNvSpPr/>
          <p:nvPr/>
        </p:nvSpPr>
        <p:spPr>
          <a:xfrm>
            <a:off x="4441218" y="4627166"/>
            <a:ext cx="3918943" cy="198338"/>
          </a:xfrm>
          <a:prstGeom prst="rect">
            <a:avLst/>
          </a:prstGeom>
          <a:noFill/>
          <a:ln/>
        </p:spPr>
        <p:txBody>
          <a:bodyPr wrap="none" lIns="0" tIns="0" rIns="0" bIns="0" rtlCol="0" anchor="t"/>
          <a:lstStyle/>
          <a:p>
            <a:pPr marL="0" indent="0" algn="l">
              <a:lnSpc>
                <a:spcPct val="109000"/>
              </a:lnSpc>
              <a:buNone/>
            </a:pPr>
            <a:r>
              <a:rPr lang="en-US" sz="1150" dirty="0">
                <a:solidFill>
                  <a:srgbClr val="2C3249"/>
                </a:solidFill>
                <a:latin typeface="Martel Sans" pitchFamily="34" charset="0"/>
                <a:ea typeface="Martel Sans" pitchFamily="34" charset="-122"/>
                <a:cs typeface="Martel Sans" pitchFamily="34" charset="-120"/>
              </a:rPr>
              <a:t>Credit</a:t>
            </a:r>
            <a:endParaRPr lang="en-US" sz="1150" dirty="0"/>
          </a:p>
        </p:txBody>
      </p:sp>
      <p:sp>
        <p:nvSpPr>
          <p:cNvPr id="27" name="Text 24"/>
          <p:cNvSpPr/>
          <p:nvPr/>
        </p:nvSpPr>
        <p:spPr>
          <a:xfrm>
            <a:off x="8059139" y="4627166"/>
            <a:ext cx="3922118" cy="198338"/>
          </a:xfrm>
          <a:prstGeom prst="rect">
            <a:avLst/>
          </a:prstGeom>
          <a:noFill/>
          <a:ln/>
        </p:spPr>
        <p:txBody>
          <a:bodyPr wrap="none" lIns="0" tIns="0" rIns="0" bIns="0" rtlCol="0" anchor="t"/>
          <a:lstStyle/>
          <a:p>
            <a:pPr marL="0" indent="0" algn="l">
              <a:lnSpc>
                <a:spcPct val="109000"/>
              </a:lnSpc>
              <a:buNone/>
            </a:pPr>
            <a:r>
              <a:rPr lang="en-US" sz="1150" dirty="0">
                <a:solidFill>
                  <a:srgbClr val="2C3249"/>
                </a:solidFill>
                <a:latin typeface="Martel Sans" pitchFamily="34" charset="0"/>
                <a:ea typeface="Martel Sans" pitchFamily="34" charset="-122"/>
                <a:cs typeface="Martel Sans" pitchFamily="34" charset="-120"/>
              </a:rPr>
              <a:t>Debit</a:t>
            </a:r>
            <a:endParaRPr lang="en-US" sz="1150" dirty="0"/>
          </a:p>
        </p:txBody>
      </p:sp>
      <p:sp>
        <p:nvSpPr>
          <p:cNvPr id="28" name="Shape 25"/>
          <p:cNvSpPr/>
          <p:nvPr/>
        </p:nvSpPr>
        <p:spPr>
          <a:xfrm>
            <a:off x="667825" y="4889798"/>
            <a:ext cx="10854954" cy="326926"/>
          </a:xfrm>
          <a:prstGeom prst="rect">
            <a:avLst/>
          </a:prstGeom>
          <a:solidFill>
            <a:srgbClr val="000000">
              <a:alpha val="4000"/>
            </a:srgbClr>
          </a:solidFill>
          <a:ln/>
        </p:spPr>
        <p:txBody>
          <a:bodyPr/>
          <a:lstStyle/>
          <a:p>
            <a:endParaRPr lang="en-US"/>
          </a:p>
        </p:txBody>
      </p:sp>
      <p:sp>
        <p:nvSpPr>
          <p:cNvPr id="29" name="Text 26"/>
          <p:cNvSpPr/>
          <p:nvPr/>
        </p:nvSpPr>
        <p:spPr>
          <a:xfrm>
            <a:off x="820122" y="4954091"/>
            <a:ext cx="3922118" cy="198338"/>
          </a:xfrm>
          <a:prstGeom prst="rect">
            <a:avLst/>
          </a:prstGeom>
          <a:noFill/>
          <a:ln/>
        </p:spPr>
        <p:txBody>
          <a:bodyPr wrap="none" lIns="0" tIns="0" rIns="0" bIns="0" rtlCol="0" anchor="t"/>
          <a:lstStyle/>
          <a:p>
            <a:pPr marL="0" indent="0" algn="l">
              <a:lnSpc>
                <a:spcPct val="109000"/>
              </a:lnSpc>
              <a:buNone/>
            </a:pPr>
            <a:r>
              <a:rPr lang="en-US" sz="1150" dirty="0">
                <a:solidFill>
                  <a:srgbClr val="2C3249"/>
                </a:solidFill>
                <a:latin typeface="Martel Sans" pitchFamily="34" charset="0"/>
                <a:ea typeface="Martel Sans" pitchFamily="34" charset="-122"/>
                <a:cs typeface="Martel Sans" pitchFamily="34" charset="-120"/>
              </a:rPr>
              <a:t>Capital/Equity</a:t>
            </a:r>
            <a:endParaRPr lang="en-US" sz="1150" dirty="0"/>
          </a:p>
        </p:txBody>
      </p:sp>
      <p:sp>
        <p:nvSpPr>
          <p:cNvPr id="30" name="Text 27"/>
          <p:cNvSpPr/>
          <p:nvPr/>
        </p:nvSpPr>
        <p:spPr>
          <a:xfrm>
            <a:off x="4441218" y="4954091"/>
            <a:ext cx="3918943" cy="198338"/>
          </a:xfrm>
          <a:prstGeom prst="rect">
            <a:avLst/>
          </a:prstGeom>
          <a:noFill/>
          <a:ln/>
        </p:spPr>
        <p:txBody>
          <a:bodyPr wrap="none" lIns="0" tIns="0" rIns="0" bIns="0" rtlCol="0" anchor="t"/>
          <a:lstStyle/>
          <a:p>
            <a:pPr marL="0" indent="0" algn="l">
              <a:lnSpc>
                <a:spcPct val="109000"/>
              </a:lnSpc>
              <a:buNone/>
            </a:pPr>
            <a:r>
              <a:rPr lang="en-US" sz="1150" dirty="0">
                <a:solidFill>
                  <a:srgbClr val="2C3249"/>
                </a:solidFill>
                <a:latin typeface="Martel Sans" pitchFamily="34" charset="0"/>
                <a:ea typeface="Martel Sans" pitchFamily="34" charset="-122"/>
                <a:cs typeface="Martel Sans" pitchFamily="34" charset="-120"/>
              </a:rPr>
              <a:t>Credit</a:t>
            </a:r>
            <a:endParaRPr lang="en-US" sz="1150" dirty="0"/>
          </a:p>
        </p:txBody>
      </p:sp>
      <p:sp>
        <p:nvSpPr>
          <p:cNvPr id="31" name="Text 28"/>
          <p:cNvSpPr/>
          <p:nvPr/>
        </p:nvSpPr>
        <p:spPr>
          <a:xfrm>
            <a:off x="8059139" y="4954091"/>
            <a:ext cx="3922118" cy="198338"/>
          </a:xfrm>
          <a:prstGeom prst="rect">
            <a:avLst/>
          </a:prstGeom>
          <a:noFill/>
          <a:ln/>
        </p:spPr>
        <p:txBody>
          <a:bodyPr wrap="none" lIns="0" tIns="0" rIns="0" bIns="0" rtlCol="0" anchor="t"/>
          <a:lstStyle/>
          <a:p>
            <a:pPr marL="0" indent="0" algn="l">
              <a:lnSpc>
                <a:spcPct val="109000"/>
              </a:lnSpc>
              <a:buNone/>
            </a:pPr>
            <a:r>
              <a:rPr lang="en-US" sz="1150" dirty="0">
                <a:solidFill>
                  <a:srgbClr val="2C3249"/>
                </a:solidFill>
                <a:latin typeface="Martel Sans" pitchFamily="34" charset="0"/>
                <a:ea typeface="Martel Sans" pitchFamily="34" charset="-122"/>
                <a:cs typeface="Martel Sans" pitchFamily="34" charset="-120"/>
              </a:rPr>
              <a:t>Debit</a:t>
            </a:r>
            <a:endParaRPr lang="en-US" sz="1150" dirty="0"/>
          </a:p>
        </p:txBody>
      </p:sp>
      <p:sp>
        <p:nvSpPr>
          <p:cNvPr id="32" name="Shape 29"/>
          <p:cNvSpPr/>
          <p:nvPr/>
        </p:nvSpPr>
        <p:spPr>
          <a:xfrm>
            <a:off x="667825" y="5216723"/>
            <a:ext cx="10854954" cy="326926"/>
          </a:xfrm>
          <a:prstGeom prst="rect">
            <a:avLst/>
          </a:prstGeom>
          <a:solidFill>
            <a:srgbClr val="FFFFFF">
              <a:alpha val="4000"/>
            </a:srgbClr>
          </a:solidFill>
          <a:ln/>
        </p:spPr>
        <p:txBody>
          <a:bodyPr/>
          <a:lstStyle/>
          <a:p>
            <a:endParaRPr lang="en-US"/>
          </a:p>
        </p:txBody>
      </p:sp>
      <p:sp>
        <p:nvSpPr>
          <p:cNvPr id="33" name="Text 30"/>
          <p:cNvSpPr/>
          <p:nvPr/>
        </p:nvSpPr>
        <p:spPr>
          <a:xfrm>
            <a:off x="820122" y="5281017"/>
            <a:ext cx="3922118" cy="198338"/>
          </a:xfrm>
          <a:prstGeom prst="rect">
            <a:avLst/>
          </a:prstGeom>
          <a:noFill/>
          <a:ln/>
        </p:spPr>
        <p:txBody>
          <a:bodyPr wrap="none" lIns="0" tIns="0" rIns="0" bIns="0" rtlCol="0" anchor="t"/>
          <a:lstStyle/>
          <a:p>
            <a:pPr marL="0" indent="0" algn="l">
              <a:lnSpc>
                <a:spcPct val="109000"/>
              </a:lnSpc>
              <a:buNone/>
            </a:pPr>
            <a:r>
              <a:rPr lang="en-US" sz="1150" dirty="0">
                <a:solidFill>
                  <a:srgbClr val="2C3249"/>
                </a:solidFill>
                <a:latin typeface="Martel Sans" pitchFamily="34" charset="0"/>
                <a:ea typeface="Martel Sans" pitchFamily="34" charset="-122"/>
                <a:cs typeface="Martel Sans" pitchFamily="34" charset="-120"/>
              </a:rPr>
              <a:t>Income</a:t>
            </a:r>
            <a:endParaRPr lang="en-US" sz="1150" dirty="0"/>
          </a:p>
        </p:txBody>
      </p:sp>
      <p:sp>
        <p:nvSpPr>
          <p:cNvPr id="34" name="Text 31"/>
          <p:cNvSpPr/>
          <p:nvPr/>
        </p:nvSpPr>
        <p:spPr>
          <a:xfrm>
            <a:off x="4441218" y="5281017"/>
            <a:ext cx="3918943" cy="198338"/>
          </a:xfrm>
          <a:prstGeom prst="rect">
            <a:avLst/>
          </a:prstGeom>
          <a:noFill/>
          <a:ln/>
        </p:spPr>
        <p:txBody>
          <a:bodyPr wrap="none" lIns="0" tIns="0" rIns="0" bIns="0" rtlCol="0" anchor="t"/>
          <a:lstStyle/>
          <a:p>
            <a:pPr marL="0" indent="0" algn="l">
              <a:lnSpc>
                <a:spcPct val="109000"/>
              </a:lnSpc>
              <a:buNone/>
            </a:pPr>
            <a:r>
              <a:rPr lang="en-US" sz="1150" dirty="0">
                <a:solidFill>
                  <a:srgbClr val="2C3249"/>
                </a:solidFill>
                <a:latin typeface="Martel Sans" pitchFamily="34" charset="0"/>
                <a:ea typeface="Martel Sans" pitchFamily="34" charset="-122"/>
                <a:cs typeface="Martel Sans" pitchFamily="34" charset="-120"/>
              </a:rPr>
              <a:t>Credit</a:t>
            </a:r>
            <a:endParaRPr lang="en-US" sz="1150" dirty="0"/>
          </a:p>
        </p:txBody>
      </p:sp>
      <p:sp>
        <p:nvSpPr>
          <p:cNvPr id="35" name="Text 32"/>
          <p:cNvSpPr/>
          <p:nvPr/>
        </p:nvSpPr>
        <p:spPr>
          <a:xfrm>
            <a:off x="8059139" y="5281017"/>
            <a:ext cx="3922118" cy="198338"/>
          </a:xfrm>
          <a:prstGeom prst="rect">
            <a:avLst/>
          </a:prstGeom>
          <a:noFill/>
          <a:ln/>
        </p:spPr>
        <p:txBody>
          <a:bodyPr wrap="none" lIns="0" tIns="0" rIns="0" bIns="0" rtlCol="0" anchor="t"/>
          <a:lstStyle/>
          <a:p>
            <a:pPr marL="0" indent="0" algn="l">
              <a:lnSpc>
                <a:spcPct val="109000"/>
              </a:lnSpc>
              <a:buNone/>
            </a:pPr>
            <a:r>
              <a:rPr lang="en-US" sz="1150" dirty="0">
                <a:solidFill>
                  <a:srgbClr val="2C3249"/>
                </a:solidFill>
                <a:latin typeface="Martel Sans" pitchFamily="34" charset="0"/>
                <a:ea typeface="Martel Sans" pitchFamily="34" charset="-122"/>
                <a:cs typeface="Martel Sans" pitchFamily="34" charset="-120"/>
              </a:rPr>
              <a:t>Debit</a:t>
            </a:r>
            <a:endParaRPr lang="en-US" sz="1150" dirty="0"/>
          </a:p>
        </p:txBody>
      </p:sp>
      <p:sp>
        <p:nvSpPr>
          <p:cNvPr id="36" name="Shape 33"/>
          <p:cNvSpPr/>
          <p:nvPr/>
        </p:nvSpPr>
        <p:spPr>
          <a:xfrm>
            <a:off x="667825" y="5543649"/>
            <a:ext cx="10854954" cy="326926"/>
          </a:xfrm>
          <a:prstGeom prst="rect">
            <a:avLst/>
          </a:prstGeom>
          <a:solidFill>
            <a:srgbClr val="000000">
              <a:alpha val="4000"/>
            </a:srgbClr>
          </a:solidFill>
          <a:ln/>
        </p:spPr>
        <p:txBody>
          <a:bodyPr/>
          <a:lstStyle/>
          <a:p>
            <a:endParaRPr lang="en-US"/>
          </a:p>
        </p:txBody>
      </p:sp>
      <p:sp>
        <p:nvSpPr>
          <p:cNvPr id="37" name="Text 34"/>
          <p:cNvSpPr/>
          <p:nvPr/>
        </p:nvSpPr>
        <p:spPr>
          <a:xfrm>
            <a:off x="820122" y="5607943"/>
            <a:ext cx="3922118" cy="198338"/>
          </a:xfrm>
          <a:prstGeom prst="rect">
            <a:avLst/>
          </a:prstGeom>
          <a:noFill/>
          <a:ln/>
        </p:spPr>
        <p:txBody>
          <a:bodyPr wrap="none" lIns="0" tIns="0" rIns="0" bIns="0" rtlCol="0" anchor="t"/>
          <a:lstStyle/>
          <a:p>
            <a:pPr marL="0" indent="0" algn="l">
              <a:lnSpc>
                <a:spcPct val="109000"/>
              </a:lnSpc>
              <a:buNone/>
            </a:pPr>
            <a:r>
              <a:rPr lang="en-US" sz="1150" dirty="0">
                <a:solidFill>
                  <a:srgbClr val="2C3249"/>
                </a:solidFill>
                <a:latin typeface="Martel Sans" pitchFamily="34" charset="0"/>
                <a:ea typeface="Martel Sans" pitchFamily="34" charset="-122"/>
                <a:cs typeface="Martel Sans" pitchFamily="34" charset="-120"/>
              </a:rPr>
              <a:t>Expenses</a:t>
            </a:r>
            <a:endParaRPr lang="en-US" sz="1150" dirty="0"/>
          </a:p>
        </p:txBody>
      </p:sp>
      <p:sp>
        <p:nvSpPr>
          <p:cNvPr id="38" name="Text 35"/>
          <p:cNvSpPr/>
          <p:nvPr/>
        </p:nvSpPr>
        <p:spPr>
          <a:xfrm>
            <a:off x="4441218" y="5607943"/>
            <a:ext cx="3918943" cy="198338"/>
          </a:xfrm>
          <a:prstGeom prst="rect">
            <a:avLst/>
          </a:prstGeom>
          <a:noFill/>
          <a:ln/>
        </p:spPr>
        <p:txBody>
          <a:bodyPr wrap="none" lIns="0" tIns="0" rIns="0" bIns="0" rtlCol="0" anchor="t"/>
          <a:lstStyle/>
          <a:p>
            <a:pPr marL="0" indent="0" algn="l">
              <a:lnSpc>
                <a:spcPct val="109000"/>
              </a:lnSpc>
              <a:buNone/>
            </a:pPr>
            <a:r>
              <a:rPr lang="en-US" sz="1150" dirty="0">
                <a:solidFill>
                  <a:srgbClr val="2C3249"/>
                </a:solidFill>
                <a:latin typeface="Martel Sans" pitchFamily="34" charset="0"/>
                <a:ea typeface="Martel Sans" pitchFamily="34" charset="-122"/>
                <a:cs typeface="Martel Sans" pitchFamily="34" charset="-120"/>
              </a:rPr>
              <a:t>Debit</a:t>
            </a:r>
            <a:endParaRPr lang="en-US" sz="1150" dirty="0"/>
          </a:p>
        </p:txBody>
      </p:sp>
      <p:sp>
        <p:nvSpPr>
          <p:cNvPr id="39" name="Text 36"/>
          <p:cNvSpPr/>
          <p:nvPr/>
        </p:nvSpPr>
        <p:spPr>
          <a:xfrm>
            <a:off x="8059139" y="5607943"/>
            <a:ext cx="3922118" cy="198338"/>
          </a:xfrm>
          <a:prstGeom prst="rect">
            <a:avLst/>
          </a:prstGeom>
          <a:noFill/>
          <a:ln/>
        </p:spPr>
        <p:txBody>
          <a:bodyPr wrap="none" lIns="0" tIns="0" rIns="0" bIns="0" rtlCol="0" anchor="t"/>
          <a:lstStyle/>
          <a:p>
            <a:pPr marL="0" indent="0" algn="l">
              <a:lnSpc>
                <a:spcPct val="109000"/>
              </a:lnSpc>
              <a:buNone/>
            </a:pPr>
            <a:r>
              <a:rPr lang="en-US" sz="1150" dirty="0">
                <a:solidFill>
                  <a:srgbClr val="2C3249"/>
                </a:solidFill>
                <a:latin typeface="Martel Sans" pitchFamily="34" charset="0"/>
                <a:ea typeface="Martel Sans" pitchFamily="34" charset="-122"/>
                <a:cs typeface="Martel Sans" pitchFamily="34" charset="-120"/>
              </a:rPr>
              <a:t>Credit</a:t>
            </a:r>
            <a:endParaRPr lang="en-US" sz="1150" dirty="0"/>
          </a:p>
        </p:txBody>
      </p:sp>
      <p:sp>
        <p:nvSpPr>
          <p:cNvPr id="40" name="Shape 37"/>
          <p:cNvSpPr/>
          <p:nvPr/>
        </p:nvSpPr>
        <p:spPr>
          <a:xfrm>
            <a:off x="667825" y="5870575"/>
            <a:ext cx="10854954" cy="326926"/>
          </a:xfrm>
          <a:prstGeom prst="rect">
            <a:avLst/>
          </a:prstGeom>
          <a:solidFill>
            <a:srgbClr val="FFFFFF">
              <a:alpha val="4000"/>
            </a:srgbClr>
          </a:solidFill>
          <a:ln/>
        </p:spPr>
        <p:txBody>
          <a:bodyPr/>
          <a:lstStyle/>
          <a:p>
            <a:endParaRPr lang="en-US"/>
          </a:p>
        </p:txBody>
      </p:sp>
      <p:sp>
        <p:nvSpPr>
          <p:cNvPr id="41" name="Text 38"/>
          <p:cNvSpPr/>
          <p:nvPr/>
        </p:nvSpPr>
        <p:spPr>
          <a:xfrm>
            <a:off x="820122" y="5934869"/>
            <a:ext cx="3922118" cy="198338"/>
          </a:xfrm>
          <a:prstGeom prst="rect">
            <a:avLst/>
          </a:prstGeom>
          <a:noFill/>
          <a:ln/>
        </p:spPr>
        <p:txBody>
          <a:bodyPr wrap="none" lIns="0" tIns="0" rIns="0" bIns="0" rtlCol="0" anchor="t"/>
          <a:lstStyle/>
          <a:p>
            <a:pPr marL="0" indent="0" algn="l">
              <a:lnSpc>
                <a:spcPct val="109000"/>
              </a:lnSpc>
              <a:buNone/>
            </a:pPr>
            <a:r>
              <a:rPr lang="en-US" sz="1150" dirty="0">
                <a:solidFill>
                  <a:srgbClr val="2C3249"/>
                </a:solidFill>
                <a:latin typeface="Martel Sans" pitchFamily="34" charset="0"/>
                <a:ea typeface="Martel Sans" pitchFamily="34" charset="-122"/>
                <a:cs typeface="Martel Sans" pitchFamily="34" charset="-120"/>
              </a:rPr>
              <a:t>Contra-assets</a:t>
            </a:r>
            <a:endParaRPr lang="en-US" sz="1150" dirty="0"/>
          </a:p>
        </p:txBody>
      </p:sp>
      <p:sp>
        <p:nvSpPr>
          <p:cNvPr id="42" name="Text 39"/>
          <p:cNvSpPr/>
          <p:nvPr/>
        </p:nvSpPr>
        <p:spPr>
          <a:xfrm>
            <a:off x="4441218" y="5934869"/>
            <a:ext cx="3918943" cy="198338"/>
          </a:xfrm>
          <a:prstGeom prst="rect">
            <a:avLst/>
          </a:prstGeom>
          <a:noFill/>
          <a:ln/>
        </p:spPr>
        <p:txBody>
          <a:bodyPr wrap="none" lIns="0" tIns="0" rIns="0" bIns="0" rtlCol="0" anchor="t"/>
          <a:lstStyle/>
          <a:p>
            <a:pPr marL="0" indent="0" algn="l">
              <a:lnSpc>
                <a:spcPct val="109000"/>
              </a:lnSpc>
              <a:buNone/>
            </a:pPr>
            <a:r>
              <a:rPr lang="en-US" sz="1150" dirty="0">
                <a:solidFill>
                  <a:srgbClr val="2C3249"/>
                </a:solidFill>
                <a:latin typeface="Martel Sans" pitchFamily="34" charset="0"/>
                <a:ea typeface="Martel Sans" pitchFamily="34" charset="-122"/>
                <a:cs typeface="Martel Sans" pitchFamily="34" charset="-120"/>
              </a:rPr>
              <a:t>Credit</a:t>
            </a:r>
            <a:endParaRPr lang="en-US" sz="1150" dirty="0"/>
          </a:p>
        </p:txBody>
      </p:sp>
      <p:sp>
        <p:nvSpPr>
          <p:cNvPr id="43" name="Text 40"/>
          <p:cNvSpPr/>
          <p:nvPr/>
        </p:nvSpPr>
        <p:spPr>
          <a:xfrm>
            <a:off x="8059139" y="5934869"/>
            <a:ext cx="3922118" cy="198338"/>
          </a:xfrm>
          <a:prstGeom prst="rect">
            <a:avLst/>
          </a:prstGeom>
          <a:noFill/>
          <a:ln/>
        </p:spPr>
        <p:txBody>
          <a:bodyPr wrap="none" lIns="0" tIns="0" rIns="0" bIns="0" rtlCol="0" anchor="t"/>
          <a:lstStyle/>
          <a:p>
            <a:pPr marL="0" indent="0" algn="l">
              <a:lnSpc>
                <a:spcPct val="109000"/>
              </a:lnSpc>
              <a:buNone/>
            </a:pPr>
            <a:r>
              <a:rPr lang="en-US" sz="1150" dirty="0">
                <a:solidFill>
                  <a:srgbClr val="2C3249"/>
                </a:solidFill>
                <a:latin typeface="Martel Sans" pitchFamily="34" charset="0"/>
                <a:ea typeface="Martel Sans" pitchFamily="34" charset="-122"/>
                <a:cs typeface="Martel Sans" pitchFamily="34" charset="-120"/>
              </a:rPr>
              <a:t>Debit</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p:nvPr/>
        </p:nvSpPr>
        <p:spPr>
          <a:xfrm>
            <a:off x="5233360" y="309761"/>
            <a:ext cx="6296860" cy="959842"/>
          </a:xfrm>
          <a:prstGeom prst="rect">
            <a:avLst/>
          </a:prstGeom>
          <a:noFill/>
          <a:ln/>
        </p:spPr>
        <p:txBody>
          <a:bodyPr wrap="square" lIns="0" tIns="0" rIns="0" bIns="0" rtlCol="0" anchor="t">
            <a:normAutofit/>
          </a:bodyPr>
          <a:lstStyle/>
          <a:p>
            <a:pPr marL="0" indent="0" algn="l">
              <a:lnSpc>
                <a:spcPct val="104000"/>
              </a:lnSpc>
              <a:buNone/>
            </a:pPr>
            <a:r>
              <a:rPr lang="en-US" sz="3000" dirty="0">
                <a:solidFill>
                  <a:srgbClr val="272D45"/>
                </a:solidFill>
                <a:latin typeface="Kanit Light" pitchFamily="34" charset="0"/>
                <a:ea typeface="Kanit Light" pitchFamily="34" charset="-122"/>
                <a:cs typeface="Kanit Light" pitchFamily="34" charset="-120"/>
              </a:rPr>
              <a:t>The Trial Balance: Definition and Purpose</a:t>
            </a:r>
            <a:endParaRPr lang="en-US" sz="3000" dirty="0"/>
          </a:p>
        </p:txBody>
      </p:sp>
      <p:sp>
        <p:nvSpPr>
          <p:cNvPr id="4" name="Text 1"/>
          <p:cNvSpPr/>
          <p:nvPr/>
        </p:nvSpPr>
        <p:spPr>
          <a:xfrm>
            <a:off x="5233360" y="1449590"/>
            <a:ext cx="6296860" cy="608112"/>
          </a:xfrm>
          <a:prstGeom prst="rect">
            <a:avLst/>
          </a:prstGeom>
          <a:noFill/>
          <a:ln/>
        </p:spPr>
        <p:txBody>
          <a:bodyPr wrap="square" lIns="0" tIns="0" rIns="0" bIns="0" rtlCol="0" anchor="t">
            <a:noAutofit/>
          </a:bodyPr>
          <a:lstStyle/>
          <a:p>
            <a:pPr marL="0" indent="0" algn="just">
              <a:lnSpc>
                <a:spcPct val="110000"/>
              </a:lnSpc>
              <a:buNone/>
            </a:pPr>
            <a:r>
              <a:rPr lang="en-US" sz="1400" dirty="0">
                <a:solidFill>
                  <a:srgbClr val="2C3249"/>
                </a:solidFill>
                <a:latin typeface="Martel Sans" pitchFamily="34" charset="0"/>
                <a:ea typeface="Martel Sans" pitchFamily="34" charset="-122"/>
                <a:cs typeface="Martel Sans" pitchFamily="34" charset="-120"/>
              </a:rPr>
              <a:t>A </a:t>
            </a:r>
            <a:r>
              <a:rPr lang="en-US" sz="1400" b="1" dirty="0">
                <a:solidFill>
                  <a:srgbClr val="2C3249"/>
                </a:solidFill>
                <a:latin typeface="Martel Sans Bold" pitchFamily="34" charset="0"/>
                <a:ea typeface="Martel Sans Bold" pitchFamily="34" charset="-122"/>
                <a:cs typeface="Martel Sans Bold" pitchFamily="34" charset="-120"/>
              </a:rPr>
              <a:t>trial balance</a:t>
            </a:r>
            <a:r>
              <a:rPr lang="en-US" sz="1400" dirty="0">
                <a:solidFill>
                  <a:srgbClr val="2C3249"/>
                </a:solidFill>
                <a:latin typeface="Martel Sans" pitchFamily="34" charset="0"/>
                <a:ea typeface="Martel Sans" pitchFamily="34" charset="-122"/>
                <a:cs typeface="Martel Sans" pitchFamily="34" charset="-120"/>
              </a:rPr>
              <a:t> is a statement that lists the closing debit and credit balances of all ledger accounts at a particular date to check whether the total debits equal the total credits.</a:t>
            </a:r>
            <a:endParaRPr lang="en-US" sz="140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33360" y="2634159"/>
            <a:ext cx="383868" cy="383877"/>
          </a:xfrm>
          <a:prstGeom prst="rect">
            <a:avLst/>
          </a:prstGeom>
        </p:spPr>
      </p:pic>
      <p:sp>
        <p:nvSpPr>
          <p:cNvPr id="6" name="Text 2"/>
          <p:cNvSpPr/>
          <p:nvPr/>
        </p:nvSpPr>
        <p:spPr>
          <a:xfrm>
            <a:off x="5741943" y="2634159"/>
            <a:ext cx="5788277" cy="239911"/>
          </a:xfrm>
          <a:prstGeom prst="rect">
            <a:avLst/>
          </a:prstGeom>
          <a:noFill/>
          <a:ln/>
        </p:spPr>
        <p:txBody>
          <a:bodyPr wrap="none" lIns="0" tIns="0" rIns="0" bIns="0" rtlCol="0" anchor="t"/>
          <a:lstStyle/>
          <a:p>
            <a:pPr marL="0" indent="0" algn="l">
              <a:lnSpc>
                <a:spcPct val="104000"/>
              </a:lnSpc>
              <a:buNone/>
            </a:pPr>
            <a:r>
              <a:rPr lang="en-US" sz="1500" dirty="0">
                <a:solidFill>
                  <a:srgbClr val="2C3249"/>
                </a:solidFill>
                <a:latin typeface="Kanit Light" pitchFamily="34" charset="0"/>
                <a:ea typeface="Kanit Light" pitchFamily="34" charset="-122"/>
                <a:cs typeface="Kanit Light" pitchFamily="34" charset="-120"/>
              </a:rPr>
              <a:t>Check Arithmetical Accuracy</a:t>
            </a:r>
            <a:endParaRPr lang="en-US" sz="1500" dirty="0"/>
          </a:p>
        </p:txBody>
      </p:sp>
      <p:sp>
        <p:nvSpPr>
          <p:cNvPr id="7" name="Text 3"/>
          <p:cNvSpPr/>
          <p:nvPr/>
        </p:nvSpPr>
        <p:spPr>
          <a:xfrm>
            <a:off x="5741943" y="2933898"/>
            <a:ext cx="5788277" cy="405408"/>
          </a:xfrm>
          <a:prstGeom prst="rect">
            <a:avLst/>
          </a:prstGeom>
          <a:noFill/>
          <a:ln/>
        </p:spPr>
        <p:txBody>
          <a:bodyPr wrap="square" lIns="0" tIns="0" rIns="0" bIns="0" rtlCol="0" anchor="t">
            <a:normAutofit/>
          </a:bodyPr>
          <a:lstStyle/>
          <a:p>
            <a:pPr marL="0" indent="0" algn="l">
              <a:lnSpc>
                <a:spcPct val="110000"/>
              </a:lnSpc>
              <a:buNone/>
            </a:pPr>
            <a:r>
              <a:rPr lang="en-US" sz="1200" dirty="0">
                <a:solidFill>
                  <a:srgbClr val="2C3249"/>
                </a:solidFill>
                <a:latin typeface="Martel Sans" pitchFamily="34" charset="0"/>
                <a:ea typeface="Martel Sans" pitchFamily="34" charset="-122"/>
                <a:cs typeface="Martel Sans" pitchFamily="34" charset="-120"/>
              </a:rPr>
              <a:t>Confirms that total debit balances equal total credit balances, providing an initial check on the double-entry records.</a:t>
            </a:r>
            <a:endParaRPr lang="en-US" sz="120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33360" y="3538934"/>
            <a:ext cx="383868" cy="383877"/>
          </a:xfrm>
          <a:prstGeom prst="rect">
            <a:avLst/>
          </a:prstGeom>
        </p:spPr>
      </p:pic>
      <p:sp>
        <p:nvSpPr>
          <p:cNvPr id="9" name="Text 4"/>
          <p:cNvSpPr/>
          <p:nvPr/>
        </p:nvSpPr>
        <p:spPr>
          <a:xfrm>
            <a:off x="5741943" y="3538934"/>
            <a:ext cx="5788277" cy="239911"/>
          </a:xfrm>
          <a:prstGeom prst="rect">
            <a:avLst/>
          </a:prstGeom>
          <a:noFill/>
          <a:ln/>
        </p:spPr>
        <p:txBody>
          <a:bodyPr wrap="none" lIns="0" tIns="0" rIns="0" bIns="0" rtlCol="0" anchor="t"/>
          <a:lstStyle/>
          <a:p>
            <a:pPr marL="0" indent="0" algn="l">
              <a:lnSpc>
                <a:spcPct val="104000"/>
              </a:lnSpc>
              <a:buNone/>
            </a:pPr>
            <a:r>
              <a:rPr lang="en-US" sz="1500" dirty="0">
                <a:solidFill>
                  <a:srgbClr val="2C3249"/>
                </a:solidFill>
                <a:latin typeface="Kanit Light" pitchFamily="34" charset="0"/>
                <a:ea typeface="Kanit Light" pitchFamily="34" charset="-122"/>
                <a:cs typeface="Kanit Light" pitchFamily="34" charset="-120"/>
              </a:rPr>
              <a:t>Identify Errors</a:t>
            </a:r>
            <a:endParaRPr lang="en-US" sz="1500" dirty="0"/>
          </a:p>
        </p:txBody>
      </p:sp>
      <p:sp>
        <p:nvSpPr>
          <p:cNvPr id="10" name="Text 5"/>
          <p:cNvSpPr/>
          <p:nvPr/>
        </p:nvSpPr>
        <p:spPr>
          <a:xfrm>
            <a:off x="5741943" y="3838674"/>
            <a:ext cx="5788277" cy="405408"/>
          </a:xfrm>
          <a:prstGeom prst="rect">
            <a:avLst/>
          </a:prstGeom>
          <a:noFill/>
          <a:ln/>
        </p:spPr>
        <p:txBody>
          <a:bodyPr wrap="square" lIns="0" tIns="0" rIns="0" bIns="0" rtlCol="0" anchor="t">
            <a:normAutofit/>
          </a:bodyPr>
          <a:lstStyle/>
          <a:p>
            <a:pPr marL="0" indent="0" algn="l">
              <a:lnSpc>
                <a:spcPct val="110000"/>
              </a:lnSpc>
              <a:buNone/>
            </a:pPr>
            <a:r>
              <a:rPr lang="en-US" sz="1200" dirty="0">
                <a:solidFill>
                  <a:srgbClr val="2C3249"/>
                </a:solidFill>
                <a:latin typeface="Martel Sans" pitchFamily="34" charset="0"/>
                <a:ea typeface="Martel Sans" pitchFamily="34" charset="-122"/>
                <a:cs typeface="Martel Sans" pitchFamily="34" charset="-120"/>
              </a:rPr>
              <a:t>Helps detect certain accounting errors, such as one-sided entries, incorrect additions, or posting unequal amounts to the debit and credit sides.</a:t>
            </a:r>
            <a:endParaRPr lang="en-US" sz="1200" dirty="0"/>
          </a:p>
        </p:txBody>
      </p:sp>
      <p:pic>
        <p:nvPicPr>
          <p:cNvPr id="11"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33360" y="4443710"/>
            <a:ext cx="383868" cy="383877"/>
          </a:xfrm>
          <a:prstGeom prst="rect">
            <a:avLst/>
          </a:prstGeom>
        </p:spPr>
      </p:pic>
      <p:sp>
        <p:nvSpPr>
          <p:cNvPr id="12" name="Text 6"/>
          <p:cNvSpPr/>
          <p:nvPr/>
        </p:nvSpPr>
        <p:spPr>
          <a:xfrm>
            <a:off x="5741943" y="4443710"/>
            <a:ext cx="5788277" cy="239911"/>
          </a:xfrm>
          <a:prstGeom prst="rect">
            <a:avLst/>
          </a:prstGeom>
          <a:noFill/>
          <a:ln/>
        </p:spPr>
        <p:txBody>
          <a:bodyPr wrap="none" lIns="0" tIns="0" rIns="0" bIns="0" rtlCol="0" anchor="t"/>
          <a:lstStyle/>
          <a:p>
            <a:pPr marL="0" indent="0" algn="l">
              <a:lnSpc>
                <a:spcPct val="104000"/>
              </a:lnSpc>
              <a:buNone/>
            </a:pPr>
            <a:r>
              <a:rPr lang="en-US" sz="1500" dirty="0">
                <a:solidFill>
                  <a:srgbClr val="2C3249"/>
                </a:solidFill>
                <a:latin typeface="Kanit Light" pitchFamily="34" charset="0"/>
                <a:ea typeface="Kanit Light" pitchFamily="34" charset="-122"/>
                <a:cs typeface="Kanit Light" pitchFamily="34" charset="-120"/>
              </a:rPr>
              <a:t>Prepare Financial Statements</a:t>
            </a:r>
            <a:endParaRPr lang="en-US" sz="1500" dirty="0"/>
          </a:p>
        </p:txBody>
      </p:sp>
      <p:sp>
        <p:nvSpPr>
          <p:cNvPr id="13" name="Text 7"/>
          <p:cNvSpPr/>
          <p:nvPr/>
        </p:nvSpPr>
        <p:spPr>
          <a:xfrm>
            <a:off x="5741943" y="4743450"/>
            <a:ext cx="5788277" cy="405408"/>
          </a:xfrm>
          <a:prstGeom prst="rect">
            <a:avLst/>
          </a:prstGeom>
          <a:noFill/>
          <a:ln/>
        </p:spPr>
        <p:txBody>
          <a:bodyPr wrap="square" lIns="0" tIns="0" rIns="0" bIns="0" rtlCol="0" anchor="t">
            <a:normAutofit/>
          </a:bodyPr>
          <a:lstStyle/>
          <a:p>
            <a:pPr marL="0" indent="0" algn="l">
              <a:lnSpc>
                <a:spcPct val="110000"/>
              </a:lnSpc>
              <a:buNone/>
            </a:pPr>
            <a:r>
              <a:rPr lang="en-US" sz="1200" dirty="0">
                <a:solidFill>
                  <a:srgbClr val="2C3249"/>
                </a:solidFill>
                <a:latin typeface="Martel Sans" pitchFamily="34" charset="0"/>
                <a:ea typeface="Martel Sans" pitchFamily="34" charset="-122"/>
                <a:cs typeface="Martel Sans" pitchFamily="34" charset="-120"/>
              </a:rPr>
              <a:t>Provides the balances used to prepare the income statement/profit or loss statement and statement of financial position.</a:t>
            </a:r>
            <a:endParaRPr lang="en-US" sz="1200" dirty="0"/>
          </a:p>
        </p:txBody>
      </p:sp>
      <p:pic>
        <p:nvPicPr>
          <p:cNvPr id="14" name="Image 4"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33360" y="5348486"/>
            <a:ext cx="383868" cy="383877"/>
          </a:xfrm>
          <a:prstGeom prst="rect">
            <a:avLst/>
          </a:prstGeom>
        </p:spPr>
      </p:pic>
      <p:sp>
        <p:nvSpPr>
          <p:cNvPr id="15" name="Text 8"/>
          <p:cNvSpPr/>
          <p:nvPr/>
        </p:nvSpPr>
        <p:spPr>
          <a:xfrm>
            <a:off x="5741943" y="5348486"/>
            <a:ext cx="5788277" cy="239911"/>
          </a:xfrm>
          <a:prstGeom prst="rect">
            <a:avLst/>
          </a:prstGeom>
          <a:noFill/>
          <a:ln/>
        </p:spPr>
        <p:txBody>
          <a:bodyPr wrap="none" lIns="0" tIns="0" rIns="0" bIns="0" rtlCol="0" anchor="t"/>
          <a:lstStyle/>
          <a:p>
            <a:pPr marL="0" indent="0" algn="l">
              <a:lnSpc>
                <a:spcPct val="104000"/>
              </a:lnSpc>
              <a:buNone/>
            </a:pPr>
            <a:r>
              <a:rPr lang="en-US" sz="1500" dirty="0">
                <a:solidFill>
                  <a:srgbClr val="2C3249"/>
                </a:solidFill>
                <a:latin typeface="Kanit Light" pitchFamily="34" charset="0"/>
                <a:ea typeface="Kanit Light" pitchFamily="34" charset="-122"/>
                <a:cs typeface="Kanit Light" pitchFamily="34" charset="-120"/>
              </a:rPr>
              <a:t>Summarize Ledger Balances</a:t>
            </a:r>
            <a:endParaRPr lang="en-US" sz="1500" dirty="0"/>
          </a:p>
        </p:txBody>
      </p:sp>
      <p:sp>
        <p:nvSpPr>
          <p:cNvPr id="16" name="Text 9"/>
          <p:cNvSpPr/>
          <p:nvPr/>
        </p:nvSpPr>
        <p:spPr>
          <a:xfrm>
            <a:off x="5741943" y="5648226"/>
            <a:ext cx="5788277" cy="405408"/>
          </a:xfrm>
          <a:prstGeom prst="rect">
            <a:avLst/>
          </a:prstGeom>
          <a:noFill/>
          <a:ln/>
        </p:spPr>
        <p:txBody>
          <a:bodyPr wrap="square" lIns="0" tIns="0" rIns="0" bIns="0" rtlCol="0" anchor="t">
            <a:normAutofit/>
          </a:bodyPr>
          <a:lstStyle/>
          <a:p>
            <a:pPr marL="0" indent="0" algn="l">
              <a:lnSpc>
                <a:spcPct val="110000"/>
              </a:lnSpc>
              <a:buNone/>
            </a:pPr>
            <a:r>
              <a:rPr lang="en-US" sz="1200" dirty="0">
                <a:solidFill>
                  <a:srgbClr val="2C3249"/>
                </a:solidFill>
                <a:latin typeface="Martel Sans" pitchFamily="34" charset="0"/>
                <a:ea typeface="Martel Sans" pitchFamily="34" charset="-122"/>
                <a:cs typeface="Martel Sans" pitchFamily="34" charset="-120"/>
              </a:rPr>
              <a:t>Brings together the balances from the various ledgers into one statement for easier review.</a:t>
            </a:r>
            <a:endParaRPr lang="en-US" sz="1200" dirty="0"/>
          </a:p>
        </p:txBody>
      </p:sp>
      <p:pic>
        <p:nvPicPr>
          <p:cNvPr id="18" name="Picture 17">
            <a:extLst>
              <a:ext uri="{FF2B5EF4-FFF2-40B4-BE49-F238E27FC236}">
                <a16:creationId xmlns:a16="http://schemas.microsoft.com/office/drawing/2014/main" id="{2B9640EC-5455-FD83-4E2A-EB4DA685806F}"/>
              </a:ext>
            </a:extLst>
          </p:cNvPr>
          <p:cNvPicPr>
            <a:picLocks noChangeAspect="1"/>
          </p:cNvPicPr>
          <p:nvPr/>
        </p:nvPicPr>
        <p:blipFill>
          <a:blip r:embed="rId7"/>
          <a:stretch>
            <a:fillRect/>
          </a:stretch>
        </p:blipFill>
        <p:spPr>
          <a:xfrm>
            <a:off x="304033" y="196642"/>
            <a:ext cx="4586622" cy="638426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1676400" y="476548"/>
            <a:ext cx="9853820" cy="553740"/>
          </a:xfrm>
          <a:prstGeom prst="rect">
            <a:avLst/>
          </a:prstGeom>
          <a:noFill/>
          <a:ln/>
        </p:spPr>
        <p:txBody>
          <a:bodyPr wrap="none" lIns="0" tIns="0" rIns="0" bIns="0" rtlCol="0" anchor="t"/>
          <a:lstStyle/>
          <a:p>
            <a:pPr marL="0" indent="0" algn="l">
              <a:lnSpc>
                <a:spcPct val="104000"/>
              </a:lnSpc>
              <a:buNone/>
            </a:pPr>
            <a:r>
              <a:rPr lang="en-US" sz="3450" dirty="0">
                <a:solidFill>
                  <a:srgbClr val="272D45"/>
                </a:solidFill>
                <a:latin typeface="Kanit Light" pitchFamily="34" charset="0"/>
                <a:ea typeface="Kanit Light" pitchFamily="34" charset="-122"/>
                <a:cs typeface="Kanit Light" pitchFamily="34" charset="-120"/>
              </a:rPr>
              <a:t>Trial Balance: Format and Limitations</a:t>
            </a:r>
            <a:endParaRPr lang="en-US" sz="3450" dirty="0"/>
          </a:p>
        </p:txBody>
      </p:sp>
      <p:sp>
        <p:nvSpPr>
          <p:cNvPr id="3" name="Shape 1"/>
          <p:cNvSpPr/>
          <p:nvPr/>
        </p:nvSpPr>
        <p:spPr>
          <a:xfrm>
            <a:off x="661475" y="1849834"/>
            <a:ext cx="10868745" cy="2991445"/>
          </a:xfrm>
          <a:prstGeom prst="roundRect">
            <a:avLst>
              <a:gd name="adj" fmla="val 2488"/>
            </a:avLst>
          </a:prstGeom>
          <a:noFill/>
          <a:ln w="6350">
            <a:solidFill>
              <a:srgbClr val="000000">
                <a:alpha val="8000"/>
              </a:srgbClr>
            </a:solidFill>
            <a:prstDash val="solid"/>
          </a:ln>
        </p:spPr>
        <p:txBody>
          <a:bodyPr/>
          <a:lstStyle/>
          <a:p>
            <a:endParaRPr lang="en-US"/>
          </a:p>
        </p:txBody>
      </p:sp>
      <p:sp>
        <p:nvSpPr>
          <p:cNvPr id="4" name="Shape 2"/>
          <p:cNvSpPr/>
          <p:nvPr/>
        </p:nvSpPr>
        <p:spPr>
          <a:xfrm>
            <a:off x="661475" y="2279452"/>
            <a:ext cx="10868745" cy="11076"/>
          </a:xfrm>
          <a:prstGeom prst="rect">
            <a:avLst/>
          </a:prstGeom>
          <a:solidFill>
            <a:srgbClr val="000000">
              <a:alpha val="8000"/>
            </a:srgbClr>
          </a:solidFill>
          <a:ln/>
        </p:spPr>
        <p:txBody>
          <a:bodyPr/>
          <a:lstStyle/>
          <a:p>
            <a:endParaRPr lang="en-US"/>
          </a:p>
        </p:txBody>
      </p:sp>
      <p:sp>
        <p:nvSpPr>
          <p:cNvPr id="5" name="Shape 3"/>
          <p:cNvSpPr/>
          <p:nvPr/>
        </p:nvSpPr>
        <p:spPr>
          <a:xfrm>
            <a:off x="661475" y="2705894"/>
            <a:ext cx="10868745" cy="11076"/>
          </a:xfrm>
          <a:prstGeom prst="rect">
            <a:avLst/>
          </a:prstGeom>
          <a:solidFill>
            <a:srgbClr val="000000">
              <a:alpha val="8000"/>
            </a:srgbClr>
          </a:solidFill>
          <a:ln/>
        </p:spPr>
        <p:txBody>
          <a:bodyPr/>
          <a:lstStyle/>
          <a:p>
            <a:endParaRPr lang="en-US"/>
          </a:p>
        </p:txBody>
      </p:sp>
      <p:sp>
        <p:nvSpPr>
          <p:cNvPr id="6" name="Shape 4"/>
          <p:cNvSpPr/>
          <p:nvPr/>
        </p:nvSpPr>
        <p:spPr>
          <a:xfrm>
            <a:off x="661475" y="3132336"/>
            <a:ext cx="10868745" cy="11076"/>
          </a:xfrm>
          <a:prstGeom prst="rect">
            <a:avLst/>
          </a:prstGeom>
          <a:solidFill>
            <a:srgbClr val="000000">
              <a:alpha val="8000"/>
            </a:srgbClr>
          </a:solidFill>
          <a:ln/>
        </p:spPr>
        <p:txBody>
          <a:bodyPr/>
          <a:lstStyle/>
          <a:p>
            <a:endParaRPr lang="en-US"/>
          </a:p>
        </p:txBody>
      </p:sp>
      <p:sp>
        <p:nvSpPr>
          <p:cNvPr id="7" name="Shape 5"/>
          <p:cNvSpPr/>
          <p:nvPr/>
        </p:nvSpPr>
        <p:spPr>
          <a:xfrm>
            <a:off x="661475" y="3558778"/>
            <a:ext cx="10868745" cy="11076"/>
          </a:xfrm>
          <a:prstGeom prst="rect">
            <a:avLst/>
          </a:prstGeom>
          <a:solidFill>
            <a:srgbClr val="000000">
              <a:alpha val="8000"/>
            </a:srgbClr>
          </a:solidFill>
          <a:ln/>
        </p:spPr>
        <p:txBody>
          <a:bodyPr/>
          <a:lstStyle/>
          <a:p>
            <a:endParaRPr lang="en-US"/>
          </a:p>
        </p:txBody>
      </p:sp>
      <p:sp>
        <p:nvSpPr>
          <p:cNvPr id="8" name="Shape 6"/>
          <p:cNvSpPr/>
          <p:nvPr/>
        </p:nvSpPr>
        <p:spPr>
          <a:xfrm>
            <a:off x="661475" y="3985220"/>
            <a:ext cx="10868745" cy="11076"/>
          </a:xfrm>
          <a:prstGeom prst="rect">
            <a:avLst/>
          </a:prstGeom>
          <a:solidFill>
            <a:srgbClr val="000000">
              <a:alpha val="8000"/>
            </a:srgbClr>
          </a:solidFill>
          <a:ln/>
        </p:spPr>
        <p:txBody>
          <a:bodyPr/>
          <a:lstStyle/>
          <a:p>
            <a:endParaRPr lang="en-US"/>
          </a:p>
        </p:txBody>
      </p:sp>
      <p:sp>
        <p:nvSpPr>
          <p:cNvPr id="9" name="Shape 7"/>
          <p:cNvSpPr/>
          <p:nvPr/>
        </p:nvSpPr>
        <p:spPr>
          <a:xfrm>
            <a:off x="661475" y="4411663"/>
            <a:ext cx="10868745" cy="11076"/>
          </a:xfrm>
          <a:prstGeom prst="rect">
            <a:avLst/>
          </a:prstGeom>
          <a:solidFill>
            <a:srgbClr val="000000">
              <a:alpha val="8000"/>
            </a:srgbClr>
          </a:solidFill>
          <a:ln/>
        </p:spPr>
        <p:txBody>
          <a:bodyPr/>
          <a:lstStyle/>
          <a:p>
            <a:endParaRPr lang="en-US"/>
          </a:p>
        </p:txBody>
      </p:sp>
      <p:sp>
        <p:nvSpPr>
          <p:cNvPr id="10" name="Shape 8"/>
          <p:cNvSpPr/>
          <p:nvPr/>
        </p:nvSpPr>
        <p:spPr>
          <a:xfrm>
            <a:off x="4286937" y="1849834"/>
            <a:ext cx="11075" cy="2991445"/>
          </a:xfrm>
          <a:prstGeom prst="rect">
            <a:avLst/>
          </a:prstGeom>
          <a:solidFill>
            <a:srgbClr val="000000">
              <a:alpha val="8000"/>
            </a:srgbClr>
          </a:solidFill>
          <a:ln/>
        </p:spPr>
        <p:txBody>
          <a:bodyPr/>
          <a:lstStyle/>
          <a:p>
            <a:endParaRPr lang="en-US"/>
          </a:p>
        </p:txBody>
      </p:sp>
      <p:sp>
        <p:nvSpPr>
          <p:cNvPr id="11" name="Shape 9"/>
          <p:cNvSpPr/>
          <p:nvPr/>
        </p:nvSpPr>
        <p:spPr>
          <a:xfrm>
            <a:off x="7904858" y="1849834"/>
            <a:ext cx="11075" cy="2991445"/>
          </a:xfrm>
          <a:prstGeom prst="rect">
            <a:avLst/>
          </a:prstGeom>
          <a:solidFill>
            <a:srgbClr val="000000">
              <a:alpha val="8000"/>
            </a:srgbClr>
          </a:solidFill>
          <a:ln/>
        </p:spPr>
        <p:txBody>
          <a:bodyPr/>
          <a:lstStyle/>
          <a:p>
            <a:endParaRPr lang="en-US"/>
          </a:p>
        </p:txBody>
      </p:sp>
      <p:sp>
        <p:nvSpPr>
          <p:cNvPr id="12" name="Text 10"/>
          <p:cNvSpPr/>
          <p:nvPr/>
        </p:nvSpPr>
        <p:spPr>
          <a:xfrm>
            <a:off x="846216" y="1942207"/>
            <a:ext cx="3869931" cy="248047"/>
          </a:xfrm>
          <a:prstGeom prst="rect">
            <a:avLst/>
          </a:prstGeom>
          <a:noFill/>
          <a:ln/>
        </p:spPr>
        <p:txBody>
          <a:bodyPr wrap="none" lIns="0" tIns="0" rIns="0" bIns="0" rtlCol="0" anchor="t"/>
          <a:lstStyle/>
          <a:p>
            <a:pPr marL="0" indent="0" algn="l">
              <a:lnSpc>
                <a:spcPct val="117000"/>
              </a:lnSpc>
              <a:buNone/>
            </a:pPr>
            <a:r>
              <a:rPr lang="en-US" sz="1350" b="1" dirty="0">
                <a:solidFill>
                  <a:srgbClr val="2C3249"/>
                </a:solidFill>
                <a:latin typeface="Martel Sans Bold" pitchFamily="34" charset="0"/>
                <a:ea typeface="Martel Sans Bold" pitchFamily="34" charset="-122"/>
                <a:cs typeface="Martel Sans Bold" pitchFamily="34" charset="-120"/>
              </a:rPr>
              <a:t>Account</a:t>
            </a:r>
            <a:endParaRPr lang="en-US" sz="1350" dirty="0"/>
          </a:p>
        </p:txBody>
      </p:sp>
      <p:sp>
        <p:nvSpPr>
          <p:cNvPr id="13" name="Text 11"/>
          <p:cNvSpPr/>
          <p:nvPr/>
        </p:nvSpPr>
        <p:spPr>
          <a:xfrm>
            <a:off x="4467312" y="1942207"/>
            <a:ext cx="3866756" cy="248047"/>
          </a:xfrm>
          <a:prstGeom prst="rect">
            <a:avLst/>
          </a:prstGeom>
          <a:noFill/>
          <a:ln/>
        </p:spPr>
        <p:txBody>
          <a:bodyPr wrap="none" lIns="0" tIns="0" rIns="0" bIns="0" rtlCol="0" anchor="t"/>
          <a:lstStyle/>
          <a:p>
            <a:pPr marL="0" indent="0" algn="l">
              <a:lnSpc>
                <a:spcPct val="117000"/>
              </a:lnSpc>
              <a:buNone/>
            </a:pPr>
            <a:r>
              <a:rPr lang="en-US" sz="1350" b="1" dirty="0">
                <a:solidFill>
                  <a:srgbClr val="2C3249"/>
                </a:solidFill>
                <a:latin typeface="Martel Sans Bold" pitchFamily="34" charset="0"/>
                <a:ea typeface="Martel Sans Bold" pitchFamily="34" charset="-122"/>
                <a:cs typeface="Martel Sans Bold" pitchFamily="34" charset="-120"/>
              </a:rPr>
              <a:t>Debit (Dr)</a:t>
            </a:r>
            <a:endParaRPr lang="en-US" sz="1350" dirty="0"/>
          </a:p>
        </p:txBody>
      </p:sp>
      <p:sp>
        <p:nvSpPr>
          <p:cNvPr id="14" name="Text 12"/>
          <p:cNvSpPr/>
          <p:nvPr/>
        </p:nvSpPr>
        <p:spPr>
          <a:xfrm>
            <a:off x="8085233" y="1942207"/>
            <a:ext cx="3869931" cy="248047"/>
          </a:xfrm>
          <a:prstGeom prst="rect">
            <a:avLst/>
          </a:prstGeom>
          <a:noFill/>
          <a:ln/>
        </p:spPr>
        <p:txBody>
          <a:bodyPr wrap="none" lIns="0" tIns="0" rIns="0" bIns="0" rtlCol="0" anchor="t"/>
          <a:lstStyle/>
          <a:p>
            <a:pPr marL="0" indent="0" algn="l">
              <a:lnSpc>
                <a:spcPct val="117000"/>
              </a:lnSpc>
              <a:buNone/>
            </a:pPr>
            <a:r>
              <a:rPr lang="en-US" sz="1350" b="1" dirty="0">
                <a:solidFill>
                  <a:srgbClr val="2C3249"/>
                </a:solidFill>
                <a:latin typeface="Martel Sans Bold" pitchFamily="34" charset="0"/>
                <a:ea typeface="Martel Sans Bold" pitchFamily="34" charset="-122"/>
                <a:cs typeface="Martel Sans Bold" pitchFamily="34" charset="-120"/>
              </a:rPr>
              <a:t>Credit (Cr)</a:t>
            </a:r>
            <a:endParaRPr lang="en-US" sz="1350" dirty="0"/>
          </a:p>
        </p:txBody>
      </p:sp>
      <p:sp>
        <p:nvSpPr>
          <p:cNvPr id="15" name="Text 13"/>
          <p:cNvSpPr/>
          <p:nvPr/>
        </p:nvSpPr>
        <p:spPr>
          <a:xfrm>
            <a:off x="846216" y="2368649"/>
            <a:ext cx="3869931" cy="248047"/>
          </a:xfrm>
          <a:prstGeom prst="rect">
            <a:avLst/>
          </a:prstGeom>
          <a:noFill/>
          <a:ln/>
        </p:spPr>
        <p:txBody>
          <a:bodyPr wrap="none" lIns="0" tIns="0" rIns="0" bIns="0" rtlCol="0" anchor="t"/>
          <a:lstStyle/>
          <a:p>
            <a:pPr marL="0" indent="0" algn="l">
              <a:lnSpc>
                <a:spcPct val="117000"/>
              </a:lnSpc>
              <a:buNone/>
            </a:pPr>
            <a:r>
              <a:rPr lang="en-US" sz="1350" dirty="0">
                <a:solidFill>
                  <a:srgbClr val="2C3249"/>
                </a:solidFill>
                <a:latin typeface="Martel Sans" pitchFamily="34" charset="0"/>
                <a:ea typeface="Martel Sans" pitchFamily="34" charset="-122"/>
                <a:cs typeface="Martel Sans" pitchFamily="34" charset="-120"/>
              </a:rPr>
              <a:t>Assets</a:t>
            </a:r>
            <a:endParaRPr lang="en-US" sz="1350" dirty="0"/>
          </a:p>
        </p:txBody>
      </p:sp>
      <p:sp>
        <p:nvSpPr>
          <p:cNvPr id="16" name="Text 14"/>
          <p:cNvSpPr/>
          <p:nvPr/>
        </p:nvSpPr>
        <p:spPr>
          <a:xfrm>
            <a:off x="4467312" y="2368649"/>
            <a:ext cx="3866756" cy="248047"/>
          </a:xfrm>
          <a:prstGeom prst="rect">
            <a:avLst/>
          </a:prstGeom>
          <a:noFill/>
          <a:ln/>
        </p:spPr>
        <p:txBody>
          <a:bodyPr wrap="none" lIns="0" tIns="0" rIns="0" bIns="0" rtlCol="0" anchor="t"/>
          <a:lstStyle/>
          <a:p>
            <a:pPr marL="0" indent="0" algn="l">
              <a:lnSpc>
                <a:spcPct val="117000"/>
              </a:lnSpc>
              <a:buNone/>
            </a:pPr>
            <a:r>
              <a:rPr lang="en-US" sz="1350" dirty="0">
                <a:solidFill>
                  <a:srgbClr val="2C3249"/>
                </a:solidFill>
                <a:latin typeface="Martel Sans" pitchFamily="34" charset="0"/>
                <a:ea typeface="Martel Sans" pitchFamily="34" charset="-122"/>
                <a:cs typeface="Martel Sans" pitchFamily="34" charset="-120"/>
              </a:rPr>
              <a:t>✓</a:t>
            </a:r>
            <a:endParaRPr lang="en-US" sz="1350" dirty="0"/>
          </a:p>
        </p:txBody>
      </p:sp>
      <p:sp>
        <p:nvSpPr>
          <p:cNvPr id="17" name="Text 15"/>
          <p:cNvSpPr/>
          <p:nvPr/>
        </p:nvSpPr>
        <p:spPr>
          <a:xfrm>
            <a:off x="8085233" y="2368649"/>
            <a:ext cx="3869931" cy="248047"/>
          </a:xfrm>
          <a:prstGeom prst="rect">
            <a:avLst/>
          </a:prstGeom>
          <a:noFill/>
          <a:ln/>
        </p:spPr>
        <p:txBody>
          <a:bodyPr wrap="none" lIns="0" tIns="0" rIns="0" bIns="0" rtlCol="0" anchor="t"/>
          <a:lstStyle/>
          <a:p>
            <a:pPr marL="0" indent="0" algn="l">
              <a:lnSpc>
                <a:spcPct val="117000"/>
              </a:lnSpc>
              <a:buNone/>
            </a:pPr>
            <a:endParaRPr lang="en-US" sz="1350" dirty="0"/>
          </a:p>
        </p:txBody>
      </p:sp>
      <p:sp>
        <p:nvSpPr>
          <p:cNvPr id="18" name="Text 16"/>
          <p:cNvSpPr/>
          <p:nvPr/>
        </p:nvSpPr>
        <p:spPr>
          <a:xfrm>
            <a:off x="846216" y="2795091"/>
            <a:ext cx="3869931" cy="248047"/>
          </a:xfrm>
          <a:prstGeom prst="rect">
            <a:avLst/>
          </a:prstGeom>
          <a:noFill/>
          <a:ln/>
        </p:spPr>
        <p:txBody>
          <a:bodyPr wrap="none" lIns="0" tIns="0" rIns="0" bIns="0" rtlCol="0" anchor="t"/>
          <a:lstStyle/>
          <a:p>
            <a:pPr marL="0" indent="0" algn="l">
              <a:lnSpc>
                <a:spcPct val="117000"/>
              </a:lnSpc>
              <a:buNone/>
            </a:pPr>
            <a:r>
              <a:rPr lang="en-US" sz="1350" dirty="0">
                <a:solidFill>
                  <a:srgbClr val="2C3249"/>
                </a:solidFill>
                <a:latin typeface="Martel Sans" pitchFamily="34" charset="0"/>
                <a:ea typeface="Martel Sans" pitchFamily="34" charset="-122"/>
                <a:cs typeface="Martel Sans" pitchFamily="34" charset="-120"/>
              </a:rPr>
              <a:t>Expenses</a:t>
            </a:r>
            <a:endParaRPr lang="en-US" sz="1350" dirty="0"/>
          </a:p>
        </p:txBody>
      </p:sp>
      <p:sp>
        <p:nvSpPr>
          <p:cNvPr id="19" name="Text 17"/>
          <p:cNvSpPr/>
          <p:nvPr/>
        </p:nvSpPr>
        <p:spPr>
          <a:xfrm>
            <a:off x="4467312" y="2795091"/>
            <a:ext cx="3866756" cy="248047"/>
          </a:xfrm>
          <a:prstGeom prst="rect">
            <a:avLst/>
          </a:prstGeom>
          <a:noFill/>
          <a:ln/>
        </p:spPr>
        <p:txBody>
          <a:bodyPr wrap="none" lIns="0" tIns="0" rIns="0" bIns="0" rtlCol="0" anchor="t"/>
          <a:lstStyle/>
          <a:p>
            <a:pPr marL="0" indent="0" algn="l">
              <a:lnSpc>
                <a:spcPct val="117000"/>
              </a:lnSpc>
              <a:buNone/>
            </a:pPr>
            <a:r>
              <a:rPr lang="en-US" sz="1350" dirty="0">
                <a:solidFill>
                  <a:srgbClr val="2C3249"/>
                </a:solidFill>
                <a:latin typeface="Martel Sans" pitchFamily="34" charset="0"/>
                <a:ea typeface="Martel Sans" pitchFamily="34" charset="-122"/>
                <a:cs typeface="Martel Sans" pitchFamily="34" charset="-120"/>
              </a:rPr>
              <a:t>✓</a:t>
            </a:r>
            <a:endParaRPr lang="en-US" sz="1350" dirty="0"/>
          </a:p>
        </p:txBody>
      </p:sp>
      <p:sp>
        <p:nvSpPr>
          <p:cNvPr id="20" name="Text 18"/>
          <p:cNvSpPr/>
          <p:nvPr/>
        </p:nvSpPr>
        <p:spPr>
          <a:xfrm>
            <a:off x="8085233" y="2795091"/>
            <a:ext cx="3869931" cy="248047"/>
          </a:xfrm>
          <a:prstGeom prst="rect">
            <a:avLst/>
          </a:prstGeom>
          <a:noFill/>
          <a:ln/>
        </p:spPr>
        <p:txBody>
          <a:bodyPr wrap="none" lIns="0" tIns="0" rIns="0" bIns="0" rtlCol="0" anchor="t"/>
          <a:lstStyle/>
          <a:p>
            <a:pPr marL="0" indent="0" algn="l">
              <a:lnSpc>
                <a:spcPct val="117000"/>
              </a:lnSpc>
              <a:buNone/>
            </a:pPr>
            <a:endParaRPr lang="en-US" sz="1350" dirty="0"/>
          </a:p>
        </p:txBody>
      </p:sp>
      <p:sp>
        <p:nvSpPr>
          <p:cNvPr id="21" name="Text 19"/>
          <p:cNvSpPr/>
          <p:nvPr/>
        </p:nvSpPr>
        <p:spPr>
          <a:xfrm>
            <a:off x="846216" y="3221534"/>
            <a:ext cx="3869931" cy="248047"/>
          </a:xfrm>
          <a:prstGeom prst="rect">
            <a:avLst/>
          </a:prstGeom>
          <a:noFill/>
          <a:ln/>
        </p:spPr>
        <p:txBody>
          <a:bodyPr wrap="none" lIns="0" tIns="0" rIns="0" bIns="0" rtlCol="0" anchor="t"/>
          <a:lstStyle/>
          <a:p>
            <a:pPr marL="0" indent="0" algn="l">
              <a:lnSpc>
                <a:spcPct val="117000"/>
              </a:lnSpc>
              <a:buNone/>
            </a:pPr>
            <a:r>
              <a:rPr lang="en-US" sz="1350" dirty="0">
                <a:solidFill>
                  <a:srgbClr val="2C3249"/>
                </a:solidFill>
                <a:latin typeface="Martel Sans" pitchFamily="34" charset="0"/>
                <a:ea typeface="Martel Sans" pitchFamily="34" charset="-122"/>
                <a:cs typeface="Martel Sans" pitchFamily="34" charset="-120"/>
              </a:rPr>
              <a:t>Liabilities</a:t>
            </a:r>
            <a:endParaRPr lang="en-US" sz="1350" dirty="0"/>
          </a:p>
        </p:txBody>
      </p:sp>
      <p:sp>
        <p:nvSpPr>
          <p:cNvPr id="22" name="Text 20"/>
          <p:cNvSpPr/>
          <p:nvPr/>
        </p:nvSpPr>
        <p:spPr>
          <a:xfrm>
            <a:off x="4467312" y="3221534"/>
            <a:ext cx="3866756" cy="248047"/>
          </a:xfrm>
          <a:prstGeom prst="rect">
            <a:avLst/>
          </a:prstGeom>
          <a:noFill/>
          <a:ln/>
        </p:spPr>
        <p:txBody>
          <a:bodyPr wrap="none" lIns="0" tIns="0" rIns="0" bIns="0" rtlCol="0" anchor="t"/>
          <a:lstStyle/>
          <a:p>
            <a:pPr marL="0" indent="0" algn="l">
              <a:lnSpc>
                <a:spcPct val="117000"/>
              </a:lnSpc>
              <a:buNone/>
            </a:pPr>
            <a:endParaRPr lang="en-US" sz="1350" dirty="0"/>
          </a:p>
        </p:txBody>
      </p:sp>
      <p:sp>
        <p:nvSpPr>
          <p:cNvPr id="23" name="Text 21"/>
          <p:cNvSpPr/>
          <p:nvPr/>
        </p:nvSpPr>
        <p:spPr>
          <a:xfrm>
            <a:off x="8085233" y="3221534"/>
            <a:ext cx="3869931" cy="248047"/>
          </a:xfrm>
          <a:prstGeom prst="rect">
            <a:avLst/>
          </a:prstGeom>
          <a:noFill/>
          <a:ln/>
        </p:spPr>
        <p:txBody>
          <a:bodyPr wrap="none" lIns="0" tIns="0" rIns="0" bIns="0" rtlCol="0" anchor="t"/>
          <a:lstStyle/>
          <a:p>
            <a:pPr marL="0" indent="0" algn="l">
              <a:lnSpc>
                <a:spcPct val="117000"/>
              </a:lnSpc>
              <a:buNone/>
            </a:pPr>
            <a:r>
              <a:rPr lang="en-US" sz="1350" dirty="0">
                <a:solidFill>
                  <a:srgbClr val="2C3249"/>
                </a:solidFill>
                <a:latin typeface="Martel Sans" pitchFamily="34" charset="0"/>
                <a:ea typeface="Martel Sans" pitchFamily="34" charset="-122"/>
                <a:cs typeface="Martel Sans" pitchFamily="34" charset="-120"/>
              </a:rPr>
              <a:t>✓</a:t>
            </a:r>
            <a:endParaRPr lang="en-US" sz="1350" dirty="0"/>
          </a:p>
        </p:txBody>
      </p:sp>
      <p:sp>
        <p:nvSpPr>
          <p:cNvPr id="24" name="Text 22"/>
          <p:cNvSpPr/>
          <p:nvPr/>
        </p:nvSpPr>
        <p:spPr>
          <a:xfrm>
            <a:off x="846216" y="3647976"/>
            <a:ext cx="3869931" cy="248047"/>
          </a:xfrm>
          <a:prstGeom prst="rect">
            <a:avLst/>
          </a:prstGeom>
          <a:noFill/>
          <a:ln/>
        </p:spPr>
        <p:txBody>
          <a:bodyPr wrap="none" lIns="0" tIns="0" rIns="0" bIns="0" rtlCol="0" anchor="t"/>
          <a:lstStyle/>
          <a:p>
            <a:pPr marL="0" indent="0" algn="l">
              <a:lnSpc>
                <a:spcPct val="117000"/>
              </a:lnSpc>
              <a:buNone/>
            </a:pPr>
            <a:r>
              <a:rPr lang="en-US" sz="1350" dirty="0">
                <a:solidFill>
                  <a:srgbClr val="2C3249"/>
                </a:solidFill>
                <a:latin typeface="Martel Sans" pitchFamily="34" charset="0"/>
                <a:ea typeface="Martel Sans" pitchFamily="34" charset="-122"/>
                <a:cs typeface="Martel Sans" pitchFamily="34" charset="-120"/>
              </a:rPr>
              <a:t>Capital</a:t>
            </a:r>
            <a:endParaRPr lang="en-US" sz="1350" dirty="0"/>
          </a:p>
        </p:txBody>
      </p:sp>
      <p:sp>
        <p:nvSpPr>
          <p:cNvPr id="25" name="Text 23"/>
          <p:cNvSpPr/>
          <p:nvPr/>
        </p:nvSpPr>
        <p:spPr>
          <a:xfrm>
            <a:off x="4467312" y="3647976"/>
            <a:ext cx="3866756" cy="248047"/>
          </a:xfrm>
          <a:prstGeom prst="rect">
            <a:avLst/>
          </a:prstGeom>
          <a:noFill/>
          <a:ln/>
        </p:spPr>
        <p:txBody>
          <a:bodyPr wrap="none" lIns="0" tIns="0" rIns="0" bIns="0" rtlCol="0" anchor="t"/>
          <a:lstStyle/>
          <a:p>
            <a:pPr marL="0" indent="0" algn="l">
              <a:lnSpc>
                <a:spcPct val="117000"/>
              </a:lnSpc>
              <a:buNone/>
            </a:pPr>
            <a:endParaRPr lang="en-US" sz="1350" dirty="0"/>
          </a:p>
        </p:txBody>
      </p:sp>
      <p:sp>
        <p:nvSpPr>
          <p:cNvPr id="26" name="Text 24"/>
          <p:cNvSpPr/>
          <p:nvPr/>
        </p:nvSpPr>
        <p:spPr>
          <a:xfrm>
            <a:off x="8085233" y="3647976"/>
            <a:ext cx="3869931" cy="248047"/>
          </a:xfrm>
          <a:prstGeom prst="rect">
            <a:avLst/>
          </a:prstGeom>
          <a:noFill/>
          <a:ln/>
        </p:spPr>
        <p:txBody>
          <a:bodyPr wrap="none" lIns="0" tIns="0" rIns="0" bIns="0" rtlCol="0" anchor="t"/>
          <a:lstStyle/>
          <a:p>
            <a:pPr marL="0" indent="0" algn="l">
              <a:lnSpc>
                <a:spcPct val="117000"/>
              </a:lnSpc>
              <a:buNone/>
            </a:pPr>
            <a:r>
              <a:rPr lang="en-US" sz="1350" dirty="0">
                <a:solidFill>
                  <a:srgbClr val="2C3249"/>
                </a:solidFill>
                <a:latin typeface="Martel Sans" pitchFamily="34" charset="0"/>
                <a:ea typeface="Martel Sans" pitchFamily="34" charset="-122"/>
                <a:cs typeface="Martel Sans" pitchFamily="34" charset="-120"/>
              </a:rPr>
              <a:t>✓</a:t>
            </a:r>
            <a:endParaRPr lang="en-US" sz="1350" dirty="0"/>
          </a:p>
        </p:txBody>
      </p:sp>
      <p:sp>
        <p:nvSpPr>
          <p:cNvPr id="27" name="Text 25"/>
          <p:cNvSpPr/>
          <p:nvPr/>
        </p:nvSpPr>
        <p:spPr>
          <a:xfrm>
            <a:off x="846216" y="4074418"/>
            <a:ext cx="3869931" cy="248047"/>
          </a:xfrm>
          <a:prstGeom prst="rect">
            <a:avLst/>
          </a:prstGeom>
          <a:noFill/>
          <a:ln/>
        </p:spPr>
        <p:txBody>
          <a:bodyPr wrap="none" lIns="0" tIns="0" rIns="0" bIns="0" rtlCol="0" anchor="t"/>
          <a:lstStyle/>
          <a:p>
            <a:pPr marL="0" indent="0" algn="l">
              <a:lnSpc>
                <a:spcPct val="117000"/>
              </a:lnSpc>
              <a:buNone/>
            </a:pPr>
            <a:r>
              <a:rPr lang="en-US" sz="1350" dirty="0">
                <a:solidFill>
                  <a:srgbClr val="2C3249"/>
                </a:solidFill>
                <a:latin typeface="Martel Sans" pitchFamily="34" charset="0"/>
                <a:ea typeface="Martel Sans" pitchFamily="34" charset="-122"/>
                <a:cs typeface="Martel Sans" pitchFamily="34" charset="-120"/>
              </a:rPr>
              <a:t>Income</a:t>
            </a:r>
            <a:endParaRPr lang="en-US" sz="1350" dirty="0"/>
          </a:p>
        </p:txBody>
      </p:sp>
      <p:sp>
        <p:nvSpPr>
          <p:cNvPr id="28" name="Text 26"/>
          <p:cNvSpPr/>
          <p:nvPr/>
        </p:nvSpPr>
        <p:spPr>
          <a:xfrm>
            <a:off x="4467312" y="4074418"/>
            <a:ext cx="3866756" cy="248047"/>
          </a:xfrm>
          <a:prstGeom prst="rect">
            <a:avLst/>
          </a:prstGeom>
          <a:noFill/>
          <a:ln/>
        </p:spPr>
        <p:txBody>
          <a:bodyPr wrap="none" lIns="0" tIns="0" rIns="0" bIns="0" rtlCol="0" anchor="t"/>
          <a:lstStyle/>
          <a:p>
            <a:pPr marL="0" indent="0" algn="l">
              <a:lnSpc>
                <a:spcPct val="117000"/>
              </a:lnSpc>
              <a:buNone/>
            </a:pPr>
            <a:endParaRPr lang="en-US" sz="1350" dirty="0"/>
          </a:p>
        </p:txBody>
      </p:sp>
      <p:sp>
        <p:nvSpPr>
          <p:cNvPr id="29" name="Text 27"/>
          <p:cNvSpPr/>
          <p:nvPr/>
        </p:nvSpPr>
        <p:spPr>
          <a:xfrm>
            <a:off x="8085233" y="4074418"/>
            <a:ext cx="3869931" cy="248047"/>
          </a:xfrm>
          <a:prstGeom prst="rect">
            <a:avLst/>
          </a:prstGeom>
          <a:noFill/>
          <a:ln/>
        </p:spPr>
        <p:txBody>
          <a:bodyPr wrap="none" lIns="0" tIns="0" rIns="0" bIns="0" rtlCol="0" anchor="t"/>
          <a:lstStyle/>
          <a:p>
            <a:pPr marL="0" indent="0" algn="l">
              <a:lnSpc>
                <a:spcPct val="117000"/>
              </a:lnSpc>
              <a:buNone/>
            </a:pPr>
            <a:r>
              <a:rPr lang="en-US" sz="1350" dirty="0">
                <a:solidFill>
                  <a:srgbClr val="2C3249"/>
                </a:solidFill>
                <a:latin typeface="Martel Sans" pitchFamily="34" charset="0"/>
                <a:ea typeface="Martel Sans" pitchFamily="34" charset="-122"/>
                <a:cs typeface="Martel Sans" pitchFamily="34" charset="-120"/>
              </a:rPr>
              <a:t>✓</a:t>
            </a:r>
            <a:endParaRPr lang="en-US" sz="1350" dirty="0"/>
          </a:p>
        </p:txBody>
      </p:sp>
      <p:sp>
        <p:nvSpPr>
          <p:cNvPr id="30" name="Text 28"/>
          <p:cNvSpPr/>
          <p:nvPr/>
        </p:nvSpPr>
        <p:spPr>
          <a:xfrm>
            <a:off x="846216" y="4500860"/>
            <a:ext cx="3869931" cy="248047"/>
          </a:xfrm>
          <a:prstGeom prst="rect">
            <a:avLst/>
          </a:prstGeom>
          <a:noFill/>
          <a:ln/>
        </p:spPr>
        <p:txBody>
          <a:bodyPr wrap="none" lIns="0" tIns="0" rIns="0" bIns="0" rtlCol="0" anchor="t"/>
          <a:lstStyle/>
          <a:p>
            <a:pPr marL="0" indent="0" algn="l">
              <a:lnSpc>
                <a:spcPct val="117000"/>
              </a:lnSpc>
              <a:buNone/>
            </a:pPr>
            <a:r>
              <a:rPr lang="en-US" sz="1350" b="1" dirty="0">
                <a:solidFill>
                  <a:srgbClr val="2C3249"/>
                </a:solidFill>
                <a:latin typeface="Martel Sans Bold" pitchFamily="34" charset="0"/>
                <a:ea typeface="Martel Sans Bold" pitchFamily="34" charset="-122"/>
                <a:cs typeface="Martel Sans Bold" pitchFamily="34" charset="-120"/>
              </a:rPr>
              <a:t>Total</a:t>
            </a:r>
            <a:endParaRPr lang="en-US" sz="1350" dirty="0"/>
          </a:p>
        </p:txBody>
      </p:sp>
      <p:sp>
        <p:nvSpPr>
          <p:cNvPr id="31" name="Text 29"/>
          <p:cNvSpPr/>
          <p:nvPr/>
        </p:nvSpPr>
        <p:spPr>
          <a:xfrm>
            <a:off x="4467312" y="4500860"/>
            <a:ext cx="3866756" cy="248047"/>
          </a:xfrm>
          <a:prstGeom prst="rect">
            <a:avLst/>
          </a:prstGeom>
          <a:noFill/>
          <a:ln/>
        </p:spPr>
        <p:txBody>
          <a:bodyPr wrap="none" lIns="0" tIns="0" rIns="0" bIns="0" rtlCol="0" anchor="t"/>
          <a:lstStyle/>
          <a:p>
            <a:pPr marL="0" indent="0" algn="l">
              <a:lnSpc>
                <a:spcPct val="117000"/>
              </a:lnSpc>
              <a:buNone/>
            </a:pPr>
            <a:r>
              <a:rPr lang="en-US" sz="1350" b="1" dirty="0">
                <a:solidFill>
                  <a:srgbClr val="2C3249"/>
                </a:solidFill>
                <a:latin typeface="Martel Sans Bold" pitchFamily="34" charset="0"/>
                <a:ea typeface="Martel Sans Bold" pitchFamily="34" charset="-122"/>
                <a:cs typeface="Martel Sans Bold" pitchFamily="34" charset="-120"/>
              </a:rPr>
              <a:t>XXX</a:t>
            </a:r>
            <a:endParaRPr lang="en-US" sz="1350" dirty="0"/>
          </a:p>
        </p:txBody>
      </p:sp>
      <p:sp>
        <p:nvSpPr>
          <p:cNvPr id="32" name="Text 30"/>
          <p:cNvSpPr/>
          <p:nvPr/>
        </p:nvSpPr>
        <p:spPr>
          <a:xfrm>
            <a:off x="8085233" y="4500860"/>
            <a:ext cx="3869931" cy="248047"/>
          </a:xfrm>
          <a:prstGeom prst="rect">
            <a:avLst/>
          </a:prstGeom>
          <a:noFill/>
          <a:ln/>
        </p:spPr>
        <p:txBody>
          <a:bodyPr wrap="none" lIns="0" tIns="0" rIns="0" bIns="0" rtlCol="0" anchor="t"/>
          <a:lstStyle/>
          <a:p>
            <a:pPr marL="0" indent="0" algn="l">
              <a:lnSpc>
                <a:spcPct val="117000"/>
              </a:lnSpc>
              <a:buNone/>
            </a:pPr>
            <a:r>
              <a:rPr lang="en-US" sz="1350" b="1" dirty="0">
                <a:solidFill>
                  <a:srgbClr val="2C3249"/>
                </a:solidFill>
                <a:latin typeface="Martel Sans Bold" pitchFamily="34" charset="0"/>
                <a:ea typeface="Martel Sans Bold" pitchFamily="34" charset="-122"/>
                <a:cs typeface="Martel Sans Bold" pitchFamily="34" charset="-120"/>
              </a:rPr>
              <a:t>XXX</a:t>
            </a:r>
            <a:endParaRPr lang="en-US" sz="1350" dirty="0"/>
          </a:p>
        </p:txBody>
      </p:sp>
      <p:sp>
        <p:nvSpPr>
          <p:cNvPr id="33" name="Shape 31"/>
          <p:cNvSpPr/>
          <p:nvPr/>
        </p:nvSpPr>
        <p:spPr>
          <a:xfrm>
            <a:off x="661475" y="4990703"/>
            <a:ext cx="10868745" cy="837009"/>
          </a:xfrm>
          <a:prstGeom prst="roundRect">
            <a:avLst>
              <a:gd name="adj" fmla="val 8892"/>
            </a:avLst>
          </a:prstGeom>
          <a:solidFill>
            <a:srgbClr val="FCF2B5"/>
          </a:solidFill>
          <a:ln/>
        </p:spPr>
        <p:txBody>
          <a:bodyPr/>
          <a:lstStyle/>
          <a:p>
            <a:endParaRPr lang="en-US"/>
          </a:p>
        </p:txBody>
      </p:sp>
      <p:pic>
        <p:nvPicPr>
          <p:cNvPr id="34" name="Image 0" descr="preencoded.png"/>
          <p:cNvPicPr>
            <a:picLocks noChangeAspect="1"/>
          </p:cNvPicPr>
          <p:nvPr/>
        </p:nvPicPr>
        <p:blipFill>
          <a:blip r:embed="rId3"/>
          <a:stretch>
            <a:fillRect/>
          </a:stretch>
        </p:blipFill>
        <p:spPr>
          <a:xfrm>
            <a:off x="838675" y="5184180"/>
            <a:ext cx="221451" cy="177205"/>
          </a:xfrm>
          <a:prstGeom prst="rect">
            <a:avLst/>
          </a:prstGeom>
        </p:spPr>
      </p:pic>
      <p:sp>
        <p:nvSpPr>
          <p:cNvPr id="35" name="Text 32"/>
          <p:cNvSpPr/>
          <p:nvPr/>
        </p:nvSpPr>
        <p:spPr>
          <a:xfrm>
            <a:off x="1237326" y="5167809"/>
            <a:ext cx="10115694" cy="496094"/>
          </a:xfrm>
          <a:prstGeom prst="rect">
            <a:avLst/>
          </a:prstGeom>
          <a:noFill/>
          <a:ln/>
        </p:spPr>
        <p:txBody>
          <a:bodyPr wrap="square" lIns="0" tIns="0" rIns="0" bIns="0" rtlCol="0" anchor="t">
            <a:normAutofit/>
          </a:bodyPr>
          <a:lstStyle/>
          <a:p>
            <a:pPr marL="0" indent="0" algn="l">
              <a:lnSpc>
                <a:spcPct val="117000"/>
              </a:lnSpc>
              <a:buNone/>
            </a:pPr>
            <a:r>
              <a:rPr lang="en-US" sz="1350" dirty="0">
                <a:solidFill>
                  <a:srgbClr val="000000"/>
                </a:solidFill>
                <a:latin typeface="Martel Sans" pitchFamily="34" charset="0"/>
                <a:ea typeface="Martel Sans" pitchFamily="34" charset="-122"/>
                <a:cs typeface="Martel Sans" pitchFamily="34" charset="-120"/>
              </a:rPr>
              <a:t>A trial balance that balances does </a:t>
            </a:r>
            <a:r>
              <a:rPr lang="en-US" sz="1350" b="1" dirty="0">
                <a:solidFill>
                  <a:srgbClr val="000000"/>
                </a:solidFill>
                <a:latin typeface="Martel Sans Bold" pitchFamily="34" charset="0"/>
                <a:ea typeface="Martel Sans Bold" pitchFamily="34" charset="-122"/>
                <a:cs typeface="Martel Sans Bold" pitchFamily="34" charset="-120"/>
              </a:rPr>
              <a:t>not</a:t>
            </a:r>
            <a:r>
              <a:rPr lang="en-US" sz="1350" dirty="0">
                <a:solidFill>
                  <a:srgbClr val="000000"/>
                </a:solidFill>
                <a:latin typeface="Martel Sans" pitchFamily="34" charset="0"/>
                <a:ea typeface="Martel Sans" pitchFamily="34" charset="-122"/>
                <a:cs typeface="Martel Sans" pitchFamily="34" charset="-120"/>
              </a:rPr>
              <a:t> imply that all account balances are correct. Errors such as posting wrong debits or credits, posting wrong amounts, or omitting a transaction completely may not be highlighted in the trial balance.</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661475" y="670024"/>
            <a:ext cx="1887193" cy="265113"/>
          </a:xfrm>
          <a:prstGeom prst="roundRect">
            <a:avLst>
              <a:gd name="adj" fmla="val 22108"/>
            </a:avLst>
          </a:prstGeom>
          <a:solidFill>
            <a:srgbClr val="DFECE9"/>
          </a:solidFill>
          <a:ln/>
        </p:spPr>
        <p:txBody>
          <a:bodyPr/>
          <a:lstStyle/>
          <a:p>
            <a:endParaRPr lang="en-US"/>
          </a:p>
        </p:txBody>
      </p:sp>
      <p:sp>
        <p:nvSpPr>
          <p:cNvPr id="3" name="Text 1"/>
          <p:cNvSpPr/>
          <p:nvPr/>
        </p:nvSpPr>
        <p:spPr>
          <a:xfrm>
            <a:off x="766049" y="722313"/>
            <a:ext cx="2287629" cy="160536"/>
          </a:xfrm>
          <a:prstGeom prst="rect">
            <a:avLst/>
          </a:prstGeom>
          <a:noFill/>
          <a:ln/>
        </p:spPr>
        <p:txBody>
          <a:bodyPr wrap="none" lIns="0" tIns="0" rIns="0" bIns="0" rtlCol="0" anchor="t"/>
          <a:lstStyle/>
          <a:p>
            <a:pPr marL="0" indent="0" algn="l">
              <a:lnSpc>
                <a:spcPct val="96000"/>
              </a:lnSpc>
              <a:buNone/>
            </a:pPr>
            <a:r>
              <a:rPr lang="en-US" sz="1050" dirty="0">
                <a:solidFill>
                  <a:srgbClr val="2C3249"/>
                </a:solidFill>
                <a:latin typeface="Martel Sans" pitchFamily="34" charset="0"/>
                <a:ea typeface="Martel Sans" pitchFamily="34" charset="-122"/>
                <a:cs typeface="Martel Sans" pitchFamily="34" charset="-120"/>
              </a:rPr>
              <a:t>FINANCIAL STATEMENTS</a:t>
            </a:r>
            <a:endParaRPr lang="en-US" sz="1050" dirty="0"/>
          </a:p>
        </p:txBody>
      </p:sp>
      <p:sp>
        <p:nvSpPr>
          <p:cNvPr id="4" name="Text 2"/>
          <p:cNvSpPr/>
          <p:nvPr/>
        </p:nvSpPr>
        <p:spPr>
          <a:xfrm>
            <a:off x="661475" y="986631"/>
            <a:ext cx="10868745" cy="545009"/>
          </a:xfrm>
          <a:prstGeom prst="rect">
            <a:avLst/>
          </a:prstGeom>
          <a:noFill/>
          <a:ln/>
        </p:spPr>
        <p:txBody>
          <a:bodyPr wrap="none" lIns="0" tIns="0" rIns="0" bIns="0" rtlCol="0" anchor="t"/>
          <a:lstStyle/>
          <a:p>
            <a:pPr marL="0" indent="0" algn="l">
              <a:lnSpc>
                <a:spcPct val="104000"/>
              </a:lnSpc>
              <a:buNone/>
            </a:pPr>
            <a:r>
              <a:rPr lang="en-US" sz="3400" dirty="0">
                <a:solidFill>
                  <a:srgbClr val="272D45"/>
                </a:solidFill>
                <a:latin typeface="Kanit Light" pitchFamily="34" charset="0"/>
                <a:ea typeface="Kanit Light" pitchFamily="34" charset="-122"/>
                <a:cs typeface="Kanit Light" pitchFamily="34" charset="-120"/>
              </a:rPr>
              <a:t>Overview of the Key Financial Statements</a:t>
            </a:r>
            <a:endParaRPr lang="en-US" sz="3400" dirty="0"/>
          </a:p>
        </p:txBody>
      </p:sp>
      <p:sp>
        <p:nvSpPr>
          <p:cNvPr id="5" name="Text 3"/>
          <p:cNvSpPr/>
          <p:nvPr/>
        </p:nvSpPr>
        <p:spPr>
          <a:xfrm>
            <a:off x="661475" y="1674853"/>
            <a:ext cx="10868745" cy="727472"/>
          </a:xfrm>
          <a:prstGeom prst="rect">
            <a:avLst/>
          </a:prstGeom>
          <a:noFill/>
          <a:ln/>
        </p:spPr>
        <p:txBody>
          <a:bodyPr wrap="square" lIns="0" tIns="0" rIns="0" bIns="0" rtlCol="0" anchor="t">
            <a:noAutofit/>
          </a:bodyPr>
          <a:lstStyle/>
          <a:p>
            <a:pPr marL="0" indent="0" algn="l">
              <a:lnSpc>
                <a:spcPct val="116000"/>
              </a:lnSpc>
              <a:buNone/>
            </a:pPr>
            <a:r>
              <a:rPr lang="en-US" sz="1600" dirty="0">
                <a:solidFill>
                  <a:srgbClr val="2C3249"/>
                </a:solidFill>
                <a:latin typeface="Martel Sans" pitchFamily="34" charset="0"/>
                <a:ea typeface="Martel Sans" pitchFamily="34" charset="-122"/>
                <a:cs typeface="Martel Sans" pitchFamily="34" charset="-120"/>
              </a:rPr>
              <a:t>As highlighted in Topic 1, a complete set of financial statements provides users with a comprehensive picture of an entity's financial position, performance, cash flows and related disclosures. The following cards cover each of the six key financial statements in detail.</a:t>
            </a:r>
            <a:endParaRPr lang="en-US" sz="1600" dirty="0"/>
          </a:p>
        </p:txBody>
      </p:sp>
      <p:pic>
        <p:nvPicPr>
          <p:cNvPr id="6" name="Image 0" descr="preencoded.png"/>
          <p:cNvPicPr>
            <a:picLocks noChangeAspect="1"/>
          </p:cNvPicPr>
          <p:nvPr/>
        </p:nvPicPr>
        <p:blipFill>
          <a:blip r:embed="rId3"/>
          <a:stretch>
            <a:fillRect/>
          </a:stretch>
        </p:blipFill>
        <p:spPr>
          <a:xfrm>
            <a:off x="886691" y="2597150"/>
            <a:ext cx="10418617" cy="2960886"/>
          </a:xfrm>
          <a:prstGeom prst="rect">
            <a:avLst/>
          </a:prstGeom>
        </p:spPr>
      </p:pic>
      <p:sp>
        <p:nvSpPr>
          <p:cNvPr id="7" name="Text 4"/>
          <p:cNvSpPr/>
          <p:nvPr/>
        </p:nvSpPr>
        <p:spPr>
          <a:xfrm>
            <a:off x="9670963" y="4595212"/>
            <a:ext cx="1190097" cy="687787"/>
          </a:xfrm>
          <a:prstGeom prst="rect">
            <a:avLst/>
          </a:prstGeom>
          <a:noFill/>
          <a:ln/>
        </p:spPr>
        <p:txBody>
          <a:bodyPr wrap="square" lIns="0" tIns="0" rIns="0" bIns="0" rtlCol="0" anchor="t">
            <a:normAutofit/>
          </a:bodyPr>
          <a:lstStyle/>
          <a:p>
            <a:pPr marL="0" indent="0" algn="ctr">
              <a:lnSpc>
                <a:spcPct val="104000"/>
              </a:lnSpc>
              <a:buNone/>
            </a:pPr>
            <a:r>
              <a:rPr lang="en-US" sz="1400" dirty="0">
                <a:solidFill>
                  <a:srgbClr val="2C3249"/>
                </a:solidFill>
                <a:latin typeface="Kanit Light" pitchFamily="34" charset="0"/>
                <a:ea typeface="Kanit Light" pitchFamily="34" charset="-122"/>
                <a:cs typeface="Kanit Light" pitchFamily="34" charset="-120"/>
              </a:rPr>
              <a:t>Notes to Financial Statements</a:t>
            </a:r>
            <a:endParaRPr lang="en-US" sz="1400" dirty="0"/>
          </a:p>
        </p:txBody>
      </p:sp>
      <p:sp>
        <p:nvSpPr>
          <p:cNvPr id="8" name="Text 5"/>
          <p:cNvSpPr/>
          <p:nvPr/>
        </p:nvSpPr>
        <p:spPr>
          <a:xfrm>
            <a:off x="7588959" y="4709842"/>
            <a:ext cx="1190097" cy="458525"/>
          </a:xfrm>
          <a:prstGeom prst="rect">
            <a:avLst/>
          </a:prstGeom>
          <a:noFill/>
          <a:ln/>
        </p:spPr>
        <p:txBody>
          <a:bodyPr wrap="square" lIns="0" tIns="0" rIns="0" bIns="0" rtlCol="0" anchor="t">
            <a:normAutofit/>
          </a:bodyPr>
          <a:lstStyle/>
          <a:p>
            <a:pPr marL="0" indent="0" algn="ctr">
              <a:lnSpc>
                <a:spcPct val="104000"/>
              </a:lnSpc>
              <a:buNone/>
            </a:pPr>
            <a:r>
              <a:rPr lang="en-US" sz="1400" dirty="0">
                <a:solidFill>
                  <a:srgbClr val="2C3249"/>
                </a:solidFill>
                <a:latin typeface="Kanit Light" pitchFamily="34" charset="0"/>
                <a:ea typeface="Kanit Light" pitchFamily="34" charset="-122"/>
                <a:cs typeface="Kanit Light" pitchFamily="34" charset="-120"/>
              </a:rPr>
              <a:t>Cash Flow Statement</a:t>
            </a:r>
            <a:endParaRPr lang="en-US" sz="1400" dirty="0"/>
          </a:p>
        </p:txBody>
      </p:sp>
      <p:sp>
        <p:nvSpPr>
          <p:cNvPr id="9" name="Text 6"/>
          <p:cNvSpPr/>
          <p:nvPr/>
        </p:nvSpPr>
        <p:spPr>
          <a:xfrm>
            <a:off x="5534448" y="4609991"/>
            <a:ext cx="1190096" cy="687787"/>
          </a:xfrm>
          <a:prstGeom prst="rect">
            <a:avLst/>
          </a:prstGeom>
          <a:noFill/>
          <a:ln/>
        </p:spPr>
        <p:txBody>
          <a:bodyPr wrap="square" lIns="0" tIns="0" rIns="0" bIns="0" rtlCol="0" anchor="t">
            <a:normAutofit/>
          </a:bodyPr>
          <a:lstStyle/>
          <a:p>
            <a:pPr marL="0" indent="0" algn="ctr">
              <a:lnSpc>
                <a:spcPct val="104000"/>
              </a:lnSpc>
              <a:buNone/>
            </a:pPr>
            <a:r>
              <a:rPr lang="en-US" sz="1400" dirty="0">
                <a:solidFill>
                  <a:srgbClr val="2C3249"/>
                </a:solidFill>
                <a:latin typeface="Kanit Light" pitchFamily="34" charset="0"/>
                <a:ea typeface="Kanit Light" pitchFamily="34" charset="-122"/>
                <a:cs typeface="Kanit Light" pitchFamily="34" charset="-120"/>
              </a:rPr>
              <a:t>Statement of Financial Position</a:t>
            </a:r>
            <a:endParaRPr lang="en-US" sz="1400" dirty="0"/>
          </a:p>
        </p:txBody>
      </p:sp>
      <p:sp>
        <p:nvSpPr>
          <p:cNvPr id="10" name="Text 7"/>
          <p:cNvSpPr/>
          <p:nvPr/>
        </p:nvSpPr>
        <p:spPr>
          <a:xfrm>
            <a:off x="3479936" y="4717578"/>
            <a:ext cx="1190097" cy="458525"/>
          </a:xfrm>
          <a:prstGeom prst="rect">
            <a:avLst/>
          </a:prstGeom>
          <a:noFill/>
          <a:ln/>
        </p:spPr>
        <p:txBody>
          <a:bodyPr wrap="square" lIns="0" tIns="0" rIns="0" bIns="0" rtlCol="0" anchor="t">
            <a:normAutofit/>
          </a:bodyPr>
          <a:lstStyle/>
          <a:p>
            <a:pPr marL="0" indent="0" algn="ctr">
              <a:lnSpc>
                <a:spcPct val="104000"/>
              </a:lnSpc>
              <a:buNone/>
            </a:pPr>
            <a:r>
              <a:rPr lang="en-US" sz="1400" dirty="0">
                <a:solidFill>
                  <a:srgbClr val="2C3249"/>
                </a:solidFill>
                <a:latin typeface="Kanit Light" pitchFamily="34" charset="0"/>
                <a:ea typeface="Kanit Light" pitchFamily="34" charset="-122"/>
                <a:cs typeface="Kanit Light" pitchFamily="34" charset="-120"/>
              </a:rPr>
              <a:t>Statement of Profit or Loss</a:t>
            </a:r>
            <a:endParaRPr lang="en-US" sz="1400" dirty="0"/>
          </a:p>
        </p:txBody>
      </p:sp>
      <p:sp>
        <p:nvSpPr>
          <p:cNvPr id="11" name="Text 8"/>
          <p:cNvSpPr/>
          <p:nvPr/>
        </p:nvSpPr>
        <p:spPr>
          <a:xfrm>
            <a:off x="1425424" y="4832210"/>
            <a:ext cx="1190097" cy="229262"/>
          </a:xfrm>
          <a:prstGeom prst="rect">
            <a:avLst/>
          </a:prstGeom>
          <a:noFill/>
          <a:ln/>
        </p:spPr>
        <p:txBody>
          <a:bodyPr wrap="none" lIns="0" tIns="0" rIns="0" bIns="0" rtlCol="0" anchor="t"/>
          <a:lstStyle/>
          <a:p>
            <a:pPr marL="0" indent="0" algn="ctr">
              <a:lnSpc>
                <a:spcPct val="104000"/>
              </a:lnSpc>
              <a:buNone/>
            </a:pPr>
            <a:r>
              <a:rPr lang="en-US" sz="1400" dirty="0">
                <a:solidFill>
                  <a:srgbClr val="2C3249"/>
                </a:solidFill>
                <a:latin typeface="Kanit Light" pitchFamily="34" charset="0"/>
                <a:ea typeface="Kanit Light" pitchFamily="34" charset="-122"/>
                <a:cs typeface="Kanit Light" pitchFamily="34" charset="-120"/>
              </a:rPr>
              <a:t>Trial Balance</a:t>
            </a:r>
            <a:endParaRPr lang="en-US" sz="1400" dirty="0"/>
          </a:p>
        </p:txBody>
      </p:sp>
      <p:sp>
        <p:nvSpPr>
          <p:cNvPr id="12" name="Text 9"/>
          <p:cNvSpPr/>
          <p:nvPr/>
        </p:nvSpPr>
        <p:spPr>
          <a:xfrm>
            <a:off x="661475" y="5702895"/>
            <a:ext cx="10868745" cy="484981"/>
          </a:xfrm>
          <a:prstGeom prst="rect">
            <a:avLst/>
          </a:prstGeom>
          <a:noFill/>
          <a:ln/>
        </p:spPr>
        <p:txBody>
          <a:bodyPr wrap="square" lIns="0" tIns="0" rIns="0" bIns="0" rtlCol="0" anchor="t">
            <a:noAutofit/>
          </a:bodyPr>
          <a:lstStyle/>
          <a:p>
            <a:pPr marL="0" indent="0" algn="l">
              <a:lnSpc>
                <a:spcPct val="116000"/>
              </a:lnSpc>
              <a:buNone/>
            </a:pPr>
            <a:r>
              <a:rPr lang="en-US" sz="1600" dirty="0">
                <a:solidFill>
                  <a:srgbClr val="2C3249"/>
                </a:solidFill>
                <a:latin typeface="Martel Sans" pitchFamily="34" charset="0"/>
                <a:ea typeface="Martel Sans" pitchFamily="34" charset="-122"/>
                <a:cs typeface="Martel Sans" pitchFamily="34" charset="-120"/>
              </a:rPr>
              <a:t>Each financial statement serves a distinct purpose and is presented in a specific format, together with explanatory notes that provide the context needed to understand the numbers.</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2707887" y="234504"/>
            <a:ext cx="8828584" cy="627559"/>
          </a:xfrm>
          <a:prstGeom prst="rect">
            <a:avLst/>
          </a:prstGeom>
          <a:noFill/>
          <a:ln/>
        </p:spPr>
        <p:txBody>
          <a:bodyPr wrap="none" lIns="0" tIns="0" rIns="0" bIns="0" rtlCol="0" anchor="t"/>
          <a:lstStyle/>
          <a:p>
            <a:pPr marL="0" indent="0" algn="l">
              <a:lnSpc>
                <a:spcPct val="104000"/>
              </a:lnSpc>
              <a:buNone/>
            </a:pPr>
            <a:r>
              <a:rPr lang="en-US" sz="3950" dirty="0">
                <a:solidFill>
                  <a:srgbClr val="272D45"/>
                </a:solidFill>
                <a:latin typeface="Kanit Light" pitchFamily="34" charset="0"/>
                <a:ea typeface="Kanit Light" pitchFamily="34" charset="-122"/>
                <a:cs typeface="Kanit Light" pitchFamily="34" charset="-120"/>
              </a:rPr>
              <a:t>Statement of Financial Position</a:t>
            </a:r>
            <a:endParaRPr lang="en-US" sz="3950" dirty="0"/>
          </a:p>
        </p:txBody>
      </p:sp>
      <p:sp>
        <p:nvSpPr>
          <p:cNvPr id="3" name="Shape 1"/>
          <p:cNvSpPr/>
          <p:nvPr/>
        </p:nvSpPr>
        <p:spPr>
          <a:xfrm>
            <a:off x="516917" y="1316182"/>
            <a:ext cx="4342597" cy="4593981"/>
          </a:xfrm>
          <a:prstGeom prst="roundRect">
            <a:avLst>
              <a:gd name="adj" fmla="val 3545"/>
            </a:avLst>
          </a:prstGeom>
          <a:solidFill>
            <a:srgbClr val="437066"/>
          </a:solidFill>
          <a:ln/>
        </p:spPr>
        <p:txBody>
          <a:bodyPr/>
          <a:lstStyle/>
          <a:p>
            <a:endParaRPr lang="en-US"/>
          </a:p>
        </p:txBody>
      </p:sp>
      <p:sp>
        <p:nvSpPr>
          <p:cNvPr id="4" name="Text 2"/>
          <p:cNvSpPr/>
          <p:nvPr/>
        </p:nvSpPr>
        <p:spPr>
          <a:xfrm>
            <a:off x="717729" y="1587523"/>
            <a:ext cx="3940969" cy="313730"/>
          </a:xfrm>
          <a:prstGeom prst="rect">
            <a:avLst/>
          </a:prstGeom>
          <a:noFill/>
          <a:ln/>
        </p:spPr>
        <p:txBody>
          <a:bodyPr wrap="none" lIns="0" tIns="0" rIns="0" bIns="0" rtlCol="0" anchor="t"/>
          <a:lstStyle/>
          <a:p>
            <a:pPr marL="0" indent="0" algn="l">
              <a:lnSpc>
                <a:spcPct val="104000"/>
              </a:lnSpc>
              <a:buNone/>
            </a:pPr>
            <a:r>
              <a:rPr lang="en-US" sz="1950" dirty="0">
                <a:solidFill>
                  <a:srgbClr val="FFFFFF"/>
                </a:solidFill>
                <a:latin typeface="Kanit Light" pitchFamily="34" charset="0"/>
                <a:ea typeface="Kanit Light" pitchFamily="34" charset="-122"/>
                <a:cs typeface="Kanit Light" pitchFamily="34" charset="-120"/>
              </a:rPr>
              <a:t>What it Shows</a:t>
            </a:r>
            <a:endParaRPr lang="en-US" sz="1950" dirty="0"/>
          </a:p>
        </p:txBody>
      </p:sp>
      <p:sp>
        <p:nvSpPr>
          <p:cNvPr id="5" name="Text 3"/>
          <p:cNvSpPr/>
          <p:nvPr/>
        </p:nvSpPr>
        <p:spPr>
          <a:xfrm>
            <a:off x="655529" y="2189163"/>
            <a:ext cx="3940969" cy="1485801"/>
          </a:xfrm>
          <a:prstGeom prst="rect">
            <a:avLst/>
          </a:prstGeom>
          <a:noFill/>
          <a:ln/>
        </p:spPr>
        <p:txBody>
          <a:bodyPr wrap="square" lIns="0" tIns="0" rIns="0" bIns="0" rtlCol="0" anchor="t">
            <a:noAutofit/>
          </a:bodyPr>
          <a:lstStyle/>
          <a:p>
            <a:pPr marL="0" indent="0" algn="l">
              <a:lnSpc>
                <a:spcPct val="123000"/>
              </a:lnSpc>
              <a:buNone/>
            </a:pPr>
            <a:r>
              <a:rPr lang="en-US" sz="2400" dirty="0">
                <a:solidFill>
                  <a:srgbClr val="FFFFFF"/>
                </a:solidFill>
                <a:latin typeface="Martel Sans" pitchFamily="34" charset="0"/>
                <a:ea typeface="Martel Sans" pitchFamily="34" charset="-122"/>
                <a:cs typeface="Martel Sans" pitchFamily="34" charset="-120"/>
              </a:rPr>
              <a:t>The entity's </a:t>
            </a:r>
            <a:r>
              <a:rPr lang="en-US" sz="2400" b="1" dirty="0">
                <a:solidFill>
                  <a:srgbClr val="FFFFFF"/>
                </a:solidFill>
                <a:latin typeface="Martel Sans Bold" pitchFamily="34" charset="0"/>
                <a:ea typeface="Martel Sans Bold" pitchFamily="34" charset="-122"/>
                <a:cs typeface="Martel Sans Bold" pitchFamily="34" charset="-120"/>
              </a:rPr>
              <a:t>financial position at a specific date</a:t>
            </a:r>
            <a:r>
              <a:rPr lang="en-US" sz="2400" dirty="0">
                <a:solidFill>
                  <a:srgbClr val="FFFFFF"/>
                </a:solidFill>
                <a:latin typeface="Martel Sans" pitchFamily="34" charset="0"/>
                <a:ea typeface="Martel Sans" pitchFamily="34" charset="-122"/>
                <a:cs typeface="Martel Sans" pitchFamily="34" charset="-120"/>
              </a:rPr>
              <a:t>, including assets, liabilities and equity. It shows what the entity owns, what it owes and the owners' residual interest.</a:t>
            </a:r>
            <a:endParaRPr lang="en-US" sz="2400" dirty="0"/>
          </a:p>
        </p:txBody>
      </p:sp>
      <p:sp>
        <p:nvSpPr>
          <p:cNvPr id="6" name="Text 4"/>
          <p:cNvSpPr/>
          <p:nvPr/>
        </p:nvSpPr>
        <p:spPr>
          <a:xfrm>
            <a:off x="5211235" y="1517328"/>
            <a:ext cx="6325236" cy="313730"/>
          </a:xfrm>
          <a:prstGeom prst="rect">
            <a:avLst/>
          </a:prstGeom>
          <a:noFill/>
          <a:ln/>
        </p:spPr>
        <p:txBody>
          <a:bodyPr wrap="none" lIns="0" tIns="0" rIns="0" bIns="0" rtlCol="0" anchor="t"/>
          <a:lstStyle/>
          <a:p>
            <a:pPr marL="0" indent="0" algn="l">
              <a:lnSpc>
                <a:spcPct val="104000"/>
              </a:lnSpc>
              <a:buNone/>
            </a:pPr>
            <a:r>
              <a:rPr lang="en-US" sz="1950" dirty="0">
                <a:solidFill>
                  <a:srgbClr val="272D45"/>
                </a:solidFill>
                <a:latin typeface="Kanit Light" pitchFamily="34" charset="0"/>
                <a:ea typeface="Kanit Light" pitchFamily="34" charset="-122"/>
                <a:cs typeface="Kanit Light" pitchFamily="34" charset="-120"/>
              </a:rPr>
              <a:t>Format / Presentation</a:t>
            </a:r>
            <a:endParaRPr lang="en-US" sz="1950" dirty="0"/>
          </a:p>
        </p:txBody>
      </p:sp>
      <p:sp>
        <p:nvSpPr>
          <p:cNvPr id="7" name="Text 5"/>
          <p:cNvSpPr/>
          <p:nvPr/>
        </p:nvSpPr>
        <p:spPr>
          <a:xfrm>
            <a:off x="5211235" y="2189163"/>
            <a:ext cx="6325236" cy="1188641"/>
          </a:xfrm>
          <a:prstGeom prst="rect">
            <a:avLst/>
          </a:prstGeom>
          <a:noFill/>
          <a:ln/>
        </p:spPr>
        <p:txBody>
          <a:bodyPr wrap="square" lIns="0" tIns="0" rIns="0" bIns="0" rtlCol="0" anchor="t">
            <a:noAutofit/>
          </a:bodyPr>
          <a:lstStyle/>
          <a:p>
            <a:pPr marL="0" indent="0" algn="just">
              <a:lnSpc>
                <a:spcPct val="123000"/>
              </a:lnSpc>
              <a:buNone/>
            </a:pPr>
            <a:r>
              <a:rPr lang="en-US" dirty="0">
                <a:solidFill>
                  <a:srgbClr val="2C3249"/>
                </a:solidFill>
                <a:latin typeface="Martel Sans" pitchFamily="34" charset="0"/>
                <a:ea typeface="Martel Sans" pitchFamily="34" charset="-122"/>
                <a:cs typeface="Martel Sans" pitchFamily="34" charset="-120"/>
              </a:rPr>
              <a:t>Presented in a structured statement showing </a:t>
            </a:r>
            <a:r>
              <a:rPr lang="en-US" b="1" dirty="0">
                <a:solidFill>
                  <a:srgbClr val="2C3249"/>
                </a:solidFill>
                <a:latin typeface="Martel Sans Bold" pitchFamily="34" charset="0"/>
                <a:ea typeface="Martel Sans Bold" pitchFamily="34" charset="-122"/>
                <a:cs typeface="Martel Sans Bold" pitchFamily="34" charset="-120"/>
              </a:rPr>
              <a:t>Assets = Equity + Liabilities</a:t>
            </a:r>
            <a:r>
              <a:rPr lang="en-US" dirty="0">
                <a:solidFill>
                  <a:srgbClr val="2C3249"/>
                </a:solidFill>
                <a:latin typeface="Martel Sans" pitchFamily="34" charset="0"/>
                <a:ea typeface="Martel Sans" pitchFamily="34" charset="-122"/>
                <a:cs typeface="Martel Sans" pitchFamily="34" charset="-120"/>
              </a:rPr>
              <a:t>. Assets are normally classified as </a:t>
            </a:r>
            <a:r>
              <a:rPr lang="en-US" b="1" dirty="0">
                <a:solidFill>
                  <a:srgbClr val="2C3249"/>
                </a:solidFill>
                <a:latin typeface="Martel Sans Bold" pitchFamily="34" charset="0"/>
                <a:ea typeface="Martel Sans Bold" pitchFamily="34" charset="-122"/>
                <a:cs typeface="Martel Sans Bold" pitchFamily="34" charset="-120"/>
              </a:rPr>
              <a:t>current and non-current</a:t>
            </a:r>
            <a:r>
              <a:rPr lang="en-US" dirty="0">
                <a:solidFill>
                  <a:srgbClr val="2C3249"/>
                </a:solidFill>
                <a:latin typeface="Martel Sans" pitchFamily="34" charset="0"/>
                <a:ea typeface="Martel Sans" pitchFamily="34" charset="-122"/>
                <a:cs typeface="Martel Sans" pitchFamily="34" charset="-120"/>
              </a:rPr>
              <a:t>, while liabilities are classified as </a:t>
            </a:r>
            <a:r>
              <a:rPr lang="en-US" b="1" dirty="0">
                <a:solidFill>
                  <a:srgbClr val="2C3249"/>
                </a:solidFill>
                <a:latin typeface="Martel Sans Bold" pitchFamily="34" charset="0"/>
                <a:ea typeface="Martel Sans Bold" pitchFamily="34" charset="-122"/>
                <a:cs typeface="Martel Sans Bold" pitchFamily="34" charset="-120"/>
              </a:rPr>
              <a:t>current and non-current</a:t>
            </a:r>
            <a:r>
              <a:rPr lang="en-US" dirty="0">
                <a:solidFill>
                  <a:srgbClr val="2C3249"/>
                </a:solidFill>
                <a:latin typeface="Martel Sans" pitchFamily="34" charset="0"/>
                <a:ea typeface="Martel Sans" pitchFamily="34" charset="-122"/>
                <a:cs typeface="Martel Sans" pitchFamily="34" charset="-120"/>
              </a:rPr>
              <a:t>.</a:t>
            </a:r>
            <a:endParaRPr lang="en-US" dirty="0"/>
          </a:p>
        </p:txBody>
      </p:sp>
      <p:sp>
        <p:nvSpPr>
          <p:cNvPr id="8" name="Text 6"/>
          <p:cNvSpPr/>
          <p:nvPr/>
        </p:nvSpPr>
        <p:spPr>
          <a:xfrm>
            <a:off x="5211235" y="3828554"/>
            <a:ext cx="6325236" cy="2021880"/>
          </a:xfrm>
          <a:prstGeom prst="rect">
            <a:avLst/>
          </a:prstGeom>
          <a:noFill/>
          <a:ln/>
        </p:spPr>
        <p:txBody>
          <a:bodyPr wrap="square" lIns="0" tIns="80333" rIns="0" bIns="0" rtlCol="0" anchor="t">
            <a:normAutofit/>
          </a:bodyPr>
          <a:lstStyle/>
          <a:p>
            <a:pPr marL="314960" indent="-314960" algn="l">
              <a:lnSpc>
                <a:spcPct val="123000"/>
              </a:lnSpc>
              <a:buSzPct val="100000"/>
              <a:buChar char="•"/>
            </a:pPr>
            <a:r>
              <a:rPr lang="en-US" sz="1550" dirty="0">
                <a:solidFill>
                  <a:srgbClr val="2C3249"/>
                </a:solidFill>
                <a:latin typeface="Martel Sans" pitchFamily="34" charset="0"/>
                <a:ea typeface="Martel Sans" pitchFamily="34" charset="-122"/>
                <a:cs typeface="Martel Sans" pitchFamily="34" charset="-120"/>
              </a:rPr>
              <a:t>Non-current assets: property, plant and equipment, intangibles, investments</a:t>
            </a:r>
            <a:endParaRPr lang="en-US" sz="1550" dirty="0"/>
          </a:p>
          <a:p>
            <a:pPr marL="314960" indent="-314960" algn="l">
              <a:lnSpc>
                <a:spcPct val="123000"/>
              </a:lnSpc>
              <a:buSzPct val="100000"/>
              <a:buChar char="•"/>
            </a:pPr>
            <a:r>
              <a:rPr lang="en-US" sz="1550" dirty="0">
                <a:solidFill>
                  <a:srgbClr val="2C3249"/>
                </a:solidFill>
                <a:latin typeface="Martel Sans" pitchFamily="34" charset="0"/>
                <a:ea typeface="Martel Sans" pitchFamily="34" charset="-122"/>
                <a:cs typeface="Martel Sans" pitchFamily="34" charset="-120"/>
              </a:rPr>
              <a:t>Current assets: inventory, receivables, cash and equivalents</a:t>
            </a:r>
            <a:endParaRPr lang="en-US" sz="1550" dirty="0"/>
          </a:p>
          <a:p>
            <a:pPr marL="314960" indent="-314960" algn="l">
              <a:lnSpc>
                <a:spcPct val="123000"/>
              </a:lnSpc>
              <a:buSzPct val="100000"/>
              <a:buChar char="•"/>
            </a:pPr>
            <a:r>
              <a:rPr lang="en-US" sz="1550" dirty="0">
                <a:solidFill>
                  <a:srgbClr val="2C3249"/>
                </a:solidFill>
                <a:latin typeface="Martel Sans" pitchFamily="34" charset="0"/>
                <a:ea typeface="Martel Sans" pitchFamily="34" charset="-122"/>
                <a:cs typeface="Martel Sans" pitchFamily="34" charset="-120"/>
              </a:rPr>
              <a:t>Equity: share capital, retained earnings, reserves</a:t>
            </a:r>
            <a:endParaRPr lang="en-US" sz="1550" dirty="0"/>
          </a:p>
          <a:p>
            <a:pPr marL="314960" indent="-314960" algn="l">
              <a:lnSpc>
                <a:spcPct val="123000"/>
              </a:lnSpc>
              <a:buSzPct val="100000"/>
              <a:buChar char="•"/>
            </a:pPr>
            <a:r>
              <a:rPr lang="en-US" sz="1550" dirty="0">
                <a:solidFill>
                  <a:srgbClr val="2C3249"/>
                </a:solidFill>
                <a:latin typeface="Martel Sans" pitchFamily="34" charset="0"/>
                <a:ea typeface="Martel Sans" pitchFamily="34" charset="-122"/>
                <a:cs typeface="Martel Sans" pitchFamily="34" charset="-120"/>
              </a:rPr>
              <a:t>Non-current liabilities: long-term loans, deferred tax</a:t>
            </a:r>
            <a:endParaRPr lang="en-US" sz="1550" dirty="0"/>
          </a:p>
          <a:p>
            <a:pPr marL="314960" indent="-314960" algn="l">
              <a:lnSpc>
                <a:spcPct val="123000"/>
              </a:lnSpc>
              <a:buSzPct val="100000"/>
              <a:buChar char="•"/>
            </a:pPr>
            <a:r>
              <a:rPr lang="en-US" sz="1550" dirty="0">
                <a:solidFill>
                  <a:srgbClr val="2C3249"/>
                </a:solidFill>
                <a:latin typeface="Martel Sans" pitchFamily="34" charset="0"/>
                <a:ea typeface="Martel Sans" pitchFamily="34" charset="-122"/>
                <a:cs typeface="Martel Sans" pitchFamily="34" charset="-120"/>
              </a:rPr>
              <a:t>Current liabilities: payables, short-term borrowings, accruals</a:t>
            </a:r>
            <a:endParaRPr lang="en-US" sz="15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080960" y="240209"/>
            <a:ext cx="6296860" cy="664468"/>
          </a:xfrm>
          <a:prstGeom prst="rect">
            <a:avLst/>
          </a:prstGeom>
          <a:noFill/>
          <a:ln/>
        </p:spPr>
        <p:txBody>
          <a:bodyPr wrap="none" lIns="0" tIns="0" rIns="0" bIns="0" rtlCol="0" anchor="t"/>
          <a:lstStyle/>
          <a:p>
            <a:pPr marL="0" indent="0" algn="l">
              <a:lnSpc>
                <a:spcPct val="104000"/>
              </a:lnSpc>
              <a:buNone/>
            </a:pPr>
            <a:r>
              <a:rPr lang="en-US" sz="4150" dirty="0">
                <a:solidFill>
                  <a:srgbClr val="272D45"/>
                </a:solidFill>
                <a:latin typeface="Kanit Light" pitchFamily="34" charset="0"/>
                <a:ea typeface="Kanit Light" pitchFamily="34" charset="-122"/>
                <a:cs typeface="Kanit Light" pitchFamily="34" charset="-120"/>
              </a:rPr>
              <a:t>Statement of Profit or Loss</a:t>
            </a:r>
            <a:endParaRPr lang="en-US" sz="4150" dirty="0"/>
          </a:p>
        </p:txBody>
      </p:sp>
      <p:sp>
        <p:nvSpPr>
          <p:cNvPr id="4" name="Text 1"/>
          <p:cNvSpPr/>
          <p:nvPr/>
        </p:nvSpPr>
        <p:spPr>
          <a:xfrm>
            <a:off x="5233360" y="1875135"/>
            <a:ext cx="2889079" cy="332184"/>
          </a:xfrm>
          <a:prstGeom prst="rect">
            <a:avLst/>
          </a:prstGeom>
          <a:noFill/>
          <a:ln/>
        </p:spPr>
        <p:txBody>
          <a:bodyPr wrap="none" lIns="0" tIns="0" rIns="0" bIns="0" rtlCol="0" anchor="t"/>
          <a:lstStyle/>
          <a:p>
            <a:pPr marL="0" indent="0" algn="l">
              <a:lnSpc>
                <a:spcPct val="104000"/>
              </a:lnSpc>
              <a:buNone/>
            </a:pPr>
            <a:r>
              <a:rPr lang="en-US" sz="2050" dirty="0">
                <a:solidFill>
                  <a:srgbClr val="272D45"/>
                </a:solidFill>
                <a:latin typeface="Kanit Light" pitchFamily="34" charset="0"/>
                <a:ea typeface="Kanit Light" pitchFamily="34" charset="-122"/>
                <a:cs typeface="Kanit Light" pitchFamily="34" charset="-120"/>
              </a:rPr>
              <a:t>What it Shows</a:t>
            </a:r>
            <a:endParaRPr lang="en-US" sz="2050" dirty="0"/>
          </a:p>
        </p:txBody>
      </p:sp>
      <p:sp>
        <p:nvSpPr>
          <p:cNvPr id="5" name="Text 2"/>
          <p:cNvSpPr/>
          <p:nvPr/>
        </p:nvSpPr>
        <p:spPr>
          <a:xfrm>
            <a:off x="5233360" y="2398613"/>
            <a:ext cx="2889079" cy="1292622"/>
          </a:xfrm>
          <a:prstGeom prst="rect">
            <a:avLst/>
          </a:prstGeom>
          <a:noFill/>
          <a:ln/>
        </p:spPr>
        <p:txBody>
          <a:bodyPr wrap="square" lIns="0" tIns="0" rIns="0" bIns="0" rtlCol="0" anchor="t">
            <a:normAutofit/>
          </a:bodyPr>
          <a:lstStyle/>
          <a:p>
            <a:pPr marL="0" indent="0" algn="l">
              <a:lnSpc>
                <a:spcPct val="127000"/>
              </a:lnSpc>
              <a:buNone/>
            </a:pPr>
            <a:r>
              <a:rPr lang="en-US" sz="1650" dirty="0">
                <a:solidFill>
                  <a:srgbClr val="2C3249"/>
                </a:solidFill>
                <a:latin typeface="Martel Sans" pitchFamily="34" charset="0"/>
                <a:ea typeface="Martel Sans" pitchFamily="34" charset="-122"/>
                <a:cs typeface="Martel Sans" pitchFamily="34" charset="-120"/>
              </a:rPr>
              <a:t>The entity's </a:t>
            </a:r>
            <a:r>
              <a:rPr lang="en-US" sz="1650" b="1" dirty="0">
                <a:solidFill>
                  <a:srgbClr val="2C3249"/>
                </a:solidFill>
                <a:latin typeface="Martel Sans Bold" pitchFamily="34" charset="0"/>
                <a:ea typeface="Martel Sans Bold" pitchFamily="34" charset="-122"/>
                <a:cs typeface="Martel Sans Bold" pitchFamily="34" charset="-120"/>
              </a:rPr>
              <a:t>financial performance over a period</a:t>
            </a:r>
            <a:r>
              <a:rPr lang="en-US" sz="1650" dirty="0">
                <a:solidFill>
                  <a:srgbClr val="2C3249"/>
                </a:solidFill>
                <a:latin typeface="Martel Sans" pitchFamily="34" charset="0"/>
                <a:ea typeface="Martel Sans" pitchFamily="34" charset="-122"/>
                <a:cs typeface="Martel Sans" pitchFamily="34" charset="-120"/>
              </a:rPr>
              <a:t>, including income, expenses and profit or loss.</a:t>
            </a:r>
            <a:endParaRPr lang="en-US" sz="1650" dirty="0"/>
          </a:p>
        </p:txBody>
      </p:sp>
      <p:sp>
        <p:nvSpPr>
          <p:cNvPr id="6" name="Text 3"/>
          <p:cNvSpPr/>
          <p:nvPr/>
        </p:nvSpPr>
        <p:spPr>
          <a:xfrm>
            <a:off x="8647491" y="1875135"/>
            <a:ext cx="2889079" cy="332184"/>
          </a:xfrm>
          <a:prstGeom prst="rect">
            <a:avLst/>
          </a:prstGeom>
          <a:noFill/>
          <a:ln/>
        </p:spPr>
        <p:txBody>
          <a:bodyPr wrap="none" lIns="0" tIns="0" rIns="0" bIns="0" rtlCol="0" anchor="t"/>
          <a:lstStyle/>
          <a:p>
            <a:pPr marL="0" indent="0" algn="l">
              <a:lnSpc>
                <a:spcPct val="104000"/>
              </a:lnSpc>
              <a:buNone/>
            </a:pPr>
            <a:r>
              <a:rPr lang="en-US" sz="2050" dirty="0">
                <a:solidFill>
                  <a:srgbClr val="272D45"/>
                </a:solidFill>
                <a:latin typeface="Kanit Light" pitchFamily="34" charset="0"/>
                <a:ea typeface="Kanit Light" pitchFamily="34" charset="-122"/>
                <a:cs typeface="Kanit Light" pitchFamily="34" charset="-120"/>
              </a:rPr>
              <a:t>Format / Presentation</a:t>
            </a:r>
            <a:endParaRPr lang="en-US" sz="2050" dirty="0"/>
          </a:p>
        </p:txBody>
      </p:sp>
      <p:sp>
        <p:nvSpPr>
          <p:cNvPr id="7" name="Text 4"/>
          <p:cNvSpPr/>
          <p:nvPr/>
        </p:nvSpPr>
        <p:spPr>
          <a:xfrm>
            <a:off x="8647491" y="2398613"/>
            <a:ext cx="2889079" cy="3554710"/>
          </a:xfrm>
          <a:prstGeom prst="rect">
            <a:avLst/>
          </a:prstGeom>
          <a:noFill/>
          <a:ln/>
        </p:spPr>
        <p:txBody>
          <a:bodyPr wrap="square" lIns="0" tIns="0" rIns="0" bIns="0" rtlCol="0" anchor="t">
            <a:normAutofit/>
          </a:bodyPr>
          <a:lstStyle/>
          <a:p>
            <a:pPr marL="0" indent="0" algn="l">
              <a:lnSpc>
                <a:spcPct val="127000"/>
              </a:lnSpc>
              <a:buNone/>
            </a:pPr>
            <a:r>
              <a:rPr lang="en-US" sz="1650" dirty="0">
                <a:solidFill>
                  <a:srgbClr val="2C3249"/>
                </a:solidFill>
                <a:latin typeface="Martel Sans" pitchFamily="34" charset="0"/>
                <a:ea typeface="Martel Sans" pitchFamily="34" charset="-122"/>
                <a:cs typeface="Martel Sans" pitchFamily="34" charset="-120"/>
              </a:rPr>
              <a:t>Presented as a statement of income/revenue less expenses, resulting in </a:t>
            </a:r>
            <a:r>
              <a:rPr lang="en-US" sz="1650" b="1" dirty="0">
                <a:solidFill>
                  <a:srgbClr val="2C3249"/>
                </a:solidFill>
                <a:latin typeface="Martel Sans Bold" pitchFamily="34" charset="0"/>
                <a:ea typeface="Martel Sans Bold" pitchFamily="34" charset="-122"/>
                <a:cs typeface="Martel Sans Bold" pitchFamily="34" charset="-120"/>
              </a:rPr>
              <a:t>profit or loss for the period</a:t>
            </a:r>
            <a:r>
              <a:rPr lang="en-US" sz="1650" dirty="0">
                <a:solidFill>
                  <a:srgbClr val="2C3249"/>
                </a:solidFill>
                <a:latin typeface="Martel Sans" pitchFamily="34" charset="0"/>
                <a:ea typeface="Martel Sans" pitchFamily="34" charset="-122"/>
                <a:cs typeface="Martel Sans" pitchFamily="34" charset="-120"/>
              </a:rPr>
              <a:t>. Expenses may be classified by </a:t>
            </a:r>
            <a:r>
              <a:rPr lang="en-US" sz="1650" b="1" dirty="0">
                <a:solidFill>
                  <a:srgbClr val="2C3249"/>
                </a:solidFill>
                <a:latin typeface="Martel Sans Bold" pitchFamily="34" charset="0"/>
                <a:ea typeface="Martel Sans Bold" pitchFamily="34" charset="-122"/>
                <a:cs typeface="Martel Sans Bold" pitchFamily="34" charset="-120"/>
              </a:rPr>
              <a:t>nature</a:t>
            </a:r>
            <a:r>
              <a:rPr lang="en-US" sz="1650" dirty="0">
                <a:solidFill>
                  <a:srgbClr val="2C3249"/>
                </a:solidFill>
                <a:latin typeface="Martel Sans" pitchFamily="34" charset="0"/>
                <a:ea typeface="Martel Sans" pitchFamily="34" charset="-122"/>
                <a:cs typeface="Martel Sans" pitchFamily="34" charset="-120"/>
              </a:rPr>
              <a:t> (e.g. raw materials, staff costs, depreciation) or by </a:t>
            </a:r>
            <a:r>
              <a:rPr lang="en-US" sz="1650" b="1" dirty="0">
                <a:solidFill>
                  <a:srgbClr val="2C3249"/>
                </a:solidFill>
                <a:latin typeface="Martel Sans Bold" pitchFamily="34" charset="0"/>
                <a:ea typeface="Martel Sans Bold" pitchFamily="34" charset="-122"/>
                <a:cs typeface="Martel Sans Bold" pitchFamily="34" charset="-120"/>
              </a:rPr>
              <a:t>function</a:t>
            </a:r>
            <a:r>
              <a:rPr lang="en-US" sz="1650" dirty="0">
                <a:solidFill>
                  <a:srgbClr val="2C3249"/>
                </a:solidFill>
                <a:latin typeface="Martel Sans" pitchFamily="34" charset="0"/>
                <a:ea typeface="Martel Sans" pitchFamily="34" charset="-122"/>
                <a:cs typeface="Martel Sans" pitchFamily="34" charset="-120"/>
              </a:rPr>
              <a:t> (e.g. cost of sales, distribution costs, administrative expenses).</a:t>
            </a:r>
            <a:endParaRPr lang="en-US" sz="16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667825" y="483501"/>
            <a:ext cx="10868745" cy="1328936"/>
          </a:xfrm>
          <a:prstGeom prst="rect">
            <a:avLst/>
          </a:prstGeom>
          <a:noFill/>
          <a:ln/>
        </p:spPr>
        <p:txBody>
          <a:bodyPr wrap="square" lIns="0" tIns="0" rIns="0" bIns="0" rtlCol="0" anchor="t">
            <a:normAutofit/>
          </a:bodyPr>
          <a:lstStyle/>
          <a:p>
            <a:pPr marL="0" indent="0" algn="ctr">
              <a:lnSpc>
                <a:spcPct val="104000"/>
              </a:lnSpc>
              <a:buNone/>
            </a:pPr>
            <a:r>
              <a:rPr lang="en-US" sz="4150" dirty="0">
                <a:solidFill>
                  <a:srgbClr val="272D45"/>
                </a:solidFill>
                <a:latin typeface="Kanit Light" pitchFamily="34" charset="0"/>
                <a:ea typeface="Kanit Light" pitchFamily="34" charset="-122"/>
                <a:cs typeface="Kanit Light" pitchFamily="34" charset="-120"/>
              </a:rPr>
              <a:t>Statement of Other Comprehensive Income (OCI)</a:t>
            </a:r>
            <a:endParaRPr lang="en-US" sz="4150" dirty="0"/>
          </a:p>
        </p:txBody>
      </p:sp>
      <p:sp>
        <p:nvSpPr>
          <p:cNvPr id="3" name="Shape 1"/>
          <p:cNvSpPr/>
          <p:nvPr/>
        </p:nvSpPr>
        <p:spPr>
          <a:xfrm>
            <a:off x="508384" y="2400399"/>
            <a:ext cx="5481203" cy="3673177"/>
          </a:xfrm>
          <a:prstGeom prst="roundRect">
            <a:avLst>
              <a:gd name="adj" fmla="val 4168"/>
            </a:avLst>
          </a:prstGeom>
          <a:solidFill>
            <a:srgbClr val="437066"/>
          </a:solidFill>
          <a:ln/>
        </p:spPr>
        <p:txBody>
          <a:bodyPr/>
          <a:lstStyle/>
          <a:p>
            <a:endParaRPr lang="en-US"/>
          </a:p>
        </p:txBody>
      </p:sp>
      <p:sp>
        <p:nvSpPr>
          <p:cNvPr id="4" name="Text 2"/>
          <p:cNvSpPr/>
          <p:nvPr/>
        </p:nvSpPr>
        <p:spPr>
          <a:xfrm>
            <a:off x="721005" y="2591693"/>
            <a:ext cx="5055962" cy="332184"/>
          </a:xfrm>
          <a:prstGeom prst="rect">
            <a:avLst/>
          </a:prstGeom>
          <a:noFill/>
          <a:ln/>
        </p:spPr>
        <p:txBody>
          <a:bodyPr wrap="none" lIns="0" tIns="0" rIns="0" bIns="0" rtlCol="0" anchor="t"/>
          <a:lstStyle/>
          <a:p>
            <a:pPr marL="0" indent="0" algn="l">
              <a:lnSpc>
                <a:spcPct val="104000"/>
              </a:lnSpc>
              <a:buNone/>
            </a:pPr>
            <a:r>
              <a:rPr lang="en-US" sz="2050" dirty="0">
                <a:solidFill>
                  <a:srgbClr val="FFFFFF"/>
                </a:solidFill>
                <a:latin typeface="Kanit Light" pitchFamily="34" charset="0"/>
                <a:ea typeface="Kanit Light" pitchFamily="34" charset="-122"/>
                <a:cs typeface="Kanit Light" pitchFamily="34" charset="-120"/>
              </a:rPr>
              <a:t>What it Shows</a:t>
            </a:r>
            <a:endParaRPr lang="en-US" sz="2050" dirty="0"/>
          </a:p>
        </p:txBody>
      </p:sp>
      <p:sp>
        <p:nvSpPr>
          <p:cNvPr id="5" name="Text 3"/>
          <p:cNvSpPr/>
          <p:nvPr/>
        </p:nvSpPr>
        <p:spPr>
          <a:xfrm>
            <a:off x="721005" y="3115171"/>
            <a:ext cx="5055962" cy="969466"/>
          </a:xfrm>
          <a:prstGeom prst="rect">
            <a:avLst/>
          </a:prstGeom>
          <a:noFill/>
          <a:ln/>
        </p:spPr>
        <p:txBody>
          <a:bodyPr wrap="square" lIns="0" tIns="0" rIns="0" bIns="0" rtlCol="0" anchor="t">
            <a:normAutofit/>
          </a:bodyPr>
          <a:lstStyle/>
          <a:p>
            <a:pPr marL="0" indent="0" algn="l">
              <a:lnSpc>
                <a:spcPct val="127000"/>
              </a:lnSpc>
              <a:buNone/>
            </a:pPr>
            <a:r>
              <a:rPr lang="en-US" sz="1650" dirty="0">
                <a:solidFill>
                  <a:srgbClr val="FFFFFF"/>
                </a:solidFill>
                <a:latin typeface="Martel Sans" pitchFamily="34" charset="0"/>
                <a:ea typeface="Martel Sans" pitchFamily="34" charset="-122"/>
                <a:cs typeface="Martel Sans" pitchFamily="34" charset="-120"/>
              </a:rPr>
              <a:t>Gains and losses recognised in equity through </a:t>
            </a:r>
            <a:r>
              <a:rPr lang="en-US" sz="1650" b="1" dirty="0">
                <a:solidFill>
                  <a:srgbClr val="FFFFFF"/>
                </a:solidFill>
                <a:latin typeface="Martel Sans Bold" pitchFamily="34" charset="0"/>
                <a:ea typeface="Martel Sans Bold" pitchFamily="34" charset="-122"/>
                <a:cs typeface="Martel Sans Bold" pitchFamily="34" charset="-120"/>
              </a:rPr>
              <a:t>other comprehensive income</a:t>
            </a:r>
            <a:r>
              <a:rPr lang="en-US" sz="1650" dirty="0">
                <a:solidFill>
                  <a:srgbClr val="FFFFFF"/>
                </a:solidFill>
                <a:latin typeface="Martel Sans" pitchFamily="34" charset="0"/>
                <a:ea typeface="Martel Sans" pitchFamily="34" charset="-122"/>
                <a:cs typeface="Martel Sans" pitchFamily="34" charset="-120"/>
              </a:rPr>
              <a:t> rather than in profit or loss. Examples include:</a:t>
            </a:r>
            <a:endParaRPr lang="en-US" sz="1650" dirty="0"/>
          </a:p>
        </p:txBody>
      </p:sp>
      <p:sp>
        <p:nvSpPr>
          <p:cNvPr id="6" name="Text 4"/>
          <p:cNvSpPr/>
          <p:nvPr/>
        </p:nvSpPr>
        <p:spPr>
          <a:xfrm>
            <a:off x="721005" y="4256881"/>
            <a:ext cx="5055962" cy="1749723"/>
          </a:xfrm>
          <a:prstGeom prst="rect">
            <a:avLst/>
          </a:prstGeom>
          <a:noFill/>
          <a:ln/>
        </p:spPr>
        <p:txBody>
          <a:bodyPr wrap="square" lIns="0" tIns="85058" rIns="0" bIns="0" rtlCol="0" anchor="t">
            <a:normAutofit/>
          </a:bodyPr>
          <a:lstStyle/>
          <a:p>
            <a:pPr marL="335280" indent="-335280" algn="l">
              <a:lnSpc>
                <a:spcPct val="127000"/>
              </a:lnSpc>
              <a:buSzPct val="100000"/>
              <a:buChar char="•"/>
            </a:pPr>
            <a:r>
              <a:rPr lang="en-US" sz="1650" dirty="0">
                <a:solidFill>
                  <a:srgbClr val="FFFFFF"/>
                </a:solidFill>
                <a:latin typeface="Martel Sans" pitchFamily="34" charset="0"/>
                <a:ea typeface="Martel Sans" pitchFamily="34" charset="-122"/>
                <a:cs typeface="Martel Sans" pitchFamily="34" charset="-120"/>
              </a:rPr>
              <a:t>Certain revaluation gains on property, plant and equipment</a:t>
            </a:r>
            <a:endParaRPr lang="en-US" sz="1650" dirty="0"/>
          </a:p>
          <a:p>
            <a:pPr marL="335280" indent="-335280" algn="l">
              <a:lnSpc>
                <a:spcPct val="127000"/>
              </a:lnSpc>
              <a:buSzPct val="100000"/>
              <a:buChar char="•"/>
            </a:pPr>
            <a:r>
              <a:rPr lang="en-US" sz="1650" dirty="0">
                <a:solidFill>
                  <a:srgbClr val="FFFFFF"/>
                </a:solidFill>
                <a:latin typeface="Martel Sans" pitchFamily="34" charset="0"/>
                <a:ea typeface="Martel Sans" pitchFamily="34" charset="-122"/>
                <a:cs typeface="Martel Sans" pitchFamily="34" charset="-120"/>
              </a:rPr>
              <a:t>Foreign currency translation differences</a:t>
            </a:r>
            <a:endParaRPr lang="en-US" sz="1650" dirty="0"/>
          </a:p>
          <a:p>
            <a:pPr marL="335280" indent="-335280" algn="l">
              <a:lnSpc>
                <a:spcPct val="127000"/>
              </a:lnSpc>
              <a:buSzPct val="100000"/>
              <a:buChar char="•"/>
            </a:pPr>
            <a:r>
              <a:rPr lang="en-US" sz="1650" dirty="0">
                <a:solidFill>
                  <a:srgbClr val="FFFFFF"/>
                </a:solidFill>
                <a:latin typeface="Martel Sans" pitchFamily="34" charset="0"/>
                <a:ea typeface="Martel Sans" pitchFamily="34" charset="-122"/>
                <a:cs typeface="Martel Sans" pitchFamily="34" charset="-120"/>
              </a:rPr>
              <a:t>Changes in the fair value of certain financial instruments</a:t>
            </a:r>
            <a:endParaRPr lang="en-US" sz="1650" dirty="0"/>
          </a:p>
        </p:txBody>
      </p:sp>
      <p:sp>
        <p:nvSpPr>
          <p:cNvPr id="7" name="Text 5"/>
          <p:cNvSpPr/>
          <p:nvPr/>
        </p:nvSpPr>
        <p:spPr>
          <a:xfrm>
            <a:off x="6361549" y="2591693"/>
            <a:ext cx="5175021" cy="332184"/>
          </a:xfrm>
          <a:prstGeom prst="rect">
            <a:avLst/>
          </a:prstGeom>
          <a:noFill/>
          <a:ln/>
        </p:spPr>
        <p:txBody>
          <a:bodyPr wrap="none" lIns="0" tIns="0" rIns="0" bIns="0" rtlCol="0" anchor="t"/>
          <a:lstStyle/>
          <a:p>
            <a:pPr marL="0" indent="0" algn="l">
              <a:lnSpc>
                <a:spcPct val="104000"/>
              </a:lnSpc>
              <a:buNone/>
            </a:pPr>
            <a:r>
              <a:rPr lang="en-US" sz="2050" dirty="0">
                <a:solidFill>
                  <a:srgbClr val="272D45"/>
                </a:solidFill>
                <a:latin typeface="Kanit Light" pitchFamily="34" charset="0"/>
                <a:ea typeface="Kanit Light" pitchFamily="34" charset="-122"/>
                <a:cs typeface="Kanit Light" pitchFamily="34" charset="-120"/>
              </a:rPr>
              <a:t>Format / Presentation</a:t>
            </a:r>
            <a:endParaRPr lang="en-US" sz="2050" dirty="0"/>
          </a:p>
        </p:txBody>
      </p:sp>
      <p:sp>
        <p:nvSpPr>
          <p:cNvPr id="8" name="Text 6"/>
          <p:cNvSpPr/>
          <p:nvPr/>
        </p:nvSpPr>
        <p:spPr>
          <a:xfrm>
            <a:off x="6361549" y="3115171"/>
            <a:ext cx="5784606" cy="323155"/>
          </a:xfrm>
          <a:prstGeom prst="rect">
            <a:avLst/>
          </a:prstGeom>
          <a:noFill/>
          <a:ln/>
        </p:spPr>
        <p:txBody>
          <a:bodyPr wrap="none" lIns="0" tIns="0" rIns="0" bIns="0" rtlCol="0" anchor="t"/>
          <a:lstStyle/>
          <a:p>
            <a:pPr marL="0" indent="0" algn="l">
              <a:lnSpc>
                <a:spcPct val="127000"/>
              </a:lnSpc>
              <a:buNone/>
            </a:pPr>
            <a:r>
              <a:rPr lang="en-US" sz="1650" dirty="0">
                <a:solidFill>
                  <a:srgbClr val="2C3249"/>
                </a:solidFill>
                <a:latin typeface="Martel Sans" pitchFamily="34" charset="0"/>
                <a:ea typeface="Martel Sans" pitchFamily="34" charset="-122"/>
                <a:cs typeface="Martel Sans" pitchFamily="34" charset="-120"/>
              </a:rPr>
              <a:t>May be presented in two ways:</a:t>
            </a:r>
            <a:endParaRPr lang="en-US" sz="1650" dirty="0"/>
          </a:p>
        </p:txBody>
      </p:sp>
      <p:sp>
        <p:nvSpPr>
          <p:cNvPr id="9" name="Text 7"/>
          <p:cNvSpPr/>
          <p:nvPr/>
        </p:nvSpPr>
        <p:spPr>
          <a:xfrm>
            <a:off x="6361549" y="3610570"/>
            <a:ext cx="5175021" cy="2005905"/>
          </a:xfrm>
          <a:prstGeom prst="rect">
            <a:avLst/>
          </a:prstGeom>
          <a:noFill/>
          <a:ln/>
        </p:spPr>
        <p:txBody>
          <a:bodyPr wrap="square" lIns="0" tIns="0" rIns="0" bIns="0" rtlCol="0" anchor="t">
            <a:normAutofit/>
          </a:bodyPr>
          <a:lstStyle/>
          <a:p>
            <a:pPr marL="335280" indent="-335280" algn="l">
              <a:lnSpc>
                <a:spcPct val="127000"/>
              </a:lnSpc>
              <a:buSzPct val="100000"/>
              <a:buFont typeface="+mj-lt"/>
              <a:buAutoNum type="arabicPeriod"/>
            </a:pPr>
            <a:r>
              <a:rPr lang="en-US" sz="1650" dirty="0">
                <a:solidFill>
                  <a:srgbClr val="2C3249"/>
                </a:solidFill>
                <a:latin typeface="Martel Sans" pitchFamily="34" charset="0"/>
                <a:ea typeface="Martel Sans" pitchFamily="34" charset="-122"/>
                <a:cs typeface="Martel Sans" pitchFamily="34" charset="-120"/>
              </a:rPr>
              <a:t>Together with profit or loss in a </a:t>
            </a:r>
            <a:r>
              <a:rPr lang="en-US" sz="1650" b="1" dirty="0">
                <a:solidFill>
                  <a:srgbClr val="2C3249"/>
                </a:solidFill>
                <a:latin typeface="Martel Sans Bold" pitchFamily="34" charset="0"/>
                <a:ea typeface="Martel Sans Bold" pitchFamily="34" charset="-122"/>
                <a:cs typeface="Martel Sans Bold" pitchFamily="34" charset="-120"/>
              </a:rPr>
              <a:t>single statement</a:t>
            </a:r>
            <a:r>
              <a:rPr lang="en-US" sz="1650" dirty="0">
                <a:solidFill>
                  <a:srgbClr val="2C3249"/>
                </a:solidFill>
                <a:latin typeface="Martel Sans" pitchFamily="34" charset="0"/>
                <a:ea typeface="Martel Sans" pitchFamily="34" charset="-122"/>
                <a:cs typeface="Martel Sans" pitchFamily="34" charset="-120"/>
              </a:rPr>
              <a:t> of profit or loss and other comprehensive income</a:t>
            </a:r>
            <a:endParaRPr lang="en-US" sz="1650" dirty="0"/>
          </a:p>
          <a:p>
            <a:pPr marL="335280" indent="-335280" algn="l">
              <a:lnSpc>
                <a:spcPct val="127000"/>
              </a:lnSpc>
              <a:buSzPct val="100000"/>
              <a:buFont typeface="+mj-lt"/>
              <a:buAutoNum type="arabicPeriod" startAt="2"/>
            </a:pPr>
            <a:r>
              <a:rPr lang="en-US" sz="1650" dirty="0">
                <a:solidFill>
                  <a:srgbClr val="2C3249"/>
                </a:solidFill>
                <a:latin typeface="Martel Sans" pitchFamily="34" charset="0"/>
                <a:ea typeface="Martel Sans" pitchFamily="34" charset="-122"/>
                <a:cs typeface="Martel Sans" pitchFamily="34" charset="-120"/>
              </a:rPr>
              <a:t>As </a:t>
            </a:r>
            <a:r>
              <a:rPr lang="en-US" sz="1650" b="1" dirty="0">
                <a:solidFill>
                  <a:srgbClr val="2C3249"/>
                </a:solidFill>
                <a:latin typeface="Martel Sans Bold" pitchFamily="34" charset="0"/>
                <a:ea typeface="Martel Sans Bold" pitchFamily="34" charset="-122"/>
                <a:cs typeface="Martel Sans Bold" pitchFamily="34" charset="-120"/>
              </a:rPr>
              <a:t>two consecutive statements</a:t>
            </a:r>
            <a:r>
              <a:rPr lang="en-US" sz="1650" dirty="0">
                <a:solidFill>
                  <a:srgbClr val="2C3249"/>
                </a:solidFill>
                <a:latin typeface="Martel Sans" pitchFamily="34" charset="0"/>
                <a:ea typeface="Martel Sans" pitchFamily="34" charset="-122"/>
                <a:cs typeface="Martel Sans" pitchFamily="34" charset="-120"/>
              </a:rPr>
              <a:t>: Statement of Profit or Loss followed by Statement of Other Comprehensive Income</a:t>
            </a:r>
            <a:endParaRPr lang="en-US" sz="16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2008909" y="246360"/>
            <a:ext cx="9521311" cy="654050"/>
          </a:xfrm>
          <a:prstGeom prst="rect">
            <a:avLst/>
          </a:prstGeom>
          <a:noFill/>
          <a:ln/>
        </p:spPr>
        <p:txBody>
          <a:bodyPr wrap="none" lIns="0" tIns="0" rIns="0" bIns="0" rtlCol="0" anchor="t"/>
          <a:lstStyle/>
          <a:p>
            <a:pPr marL="0" indent="0" algn="l">
              <a:lnSpc>
                <a:spcPct val="104000"/>
              </a:lnSpc>
              <a:buNone/>
            </a:pPr>
            <a:r>
              <a:rPr lang="en-US" sz="4100" dirty="0">
                <a:solidFill>
                  <a:srgbClr val="272D45"/>
                </a:solidFill>
                <a:latin typeface="Kanit Light" pitchFamily="34" charset="0"/>
                <a:ea typeface="Kanit Light" pitchFamily="34" charset="-122"/>
                <a:cs typeface="Kanit Light" pitchFamily="34" charset="-120"/>
              </a:rPr>
              <a:t>Statement of Cash Flows</a:t>
            </a:r>
            <a:endParaRPr lang="en-US" sz="4100" dirty="0"/>
          </a:p>
        </p:txBody>
      </p:sp>
      <p:sp>
        <p:nvSpPr>
          <p:cNvPr id="3" name="Shape 1"/>
          <p:cNvSpPr/>
          <p:nvPr/>
        </p:nvSpPr>
        <p:spPr>
          <a:xfrm>
            <a:off x="661475" y="1122363"/>
            <a:ext cx="5341605" cy="3042145"/>
          </a:xfrm>
          <a:prstGeom prst="roundRect">
            <a:avLst>
              <a:gd name="adj" fmla="val 3572"/>
            </a:avLst>
          </a:prstGeom>
          <a:solidFill>
            <a:srgbClr val="DFECE9"/>
          </a:solidFill>
          <a:ln w="12700">
            <a:solidFill>
              <a:srgbClr val="C5D2CF"/>
            </a:solidFill>
            <a:prstDash val="solid"/>
          </a:ln>
        </p:spPr>
        <p:txBody>
          <a:bodyPr/>
          <a:lstStyle/>
          <a:p>
            <a:endParaRPr lang="en-US"/>
          </a:p>
        </p:txBody>
      </p:sp>
      <p:sp>
        <p:nvSpPr>
          <p:cNvPr id="4" name="Text 2"/>
          <p:cNvSpPr/>
          <p:nvPr/>
        </p:nvSpPr>
        <p:spPr>
          <a:xfrm>
            <a:off x="883422" y="1382415"/>
            <a:ext cx="4897712" cy="327025"/>
          </a:xfrm>
          <a:prstGeom prst="rect">
            <a:avLst/>
          </a:prstGeom>
          <a:noFill/>
          <a:ln/>
        </p:spPr>
        <p:txBody>
          <a:bodyPr wrap="none" lIns="0" tIns="0" rIns="0" bIns="0" rtlCol="0" anchor="t"/>
          <a:lstStyle/>
          <a:p>
            <a:pPr marL="0" indent="0" algn="l">
              <a:lnSpc>
                <a:spcPct val="104000"/>
              </a:lnSpc>
              <a:buNone/>
            </a:pPr>
            <a:r>
              <a:rPr lang="en-US" sz="2050" dirty="0">
                <a:solidFill>
                  <a:srgbClr val="2C3249"/>
                </a:solidFill>
                <a:latin typeface="Kanit Light" pitchFamily="34" charset="0"/>
                <a:ea typeface="Kanit Light" pitchFamily="34" charset="-122"/>
                <a:cs typeface="Kanit Light" pitchFamily="34" charset="-120"/>
              </a:rPr>
              <a:t>What it Shows</a:t>
            </a:r>
            <a:endParaRPr lang="en-US" sz="2050" dirty="0"/>
          </a:p>
        </p:txBody>
      </p:sp>
      <p:sp>
        <p:nvSpPr>
          <p:cNvPr id="5" name="Text 3"/>
          <p:cNvSpPr/>
          <p:nvPr/>
        </p:nvSpPr>
        <p:spPr>
          <a:xfrm>
            <a:off x="883422" y="2011808"/>
            <a:ext cx="4897712" cy="1263253"/>
          </a:xfrm>
          <a:prstGeom prst="rect">
            <a:avLst/>
          </a:prstGeom>
          <a:noFill/>
          <a:ln/>
        </p:spPr>
        <p:txBody>
          <a:bodyPr wrap="square" lIns="0" tIns="0" rIns="0" bIns="0" rtlCol="0" anchor="t">
            <a:noAutofit/>
          </a:bodyPr>
          <a:lstStyle/>
          <a:p>
            <a:pPr marL="0" indent="0" algn="just">
              <a:lnSpc>
                <a:spcPct val="126000"/>
              </a:lnSpc>
              <a:buNone/>
            </a:pPr>
            <a:r>
              <a:rPr lang="en-US" dirty="0">
                <a:solidFill>
                  <a:srgbClr val="2C3249"/>
                </a:solidFill>
                <a:latin typeface="Martel Sans" pitchFamily="34" charset="0"/>
                <a:ea typeface="Martel Sans" pitchFamily="34" charset="-122"/>
                <a:cs typeface="Martel Sans" pitchFamily="34" charset="-120"/>
              </a:rPr>
              <a:t>Cash inflows and outflows during the period and explains changes in cash and cash equivalents. Provides information about the entity's ability to </a:t>
            </a:r>
            <a:r>
              <a:rPr lang="en-US" b="1" dirty="0">
                <a:solidFill>
                  <a:srgbClr val="2C3249"/>
                </a:solidFill>
                <a:latin typeface="Martel Sans Bold" pitchFamily="34" charset="0"/>
                <a:ea typeface="Martel Sans Bold" pitchFamily="34" charset="-122"/>
                <a:cs typeface="Martel Sans Bold" pitchFamily="34" charset="-120"/>
              </a:rPr>
              <a:t>generate and use cash</a:t>
            </a:r>
            <a:r>
              <a:rPr lang="en-US" dirty="0">
                <a:solidFill>
                  <a:srgbClr val="2C3249"/>
                </a:solidFill>
                <a:latin typeface="Martel Sans" pitchFamily="34" charset="0"/>
                <a:ea typeface="Martel Sans" pitchFamily="34" charset="-122"/>
                <a:cs typeface="Martel Sans" pitchFamily="34" charset="-120"/>
              </a:rPr>
              <a:t>.</a:t>
            </a:r>
            <a:endParaRPr lang="en-US" dirty="0"/>
          </a:p>
        </p:txBody>
      </p:sp>
      <p:sp>
        <p:nvSpPr>
          <p:cNvPr id="6" name="Shape 4"/>
          <p:cNvSpPr/>
          <p:nvPr/>
        </p:nvSpPr>
        <p:spPr>
          <a:xfrm>
            <a:off x="6188515" y="1122363"/>
            <a:ext cx="5341705" cy="3042145"/>
          </a:xfrm>
          <a:prstGeom prst="roundRect">
            <a:avLst>
              <a:gd name="adj" fmla="val 3572"/>
            </a:avLst>
          </a:prstGeom>
          <a:solidFill>
            <a:srgbClr val="DFECE9"/>
          </a:solidFill>
          <a:ln w="12700">
            <a:solidFill>
              <a:srgbClr val="C5D2CF"/>
            </a:solidFill>
            <a:prstDash val="solid"/>
          </a:ln>
        </p:spPr>
        <p:txBody>
          <a:bodyPr/>
          <a:lstStyle/>
          <a:p>
            <a:endParaRPr lang="en-US"/>
          </a:p>
        </p:txBody>
      </p:sp>
      <p:sp>
        <p:nvSpPr>
          <p:cNvPr id="7" name="Text 5"/>
          <p:cNvSpPr/>
          <p:nvPr/>
        </p:nvSpPr>
        <p:spPr>
          <a:xfrm>
            <a:off x="6410462" y="1265703"/>
            <a:ext cx="4897811" cy="327025"/>
          </a:xfrm>
          <a:prstGeom prst="rect">
            <a:avLst/>
          </a:prstGeom>
          <a:noFill/>
          <a:ln/>
        </p:spPr>
        <p:txBody>
          <a:bodyPr wrap="none" lIns="0" tIns="0" rIns="0" bIns="0" rtlCol="0" anchor="t"/>
          <a:lstStyle/>
          <a:p>
            <a:pPr marL="0" indent="0" algn="l">
              <a:lnSpc>
                <a:spcPct val="104000"/>
              </a:lnSpc>
              <a:buNone/>
            </a:pPr>
            <a:r>
              <a:rPr lang="en-US" sz="2050" dirty="0">
                <a:solidFill>
                  <a:srgbClr val="2C3249"/>
                </a:solidFill>
                <a:latin typeface="Kanit Light" pitchFamily="34" charset="0"/>
                <a:ea typeface="Kanit Light" pitchFamily="34" charset="-122"/>
                <a:cs typeface="Kanit Light" pitchFamily="34" charset="-120"/>
              </a:rPr>
              <a:t>Operating Activities</a:t>
            </a:r>
            <a:endParaRPr lang="en-US" sz="2050" dirty="0"/>
          </a:p>
        </p:txBody>
      </p:sp>
      <p:sp>
        <p:nvSpPr>
          <p:cNvPr id="8" name="Text 6"/>
          <p:cNvSpPr/>
          <p:nvPr/>
        </p:nvSpPr>
        <p:spPr>
          <a:xfrm>
            <a:off x="6410462" y="2089085"/>
            <a:ext cx="4897811" cy="1579066"/>
          </a:xfrm>
          <a:prstGeom prst="rect">
            <a:avLst/>
          </a:prstGeom>
          <a:noFill/>
          <a:ln/>
        </p:spPr>
        <p:txBody>
          <a:bodyPr wrap="square" lIns="0" tIns="0" rIns="0" bIns="0" rtlCol="0" anchor="t">
            <a:noAutofit/>
          </a:bodyPr>
          <a:lstStyle/>
          <a:p>
            <a:pPr algn="just">
              <a:lnSpc>
                <a:spcPct val="126000"/>
              </a:lnSpc>
            </a:pPr>
            <a:r>
              <a:rPr lang="en-US" dirty="0">
                <a:solidFill>
                  <a:srgbClr val="2C3249"/>
                </a:solidFill>
                <a:latin typeface="Martel Sans" pitchFamily="34" charset="0"/>
                <a:cs typeface="Martel Sans" pitchFamily="34" charset="-120"/>
              </a:rPr>
              <a:t>Cash flows from the entity's principal revenue-generating activities. May be presented using the direct method (actual cash receipts/payments) or the indirect method (adjusting profit for non-cash items).</a:t>
            </a:r>
          </a:p>
        </p:txBody>
      </p:sp>
      <p:sp>
        <p:nvSpPr>
          <p:cNvPr id="9" name="Shape 7"/>
          <p:cNvSpPr/>
          <p:nvPr/>
        </p:nvSpPr>
        <p:spPr>
          <a:xfrm>
            <a:off x="661475" y="4349948"/>
            <a:ext cx="5341605" cy="2261692"/>
          </a:xfrm>
          <a:prstGeom prst="roundRect">
            <a:avLst>
              <a:gd name="adj" fmla="val 4805"/>
            </a:avLst>
          </a:prstGeom>
          <a:solidFill>
            <a:srgbClr val="DFECE9"/>
          </a:solidFill>
          <a:ln w="12700">
            <a:solidFill>
              <a:srgbClr val="C5D2CF"/>
            </a:solidFill>
            <a:prstDash val="solid"/>
          </a:ln>
        </p:spPr>
        <p:txBody>
          <a:bodyPr/>
          <a:lstStyle/>
          <a:p>
            <a:endParaRPr lang="en-US"/>
          </a:p>
        </p:txBody>
      </p:sp>
      <p:sp>
        <p:nvSpPr>
          <p:cNvPr id="10" name="Text 8"/>
          <p:cNvSpPr/>
          <p:nvPr/>
        </p:nvSpPr>
        <p:spPr>
          <a:xfrm>
            <a:off x="883422" y="4571901"/>
            <a:ext cx="4897712" cy="327025"/>
          </a:xfrm>
          <a:prstGeom prst="rect">
            <a:avLst/>
          </a:prstGeom>
          <a:noFill/>
          <a:ln/>
        </p:spPr>
        <p:txBody>
          <a:bodyPr wrap="none" lIns="0" tIns="0" rIns="0" bIns="0" rtlCol="0" anchor="t"/>
          <a:lstStyle/>
          <a:p>
            <a:pPr marL="0" indent="0" algn="l">
              <a:lnSpc>
                <a:spcPct val="104000"/>
              </a:lnSpc>
              <a:buNone/>
            </a:pPr>
            <a:r>
              <a:rPr lang="en-US" sz="2050" dirty="0">
                <a:solidFill>
                  <a:srgbClr val="2C3249"/>
                </a:solidFill>
                <a:latin typeface="Kanit Light" pitchFamily="34" charset="0"/>
                <a:ea typeface="Kanit Light" pitchFamily="34" charset="-122"/>
                <a:cs typeface="Kanit Light" pitchFamily="34" charset="-120"/>
              </a:rPr>
              <a:t>Investing Activities</a:t>
            </a:r>
            <a:endParaRPr lang="en-US" sz="2050" dirty="0"/>
          </a:p>
        </p:txBody>
      </p:sp>
      <p:sp>
        <p:nvSpPr>
          <p:cNvPr id="11" name="Text 9"/>
          <p:cNvSpPr/>
          <p:nvPr/>
        </p:nvSpPr>
        <p:spPr>
          <a:xfrm>
            <a:off x="883421" y="5120879"/>
            <a:ext cx="4897712" cy="947440"/>
          </a:xfrm>
          <a:prstGeom prst="rect">
            <a:avLst/>
          </a:prstGeom>
          <a:noFill/>
          <a:ln/>
        </p:spPr>
        <p:txBody>
          <a:bodyPr wrap="square" lIns="0" tIns="0" rIns="0" bIns="0" rtlCol="0" anchor="t">
            <a:noAutofit/>
          </a:bodyPr>
          <a:lstStyle/>
          <a:p>
            <a:pPr algn="just">
              <a:lnSpc>
                <a:spcPct val="126000"/>
              </a:lnSpc>
            </a:pPr>
            <a:r>
              <a:rPr lang="en-US" dirty="0">
                <a:solidFill>
                  <a:srgbClr val="2C3249"/>
                </a:solidFill>
                <a:latin typeface="Martel Sans" pitchFamily="34" charset="0"/>
                <a:cs typeface="Martel Sans" pitchFamily="34" charset="-120"/>
              </a:rPr>
              <a:t>Cash flows from the acquisition and disposal of long-term assets and investments not included in cash equivalents.</a:t>
            </a:r>
          </a:p>
        </p:txBody>
      </p:sp>
      <p:sp>
        <p:nvSpPr>
          <p:cNvPr id="12" name="Shape 10"/>
          <p:cNvSpPr/>
          <p:nvPr/>
        </p:nvSpPr>
        <p:spPr>
          <a:xfrm>
            <a:off x="6188515" y="4349947"/>
            <a:ext cx="5341705" cy="2133979"/>
          </a:xfrm>
          <a:prstGeom prst="roundRect">
            <a:avLst>
              <a:gd name="adj" fmla="val 4805"/>
            </a:avLst>
          </a:prstGeom>
          <a:solidFill>
            <a:srgbClr val="DFECE9"/>
          </a:solidFill>
          <a:ln w="12700">
            <a:solidFill>
              <a:srgbClr val="C5D2CF"/>
            </a:solidFill>
            <a:prstDash val="solid"/>
          </a:ln>
        </p:spPr>
        <p:txBody>
          <a:bodyPr/>
          <a:lstStyle/>
          <a:p>
            <a:endParaRPr lang="en-US"/>
          </a:p>
        </p:txBody>
      </p:sp>
      <p:sp>
        <p:nvSpPr>
          <p:cNvPr id="13" name="Text 11"/>
          <p:cNvSpPr/>
          <p:nvPr/>
        </p:nvSpPr>
        <p:spPr>
          <a:xfrm>
            <a:off x="6410462" y="4571901"/>
            <a:ext cx="4897811" cy="327025"/>
          </a:xfrm>
          <a:prstGeom prst="rect">
            <a:avLst/>
          </a:prstGeom>
          <a:noFill/>
          <a:ln/>
        </p:spPr>
        <p:txBody>
          <a:bodyPr wrap="none" lIns="0" tIns="0" rIns="0" bIns="0" rtlCol="0" anchor="t"/>
          <a:lstStyle/>
          <a:p>
            <a:pPr marL="0" indent="0" algn="l">
              <a:lnSpc>
                <a:spcPct val="104000"/>
              </a:lnSpc>
              <a:buNone/>
            </a:pPr>
            <a:r>
              <a:rPr lang="en-US" sz="2050" dirty="0">
                <a:solidFill>
                  <a:srgbClr val="2C3249"/>
                </a:solidFill>
                <a:latin typeface="Kanit Light" pitchFamily="34" charset="0"/>
                <a:ea typeface="Kanit Light" pitchFamily="34" charset="-122"/>
                <a:cs typeface="Kanit Light" pitchFamily="34" charset="-120"/>
              </a:rPr>
              <a:t>Financing Activities</a:t>
            </a:r>
            <a:endParaRPr lang="en-US" sz="2050" dirty="0"/>
          </a:p>
        </p:txBody>
      </p:sp>
      <p:sp>
        <p:nvSpPr>
          <p:cNvPr id="14" name="Text 12"/>
          <p:cNvSpPr/>
          <p:nvPr/>
        </p:nvSpPr>
        <p:spPr>
          <a:xfrm>
            <a:off x="6410462" y="5079170"/>
            <a:ext cx="4897811" cy="947440"/>
          </a:xfrm>
          <a:prstGeom prst="rect">
            <a:avLst/>
          </a:prstGeom>
          <a:noFill/>
          <a:ln/>
        </p:spPr>
        <p:txBody>
          <a:bodyPr wrap="square" lIns="0" tIns="0" rIns="0" bIns="0" rtlCol="0" anchor="t">
            <a:noAutofit/>
          </a:bodyPr>
          <a:lstStyle/>
          <a:p>
            <a:pPr algn="just">
              <a:lnSpc>
                <a:spcPct val="126000"/>
              </a:lnSpc>
            </a:pPr>
            <a:r>
              <a:rPr lang="en-US" dirty="0">
                <a:solidFill>
                  <a:srgbClr val="2C3249"/>
                </a:solidFill>
                <a:latin typeface="Martel Sans" pitchFamily="34" charset="0"/>
                <a:cs typeface="Martel Sans" pitchFamily="34" charset="-120"/>
              </a:rPr>
              <a:t>Cash flows from activities that result in changes in the size and composition of the entity's equity and borrowings.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661627" y="493713"/>
            <a:ext cx="10868745" cy="1181298"/>
          </a:xfrm>
          <a:prstGeom prst="rect">
            <a:avLst/>
          </a:prstGeom>
          <a:noFill/>
          <a:ln/>
        </p:spPr>
        <p:txBody>
          <a:bodyPr wrap="square" lIns="0" tIns="0" rIns="0" bIns="0" rtlCol="0" anchor="t">
            <a:normAutofit/>
          </a:bodyPr>
          <a:lstStyle/>
          <a:p>
            <a:pPr marL="0" indent="0" algn="ctr">
              <a:lnSpc>
                <a:spcPct val="104000"/>
              </a:lnSpc>
              <a:buNone/>
            </a:pPr>
            <a:r>
              <a:rPr lang="en-US" sz="3700" dirty="0">
                <a:solidFill>
                  <a:srgbClr val="272D45"/>
                </a:solidFill>
                <a:latin typeface="Kanit Light" pitchFamily="34" charset="0"/>
                <a:ea typeface="Kanit Light" pitchFamily="34" charset="-122"/>
                <a:cs typeface="Kanit Light" pitchFamily="34" charset="-120"/>
              </a:rPr>
              <a:t>Statement of Changes in Equity &amp; Notes to Financial Statements</a:t>
            </a:r>
            <a:endParaRPr lang="en-US" sz="3700" dirty="0"/>
          </a:p>
        </p:txBody>
      </p:sp>
      <p:sp>
        <p:nvSpPr>
          <p:cNvPr id="3" name="Text 1"/>
          <p:cNvSpPr/>
          <p:nvPr/>
        </p:nvSpPr>
        <p:spPr>
          <a:xfrm>
            <a:off x="661627" y="1894780"/>
            <a:ext cx="5203794" cy="295275"/>
          </a:xfrm>
          <a:prstGeom prst="rect">
            <a:avLst/>
          </a:prstGeom>
          <a:noFill/>
          <a:ln/>
        </p:spPr>
        <p:txBody>
          <a:bodyPr wrap="none" lIns="0" tIns="0" rIns="0" bIns="0" rtlCol="0" anchor="t"/>
          <a:lstStyle/>
          <a:p>
            <a:pPr marL="0" indent="0" algn="l">
              <a:lnSpc>
                <a:spcPct val="104000"/>
              </a:lnSpc>
              <a:buNone/>
            </a:pPr>
            <a:r>
              <a:rPr lang="en-US" sz="2500" b="1" dirty="0">
                <a:solidFill>
                  <a:srgbClr val="272D45"/>
                </a:solidFill>
                <a:latin typeface="Kanit Light" pitchFamily="34" charset="0"/>
                <a:ea typeface="Kanit Light" pitchFamily="34" charset="-122"/>
                <a:cs typeface="Kanit Light" pitchFamily="34" charset="-120"/>
              </a:rPr>
              <a:t>Statement of Changes in Equity</a:t>
            </a:r>
            <a:endParaRPr lang="en-US" sz="2500" b="1" dirty="0"/>
          </a:p>
        </p:txBody>
      </p:sp>
      <p:sp>
        <p:nvSpPr>
          <p:cNvPr id="4" name="Text 2"/>
          <p:cNvSpPr/>
          <p:nvPr/>
        </p:nvSpPr>
        <p:spPr>
          <a:xfrm>
            <a:off x="519306" y="2583606"/>
            <a:ext cx="5203794" cy="2313285"/>
          </a:xfrm>
          <a:prstGeom prst="rect">
            <a:avLst/>
          </a:prstGeom>
          <a:noFill/>
          <a:ln/>
        </p:spPr>
        <p:txBody>
          <a:bodyPr wrap="square" lIns="0" tIns="0" rIns="0" bIns="0" rtlCol="0" anchor="t">
            <a:noAutofit/>
          </a:bodyPr>
          <a:lstStyle/>
          <a:p>
            <a:pPr marL="0" indent="0" algn="just">
              <a:lnSpc>
                <a:spcPct val="120000"/>
              </a:lnSpc>
              <a:spcAft>
                <a:spcPts val="1050"/>
              </a:spcAft>
              <a:buNone/>
            </a:pPr>
            <a:r>
              <a:rPr lang="en-US" sz="2000" dirty="0">
                <a:solidFill>
                  <a:srgbClr val="2C3249"/>
                </a:solidFill>
                <a:latin typeface="Martel Sans" pitchFamily="34" charset="0"/>
                <a:ea typeface="Martel Sans" pitchFamily="34" charset="-122"/>
                <a:cs typeface="Martel Sans" pitchFamily="34" charset="-120"/>
              </a:rPr>
              <a:t>Shows </a:t>
            </a:r>
            <a:r>
              <a:rPr lang="en-US" sz="2000" b="1" dirty="0">
                <a:solidFill>
                  <a:srgbClr val="2C3249"/>
                </a:solidFill>
                <a:latin typeface="Martel Sans Bold" pitchFamily="34" charset="0"/>
                <a:ea typeface="Martel Sans Bold" pitchFamily="34" charset="-122"/>
                <a:cs typeface="Martel Sans Bold" pitchFamily="34" charset="-120"/>
              </a:rPr>
              <a:t>movements in the components of equity</a:t>
            </a:r>
            <a:r>
              <a:rPr lang="en-US" sz="2000" dirty="0">
                <a:solidFill>
                  <a:srgbClr val="2C3249"/>
                </a:solidFill>
                <a:latin typeface="Martel Sans" pitchFamily="34" charset="0"/>
                <a:ea typeface="Martel Sans" pitchFamily="34" charset="-122"/>
                <a:cs typeface="Martel Sans" pitchFamily="34" charset="-120"/>
              </a:rPr>
              <a:t> during the reporting period, including profit or loss, OCI, share capital, dividends, reserves and other changes in owners' equity.</a:t>
            </a:r>
            <a:endParaRPr lang="en-US" sz="2000" dirty="0"/>
          </a:p>
          <a:p>
            <a:pPr marL="0" indent="0" algn="just">
              <a:lnSpc>
                <a:spcPct val="120000"/>
              </a:lnSpc>
              <a:buNone/>
            </a:pPr>
            <a:r>
              <a:rPr lang="en-US" sz="2000" dirty="0">
                <a:solidFill>
                  <a:srgbClr val="2C3249"/>
                </a:solidFill>
                <a:latin typeface="Martel Sans" pitchFamily="34" charset="0"/>
                <a:ea typeface="Martel Sans" pitchFamily="34" charset="-122"/>
                <a:cs typeface="Martel Sans" pitchFamily="34" charset="-120"/>
              </a:rPr>
              <a:t>Presented as a </a:t>
            </a:r>
            <a:r>
              <a:rPr lang="en-US" sz="2000" b="1" dirty="0">
                <a:solidFill>
                  <a:srgbClr val="2C3249"/>
                </a:solidFill>
                <a:latin typeface="Martel Sans Bold" pitchFamily="34" charset="0"/>
                <a:ea typeface="Martel Sans Bold" pitchFamily="34" charset="-122"/>
                <a:cs typeface="Martel Sans Bold" pitchFamily="34" charset="-120"/>
              </a:rPr>
              <a:t>reconciliation of opening to closing equity balances</a:t>
            </a:r>
            <a:r>
              <a:rPr lang="en-US" sz="2000" dirty="0">
                <a:solidFill>
                  <a:srgbClr val="2C3249"/>
                </a:solidFill>
                <a:latin typeface="Martel Sans" pitchFamily="34" charset="0"/>
                <a:ea typeface="Martel Sans" pitchFamily="34" charset="-122"/>
                <a:cs typeface="Martel Sans" pitchFamily="34" charset="-120"/>
              </a:rPr>
              <a:t>, normally with separate columns for major equity components such as share capital and reserves.</a:t>
            </a:r>
            <a:endParaRPr lang="en-US" sz="2000" dirty="0"/>
          </a:p>
        </p:txBody>
      </p:sp>
      <p:sp>
        <p:nvSpPr>
          <p:cNvPr id="5" name="Shape 3"/>
          <p:cNvSpPr/>
          <p:nvPr/>
        </p:nvSpPr>
        <p:spPr>
          <a:xfrm>
            <a:off x="6196651" y="1894780"/>
            <a:ext cx="5476043" cy="4824675"/>
          </a:xfrm>
          <a:prstGeom prst="roundRect">
            <a:avLst>
              <a:gd name="adj" fmla="val 3502"/>
            </a:avLst>
          </a:prstGeom>
          <a:solidFill>
            <a:srgbClr val="437066"/>
          </a:solidFill>
          <a:ln/>
        </p:spPr>
        <p:txBody>
          <a:bodyPr/>
          <a:lstStyle/>
          <a:p>
            <a:endParaRPr lang="en-US"/>
          </a:p>
        </p:txBody>
      </p:sp>
      <p:sp>
        <p:nvSpPr>
          <p:cNvPr id="6" name="Text 4"/>
          <p:cNvSpPr/>
          <p:nvPr/>
        </p:nvSpPr>
        <p:spPr>
          <a:xfrm>
            <a:off x="6385657" y="2028409"/>
            <a:ext cx="5098029" cy="295275"/>
          </a:xfrm>
          <a:prstGeom prst="rect">
            <a:avLst/>
          </a:prstGeom>
          <a:noFill/>
          <a:ln/>
        </p:spPr>
        <p:txBody>
          <a:bodyPr wrap="none" lIns="0" tIns="0" rIns="0" bIns="0" rtlCol="0" anchor="t"/>
          <a:lstStyle/>
          <a:p>
            <a:pPr>
              <a:lnSpc>
                <a:spcPct val="104000"/>
              </a:lnSpc>
            </a:pPr>
            <a:r>
              <a:rPr lang="en-US" sz="2500" b="1" dirty="0">
                <a:solidFill>
                  <a:srgbClr val="272D45"/>
                </a:solidFill>
                <a:latin typeface="Kanit Light" pitchFamily="34" charset="0"/>
                <a:cs typeface="Kanit Light" pitchFamily="34" charset="-120"/>
              </a:rPr>
              <a:t>Notes to the Financial Statements</a:t>
            </a:r>
          </a:p>
        </p:txBody>
      </p:sp>
      <p:sp>
        <p:nvSpPr>
          <p:cNvPr id="7" name="Text 5"/>
          <p:cNvSpPr/>
          <p:nvPr/>
        </p:nvSpPr>
        <p:spPr>
          <a:xfrm>
            <a:off x="6385658" y="2787749"/>
            <a:ext cx="5098029" cy="816471"/>
          </a:xfrm>
          <a:prstGeom prst="rect">
            <a:avLst/>
          </a:prstGeom>
          <a:noFill/>
          <a:ln/>
        </p:spPr>
        <p:txBody>
          <a:bodyPr wrap="square" lIns="0" tIns="0" rIns="0" bIns="0" rtlCol="0" anchor="t">
            <a:noAutofit/>
          </a:bodyPr>
          <a:lstStyle/>
          <a:p>
            <a:pPr marL="0" indent="0" algn="l">
              <a:lnSpc>
                <a:spcPct val="120000"/>
              </a:lnSpc>
              <a:buNone/>
            </a:pPr>
            <a:r>
              <a:rPr lang="en-US" sz="1600" dirty="0">
                <a:solidFill>
                  <a:srgbClr val="FFFFFF"/>
                </a:solidFill>
                <a:latin typeface="Martel Sans" pitchFamily="34" charset="0"/>
                <a:ea typeface="Martel Sans" pitchFamily="34" charset="-122"/>
                <a:cs typeface="Martel Sans" pitchFamily="34" charset="-120"/>
              </a:rPr>
              <a:t>Provide additional explanations, accounting policies, supporting details and disclosures necessary to understand the financial statements. They include:</a:t>
            </a:r>
            <a:endParaRPr lang="en-US" sz="1600" dirty="0"/>
          </a:p>
        </p:txBody>
      </p:sp>
      <p:sp>
        <p:nvSpPr>
          <p:cNvPr id="8" name="Text 6"/>
          <p:cNvSpPr/>
          <p:nvPr/>
        </p:nvSpPr>
        <p:spPr>
          <a:xfrm>
            <a:off x="6385658" y="3740249"/>
            <a:ext cx="5098029" cy="1247279"/>
          </a:xfrm>
          <a:prstGeom prst="rect">
            <a:avLst/>
          </a:prstGeom>
          <a:noFill/>
          <a:ln/>
        </p:spPr>
        <p:txBody>
          <a:bodyPr wrap="square" lIns="0" tIns="75608" rIns="0" bIns="0" rtlCol="0" anchor="t">
            <a:normAutofit/>
          </a:bodyPr>
          <a:lstStyle/>
          <a:p>
            <a:pPr marL="294640" indent="-294640" algn="l">
              <a:lnSpc>
                <a:spcPct val="120000"/>
              </a:lnSpc>
              <a:buSzPct val="100000"/>
              <a:buChar char="•"/>
            </a:pPr>
            <a:r>
              <a:rPr lang="en-US" sz="1600" dirty="0">
                <a:solidFill>
                  <a:srgbClr val="FFFFFF"/>
                </a:solidFill>
                <a:latin typeface="Martel Sans" pitchFamily="34" charset="0"/>
                <a:ea typeface="Martel Sans" pitchFamily="34" charset="-122"/>
                <a:cs typeface="Martel Sans" pitchFamily="34" charset="-120"/>
              </a:rPr>
              <a:t>Significant judgements and estimates</a:t>
            </a:r>
            <a:endParaRPr lang="en-US" sz="1600" dirty="0"/>
          </a:p>
          <a:p>
            <a:pPr marL="294640" indent="-294640" algn="l">
              <a:lnSpc>
                <a:spcPct val="120000"/>
              </a:lnSpc>
              <a:buSzPct val="100000"/>
              <a:buChar char="•"/>
            </a:pPr>
            <a:r>
              <a:rPr lang="en-US" sz="1600" dirty="0">
                <a:solidFill>
                  <a:srgbClr val="FFFFFF"/>
                </a:solidFill>
                <a:latin typeface="Martel Sans" pitchFamily="34" charset="0"/>
                <a:ea typeface="Martel Sans" pitchFamily="34" charset="-122"/>
                <a:cs typeface="Martel Sans" pitchFamily="34" charset="-120"/>
              </a:rPr>
              <a:t>Commitments and contingencies</a:t>
            </a:r>
            <a:endParaRPr lang="en-US" sz="1600" dirty="0"/>
          </a:p>
          <a:p>
            <a:pPr marL="294640" indent="-294640" algn="l">
              <a:lnSpc>
                <a:spcPct val="120000"/>
              </a:lnSpc>
              <a:buSzPct val="100000"/>
              <a:buChar char="•"/>
            </a:pPr>
            <a:r>
              <a:rPr lang="en-US" sz="1600" dirty="0">
                <a:solidFill>
                  <a:srgbClr val="FFFFFF"/>
                </a:solidFill>
                <a:latin typeface="Martel Sans" pitchFamily="34" charset="0"/>
                <a:ea typeface="Martel Sans" pitchFamily="34" charset="-122"/>
                <a:cs typeface="Martel Sans" pitchFamily="34" charset="-120"/>
              </a:rPr>
              <a:t>Risk disclosures</a:t>
            </a:r>
            <a:endParaRPr lang="en-US" sz="1600" dirty="0"/>
          </a:p>
          <a:p>
            <a:pPr marL="294640" indent="-294640" algn="l">
              <a:lnSpc>
                <a:spcPct val="120000"/>
              </a:lnSpc>
              <a:buSzPct val="100000"/>
              <a:buChar char="•"/>
            </a:pPr>
            <a:r>
              <a:rPr lang="en-US" sz="1600" dirty="0">
                <a:solidFill>
                  <a:srgbClr val="FFFFFF"/>
                </a:solidFill>
                <a:latin typeface="Martel Sans" pitchFamily="34" charset="0"/>
                <a:ea typeface="Martel Sans" pitchFamily="34" charset="-122"/>
                <a:cs typeface="Martel Sans" pitchFamily="34" charset="-120"/>
              </a:rPr>
              <a:t>Detailed breakdowns of statement balances</a:t>
            </a:r>
            <a:endParaRPr lang="en-US" sz="1600" dirty="0"/>
          </a:p>
        </p:txBody>
      </p:sp>
      <p:sp>
        <p:nvSpPr>
          <p:cNvPr id="9" name="Text 7"/>
          <p:cNvSpPr/>
          <p:nvPr/>
        </p:nvSpPr>
        <p:spPr>
          <a:xfrm>
            <a:off x="6432343" y="5218527"/>
            <a:ext cx="5098029" cy="816471"/>
          </a:xfrm>
          <a:prstGeom prst="rect">
            <a:avLst/>
          </a:prstGeom>
          <a:noFill/>
          <a:ln/>
        </p:spPr>
        <p:txBody>
          <a:bodyPr wrap="square" lIns="0" tIns="0" rIns="0" bIns="0" rtlCol="0" anchor="t">
            <a:noAutofit/>
          </a:bodyPr>
          <a:lstStyle/>
          <a:p>
            <a:pPr marL="0" indent="0" algn="just">
              <a:lnSpc>
                <a:spcPct val="120000"/>
              </a:lnSpc>
              <a:buNone/>
            </a:pPr>
            <a:r>
              <a:rPr lang="en-US" sz="1600" dirty="0">
                <a:solidFill>
                  <a:srgbClr val="FFFFFF"/>
                </a:solidFill>
                <a:latin typeface="Martel Sans" pitchFamily="34" charset="0"/>
                <a:ea typeface="Martel Sans" pitchFamily="34" charset="-122"/>
                <a:cs typeface="Martel Sans" pitchFamily="34" charset="-120"/>
              </a:rPr>
              <a:t>Presented as </a:t>
            </a:r>
            <a:r>
              <a:rPr lang="en-US" sz="1600" b="1" dirty="0">
                <a:solidFill>
                  <a:srgbClr val="FFFFFF"/>
                </a:solidFill>
                <a:latin typeface="Martel Sans Bold" pitchFamily="34" charset="0"/>
                <a:ea typeface="Martel Sans Bold" pitchFamily="34" charset="-122"/>
                <a:cs typeface="Martel Sans Bold" pitchFamily="34" charset="-120"/>
              </a:rPr>
              <a:t>numbered explanatory notes</a:t>
            </a:r>
            <a:r>
              <a:rPr lang="en-US" sz="1600" dirty="0">
                <a:solidFill>
                  <a:srgbClr val="FFFFFF"/>
                </a:solidFill>
                <a:latin typeface="Martel Sans" pitchFamily="34" charset="0"/>
                <a:ea typeface="Martel Sans" pitchFamily="34" charset="-122"/>
                <a:cs typeface="Martel Sans" pitchFamily="34" charset="-120"/>
              </a:rPr>
              <a:t>, normally arranged systematically and cross-referenced to the relevant financial statement line items.</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661475" y="742752"/>
            <a:ext cx="2672192" cy="323056"/>
          </a:xfrm>
          <a:prstGeom prst="roundRect">
            <a:avLst>
              <a:gd name="adj" fmla="val 22117"/>
            </a:avLst>
          </a:prstGeom>
          <a:solidFill>
            <a:srgbClr val="DFECE9"/>
          </a:solidFill>
          <a:ln/>
        </p:spPr>
        <p:txBody>
          <a:bodyPr/>
          <a:lstStyle/>
          <a:p>
            <a:endParaRPr lang="en-US"/>
          </a:p>
        </p:txBody>
      </p:sp>
      <p:sp>
        <p:nvSpPr>
          <p:cNvPr id="3" name="Text 1"/>
          <p:cNvSpPr/>
          <p:nvPr/>
        </p:nvSpPr>
        <p:spPr>
          <a:xfrm>
            <a:off x="788968" y="806450"/>
            <a:ext cx="3026791" cy="195659"/>
          </a:xfrm>
          <a:prstGeom prst="rect">
            <a:avLst/>
          </a:prstGeom>
          <a:noFill/>
          <a:ln/>
        </p:spPr>
        <p:txBody>
          <a:bodyPr wrap="none" lIns="0" tIns="0" rIns="0" bIns="0" rtlCol="0" anchor="t"/>
          <a:lstStyle/>
          <a:p>
            <a:pPr marL="0" indent="0" algn="l">
              <a:lnSpc>
                <a:spcPct val="96000"/>
              </a:lnSpc>
              <a:buNone/>
            </a:pPr>
            <a:r>
              <a:rPr lang="en-US" sz="1300" dirty="0">
                <a:solidFill>
                  <a:srgbClr val="2C3249"/>
                </a:solidFill>
                <a:latin typeface="Martel Sans" pitchFamily="34" charset="0"/>
                <a:ea typeface="Martel Sans" pitchFamily="34" charset="-122"/>
                <a:cs typeface="Martel Sans" pitchFamily="34" charset="-120"/>
              </a:rPr>
              <a:t>MANUAL VS. COMPUTERIZED</a:t>
            </a:r>
            <a:endParaRPr lang="en-US" sz="1300" dirty="0"/>
          </a:p>
        </p:txBody>
      </p:sp>
      <p:sp>
        <p:nvSpPr>
          <p:cNvPr id="4" name="Text 2"/>
          <p:cNvSpPr/>
          <p:nvPr/>
        </p:nvSpPr>
        <p:spPr>
          <a:xfrm>
            <a:off x="1745673" y="1142305"/>
            <a:ext cx="9784547" cy="664468"/>
          </a:xfrm>
          <a:prstGeom prst="rect">
            <a:avLst/>
          </a:prstGeom>
          <a:noFill/>
          <a:ln/>
        </p:spPr>
        <p:txBody>
          <a:bodyPr wrap="none" lIns="0" tIns="0" rIns="0" bIns="0" rtlCol="0" anchor="t"/>
          <a:lstStyle/>
          <a:p>
            <a:pPr marL="0" indent="0" algn="l">
              <a:lnSpc>
                <a:spcPct val="104000"/>
              </a:lnSpc>
              <a:buNone/>
            </a:pPr>
            <a:r>
              <a:rPr lang="en-US" sz="4150" dirty="0">
                <a:solidFill>
                  <a:srgbClr val="272D45"/>
                </a:solidFill>
                <a:latin typeface="Kanit Light" pitchFamily="34" charset="0"/>
                <a:ea typeface="Kanit Light" pitchFamily="34" charset="-122"/>
                <a:cs typeface="Kanit Light" pitchFamily="34" charset="-120"/>
              </a:rPr>
              <a:t>Manual vs. Computerized FAR Process</a:t>
            </a:r>
            <a:endParaRPr lang="en-US" sz="4150" dirty="0"/>
          </a:p>
        </p:txBody>
      </p:sp>
      <p:sp>
        <p:nvSpPr>
          <p:cNvPr id="5" name="Text 3"/>
          <p:cNvSpPr/>
          <p:nvPr/>
        </p:nvSpPr>
        <p:spPr>
          <a:xfrm>
            <a:off x="648776" y="1964910"/>
            <a:ext cx="10868745" cy="1615777"/>
          </a:xfrm>
          <a:prstGeom prst="rect">
            <a:avLst/>
          </a:prstGeom>
          <a:noFill/>
          <a:ln/>
        </p:spPr>
        <p:txBody>
          <a:bodyPr wrap="square" lIns="0" tIns="0" rIns="0" bIns="0" rtlCol="0" anchor="t">
            <a:noAutofit/>
          </a:bodyPr>
          <a:lstStyle/>
          <a:p>
            <a:pPr marL="0" indent="0" algn="just">
              <a:lnSpc>
                <a:spcPct val="127000"/>
              </a:lnSpc>
              <a:buNone/>
            </a:pPr>
            <a:r>
              <a:rPr lang="en-US" dirty="0">
                <a:solidFill>
                  <a:srgbClr val="2C3249"/>
                </a:solidFill>
                <a:latin typeface="Martel Sans" pitchFamily="34" charset="0"/>
                <a:ea typeface="Martel Sans" pitchFamily="34" charset="-122"/>
                <a:cs typeface="Martel Sans" pitchFamily="34" charset="-120"/>
              </a:rPr>
              <a:t>A </a:t>
            </a:r>
            <a:r>
              <a:rPr lang="en-US" b="1" dirty="0">
                <a:solidFill>
                  <a:srgbClr val="2C3249"/>
                </a:solidFill>
                <a:latin typeface="Martel Sans Bold" pitchFamily="34" charset="0"/>
                <a:ea typeface="Martel Sans Bold" pitchFamily="34" charset="-122"/>
                <a:cs typeface="Martel Sans Bold" pitchFamily="34" charset="-120"/>
              </a:rPr>
              <a:t>manual accounting process</a:t>
            </a:r>
            <a:r>
              <a:rPr lang="en-US" dirty="0">
                <a:solidFill>
                  <a:srgbClr val="2C3249"/>
                </a:solidFill>
                <a:latin typeface="Martel Sans" pitchFamily="34" charset="0"/>
                <a:ea typeface="Martel Sans" pitchFamily="34" charset="-122"/>
                <a:cs typeface="Martel Sans" pitchFamily="34" charset="-120"/>
              </a:rPr>
              <a:t> records, processes and summarizes financial transactions using paper-based or manually operated accounting records, such as invoices, journals, ledgers and physical trial balances. A </a:t>
            </a:r>
            <a:r>
              <a:rPr lang="en-US" b="1" dirty="0">
                <a:solidFill>
                  <a:srgbClr val="2C3249"/>
                </a:solidFill>
                <a:latin typeface="Martel Sans Bold" pitchFamily="34" charset="0"/>
                <a:ea typeface="Martel Sans Bold" pitchFamily="34" charset="-122"/>
                <a:cs typeface="Martel Sans Bold" pitchFamily="34" charset="-120"/>
              </a:rPr>
              <a:t>computerized accounting process</a:t>
            </a:r>
            <a:r>
              <a:rPr lang="en-US" dirty="0">
                <a:solidFill>
                  <a:srgbClr val="2C3249"/>
                </a:solidFill>
                <a:latin typeface="Martel Sans" pitchFamily="34" charset="0"/>
                <a:ea typeface="Martel Sans" pitchFamily="34" charset="-122"/>
                <a:cs typeface="Martel Sans" pitchFamily="34" charset="-120"/>
              </a:rPr>
              <a:t> uses accounting software or an accounting information system (AIS) to capture, process, store and report financial transactions electronically. Many stages that are separate in a manual system are integrated and automated in a computerized system.</a:t>
            </a:r>
            <a:endParaRPr lang="en-US" dirty="0"/>
          </a:p>
        </p:txBody>
      </p:sp>
      <p:sp>
        <p:nvSpPr>
          <p:cNvPr id="6" name="Shape 4"/>
          <p:cNvSpPr/>
          <p:nvPr/>
        </p:nvSpPr>
        <p:spPr>
          <a:xfrm>
            <a:off x="699574" y="4148386"/>
            <a:ext cx="10868745" cy="2190254"/>
          </a:xfrm>
          <a:prstGeom prst="roundRect">
            <a:avLst>
              <a:gd name="adj" fmla="val 4078"/>
            </a:avLst>
          </a:prstGeom>
          <a:solidFill>
            <a:srgbClr val="DFECE9"/>
          </a:solidFill>
          <a:ln w="12700">
            <a:solidFill>
              <a:srgbClr val="C5D2CF"/>
            </a:solidFill>
            <a:prstDash val="solid"/>
          </a:ln>
        </p:spPr>
        <p:txBody>
          <a:bodyPr/>
          <a:lstStyle/>
          <a:p>
            <a:endParaRPr lang="en-US"/>
          </a:p>
        </p:txBody>
      </p:sp>
      <p:sp>
        <p:nvSpPr>
          <p:cNvPr id="7" name="Shape 5"/>
          <p:cNvSpPr/>
          <p:nvPr/>
        </p:nvSpPr>
        <p:spPr>
          <a:xfrm>
            <a:off x="699574" y="4175621"/>
            <a:ext cx="5421673" cy="2164854"/>
          </a:xfrm>
          <a:custGeom>
            <a:avLst/>
            <a:gdLst/>
            <a:ahLst/>
            <a:cxnLst/>
            <a:rect l="l" t="t" r="r" b="b"/>
            <a:pathLst>
              <a:path w="5421673" h="2164854">
                <a:moveTo>
                  <a:pt x="74426" y="0"/>
                </a:moveTo>
                <a:lnTo>
                  <a:pt x="5421673" y="0"/>
                </a:lnTo>
                <a:lnTo>
                  <a:pt x="5421673" y="2164854"/>
                </a:lnTo>
                <a:lnTo>
                  <a:pt x="74426" y="2164854"/>
                </a:lnTo>
                <a:arcTo wR="74426" hR="74428" stAng="5400000" swAng="5400000"/>
                <a:lnTo>
                  <a:pt x="0" y="74428"/>
                </a:lnTo>
                <a:arcTo wR="74426" hR="74428" stAng="10800000" swAng="5400000"/>
                <a:close/>
              </a:path>
            </a:pathLst>
          </a:custGeom>
          <a:solidFill>
            <a:srgbClr val="DFECE9"/>
          </a:solidFill>
          <a:ln/>
        </p:spPr>
        <p:txBody>
          <a:bodyPr/>
          <a:lstStyle/>
          <a:p>
            <a:endParaRPr lang="en-US"/>
          </a:p>
        </p:txBody>
      </p:sp>
      <p:sp>
        <p:nvSpPr>
          <p:cNvPr id="8" name="Text 6"/>
          <p:cNvSpPr/>
          <p:nvPr/>
        </p:nvSpPr>
        <p:spPr>
          <a:xfrm>
            <a:off x="886795" y="4150221"/>
            <a:ext cx="4996432" cy="332184"/>
          </a:xfrm>
          <a:prstGeom prst="rect">
            <a:avLst/>
          </a:prstGeom>
          <a:noFill/>
          <a:ln/>
        </p:spPr>
        <p:txBody>
          <a:bodyPr wrap="none" lIns="0" tIns="0" rIns="0" bIns="0" rtlCol="0" anchor="t"/>
          <a:lstStyle/>
          <a:p>
            <a:pPr marL="0" indent="0" algn="l">
              <a:lnSpc>
                <a:spcPct val="104000"/>
              </a:lnSpc>
              <a:buNone/>
            </a:pPr>
            <a:r>
              <a:rPr lang="en-US" sz="2050" b="1" dirty="0">
                <a:solidFill>
                  <a:srgbClr val="2C3249"/>
                </a:solidFill>
                <a:latin typeface="Kanit Light" pitchFamily="34" charset="0"/>
                <a:ea typeface="Kanit Light" pitchFamily="34" charset="-122"/>
                <a:cs typeface="Kanit Light" pitchFamily="34" charset="-120"/>
              </a:rPr>
              <a:t>Manual Process</a:t>
            </a:r>
            <a:endParaRPr lang="en-US" sz="2050" b="1" dirty="0"/>
          </a:p>
        </p:txBody>
      </p:sp>
      <p:sp>
        <p:nvSpPr>
          <p:cNvPr id="9" name="Text 7"/>
          <p:cNvSpPr/>
          <p:nvPr/>
        </p:nvSpPr>
        <p:spPr>
          <a:xfrm>
            <a:off x="886795" y="4597202"/>
            <a:ext cx="4996432" cy="969466"/>
          </a:xfrm>
          <a:prstGeom prst="rect">
            <a:avLst/>
          </a:prstGeom>
          <a:noFill/>
          <a:ln/>
        </p:spPr>
        <p:txBody>
          <a:bodyPr wrap="square" lIns="0" tIns="0" rIns="0" bIns="0" rtlCol="0" anchor="t">
            <a:normAutofit/>
          </a:bodyPr>
          <a:lstStyle/>
          <a:p>
            <a:pPr marL="0" indent="0" algn="l">
              <a:lnSpc>
                <a:spcPct val="127000"/>
              </a:lnSpc>
              <a:buNone/>
            </a:pPr>
            <a:r>
              <a:rPr lang="en-US" sz="1650" dirty="0">
                <a:solidFill>
                  <a:srgbClr val="2C3249"/>
                </a:solidFill>
                <a:latin typeface="Martel Sans" pitchFamily="34" charset="0"/>
                <a:ea typeface="Martel Sans" pitchFamily="34" charset="-122"/>
                <a:cs typeface="Martel Sans" pitchFamily="34" charset="-120"/>
              </a:rPr>
              <a:t>Paper-based documents, manual journals, hand-posted ledgers, manually extracted trial balance, and manually prepared financial statements.</a:t>
            </a:r>
            <a:endParaRPr lang="en-US" sz="1650" dirty="0"/>
          </a:p>
        </p:txBody>
      </p:sp>
      <p:sp>
        <p:nvSpPr>
          <p:cNvPr id="10" name="Shape 8"/>
          <p:cNvSpPr/>
          <p:nvPr/>
        </p:nvSpPr>
        <p:spPr>
          <a:xfrm>
            <a:off x="6146646" y="4146551"/>
            <a:ext cx="5421673" cy="2164854"/>
          </a:xfrm>
          <a:custGeom>
            <a:avLst/>
            <a:gdLst/>
            <a:ahLst/>
            <a:cxnLst/>
            <a:rect l="l" t="t" r="r" b="b"/>
            <a:pathLst>
              <a:path w="5421673" h="2164854">
                <a:moveTo>
                  <a:pt x="0" y="0"/>
                </a:moveTo>
                <a:lnTo>
                  <a:pt x="5347247" y="0"/>
                </a:lnTo>
                <a:arcTo wR="74426" hR="74428" stAng="16200000" swAng="5400000"/>
                <a:lnTo>
                  <a:pt x="5421673" y="2090426"/>
                </a:lnTo>
                <a:arcTo wR="74426" hR="74428" stAng="0" swAng="5400000"/>
                <a:lnTo>
                  <a:pt x="0" y="2164854"/>
                </a:lnTo>
                <a:lnTo>
                  <a:pt x="0" y="0"/>
                </a:lnTo>
                <a:close/>
              </a:path>
            </a:pathLst>
          </a:custGeom>
          <a:solidFill>
            <a:srgbClr val="DFECE9"/>
          </a:solidFill>
          <a:ln/>
        </p:spPr>
        <p:txBody>
          <a:bodyPr/>
          <a:lstStyle/>
          <a:p>
            <a:endParaRPr lang="en-US"/>
          </a:p>
        </p:txBody>
      </p:sp>
      <p:sp>
        <p:nvSpPr>
          <p:cNvPr id="11" name="Shape 9"/>
          <p:cNvSpPr/>
          <p:nvPr/>
        </p:nvSpPr>
        <p:spPr>
          <a:xfrm>
            <a:off x="6095848" y="3937595"/>
            <a:ext cx="25399" cy="2164854"/>
          </a:xfrm>
          <a:prstGeom prst="roundRect">
            <a:avLst>
              <a:gd name="adj" fmla="val 50001"/>
            </a:avLst>
          </a:prstGeom>
          <a:solidFill>
            <a:srgbClr val="C5D2CF"/>
          </a:solidFill>
          <a:ln/>
        </p:spPr>
        <p:txBody>
          <a:bodyPr/>
          <a:lstStyle/>
          <a:p>
            <a:endParaRPr lang="en-US"/>
          </a:p>
        </p:txBody>
      </p:sp>
      <p:sp>
        <p:nvSpPr>
          <p:cNvPr id="12" name="Text 10"/>
          <p:cNvSpPr/>
          <p:nvPr/>
        </p:nvSpPr>
        <p:spPr>
          <a:xfrm>
            <a:off x="6308468" y="4150221"/>
            <a:ext cx="4996432" cy="332184"/>
          </a:xfrm>
          <a:prstGeom prst="rect">
            <a:avLst/>
          </a:prstGeom>
          <a:noFill/>
          <a:ln/>
        </p:spPr>
        <p:txBody>
          <a:bodyPr wrap="none" lIns="0" tIns="0" rIns="0" bIns="0" rtlCol="0" anchor="t"/>
          <a:lstStyle/>
          <a:p>
            <a:pPr marL="0" indent="0" algn="l">
              <a:lnSpc>
                <a:spcPct val="104000"/>
              </a:lnSpc>
              <a:buNone/>
            </a:pPr>
            <a:r>
              <a:rPr lang="en-US" sz="2050" b="1" dirty="0">
                <a:solidFill>
                  <a:srgbClr val="2C3249"/>
                </a:solidFill>
                <a:latin typeface="Kanit Light" pitchFamily="34" charset="0"/>
                <a:ea typeface="Kanit Light" pitchFamily="34" charset="-122"/>
                <a:cs typeface="Kanit Light" pitchFamily="34" charset="-120"/>
              </a:rPr>
              <a:t>Computerized Process</a:t>
            </a:r>
            <a:endParaRPr lang="en-US" sz="2050" b="1" dirty="0"/>
          </a:p>
        </p:txBody>
      </p:sp>
      <p:sp>
        <p:nvSpPr>
          <p:cNvPr id="13" name="Text 11"/>
          <p:cNvSpPr/>
          <p:nvPr/>
        </p:nvSpPr>
        <p:spPr>
          <a:xfrm>
            <a:off x="6308468" y="4597202"/>
            <a:ext cx="4996432" cy="1292622"/>
          </a:xfrm>
          <a:prstGeom prst="rect">
            <a:avLst/>
          </a:prstGeom>
          <a:noFill/>
          <a:ln/>
        </p:spPr>
        <p:txBody>
          <a:bodyPr wrap="square" lIns="0" tIns="0" rIns="0" bIns="0" rtlCol="0" anchor="t">
            <a:normAutofit/>
          </a:bodyPr>
          <a:lstStyle/>
          <a:p>
            <a:pPr marL="0" indent="0" algn="l">
              <a:lnSpc>
                <a:spcPct val="127000"/>
              </a:lnSpc>
              <a:buNone/>
            </a:pPr>
            <a:r>
              <a:rPr lang="en-US" sz="1650" dirty="0">
                <a:solidFill>
                  <a:srgbClr val="2C3249"/>
                </a:solidFill>
                <a:latin typeface="Martel Sans" pitchFamily="34" charset="0"/>
                <a:ea typeface="Martel Sans" pitchFamily="34" charset="-122"/>
                <a:cs typeface="Martel Sans" pitchFamily="34" charset="-120"/>
              </a:rPr>
              <a:t>Electronic/scanned documents, automated posting to journals and ledgers, auto-generated trial balance, and financial statements generated directly from the accounting database.</a:t>
            </a:r>
            <a:endParaRPr lang="en-US" sz="16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966316" y="457200"/>
            <a:ext cx="10868745" cy="479921"/>
          </a:xfrm>
          <a:prstGeom prst="rect">
            <a:avLst/>
          </a:prstGeom>
          <a:noFill/>
          <a:ln/>
        </p:spPr>
        <p:txBody>
          <a:bodyPr wrap="none" lIns="0" tIns="0" rIns="0" bIns="0" rtlCol="0" anchor="t"/>
          <a:lstStyle/>
          <a:p>
            <a:pPr marL="0" indent="0" algn="l">
              <a:lnSpc>
                <a:spcPct val="104000"/>
              </a:lnSpc>
              <a:buNone/>
            </a:pPr>
            <a:r>
              <a:rPr lang="en-US" sz="3000" dirty="0">
                <a:solidFill>
                  <a:srgbClr val="272D45"/>
                </a:solidFill>
                <a:latin typeface="Kanit Light" pitchFamily="34" charset="0"/>
                <a:ea typeface="Kanit Light" pitchFamily="34" charset="-122"/>
                <a:cs typeface="Kanit Light" pitchFamily="34" charset="-120"/>
              </a:rPr>
              <a:t>Manual vs. Computerized: Stage-by-Stage Comparison</a:t>
            </a:r>
            <a:endParaRPr lang="en-US" sz="3000" dirty="0"/>
          </a:p>
        </p:txBody>
      </p:sp>
      <p:sp>
        <p:nvSpPr>
          <p:cNvPr id="3" name="Shape 1"/>
          <p:cNvSpPr/>
          <p:nvPr/>
        </p:nvSpPr>
        <p:spPr>
          <a:xfrm>
            <a:off x="661475" y="1540966"/>
            <a:ext cx="10868745" cy="4455517"/>
          </a:xfrm>
          <a:prstGeom prst="roundRect">
            <a:avLst>
              <a:gd name="adj" fmla="val 1448"/>
            </a:avLst>
          </a:prstGeom>
          <a:noFill/>
          <a:ln w="6350">
            <a:solidFill>
              <a:srgbClr val="000000">
                <a:alpha val="8000"/>
              </a:srgbClr>
            </a:solidFill>
            <a:prstDash val="solid"/>
          </a:ln>
        </p:spPr>
        <p:txBody>
          <a:bodyPr/>
          <a:lstStyle/>
          <a:p>
            <a:endParaRPr lang="en-US"/>
          </a:p>
        </p:txBody>
      </p:sp>
      <p:sp>
        <p:nvSpPr>
          <p:cNvPr id="4" name="Shape 2"/>
          <p:cNvSpPr/>
          <p:nvPr/>
        </p:nvSpPr>
        <p:spPr>
          <a:xfrm>
            <a:off x="667825" y="1547316"/>
            <a:ext cx="10854954" cy="335062"/>
          </a:xfrm>
          <a:prstGeom prst="rect">
            <a:avLst/>
          </a:prstGeom>
          <a:solidFill>
            <a:srgbClr val="FFFFFF">
              <a:alpha val="4000"/>
            </a:srgbClr>
          </a:solidFill>
          <a:ln/>
        </p:spPr>
        <p:txBody>
          <a:bodyPr/>
          <a:lstStyle/>
          <a:p>
            <a:endParaRPr lang="en-US"/>
          </a:p>
        </p:txBody>
      </p:sp>
      <p:sp>
        <p:nvSpPr>
          <p:cNvPr id="5" name="Text 3"/>
          <p:cNvSpPr/>
          <p:nvPr/>
        </p:nvSpPr>
        <p:spPr>
          <a:xfrm>
            <a:off x="822503" y="1613495"/>
            <a:ext cx="3917356" cy="202704"/>
          </a:xfrm>
          <a:prstGeom prst="rect">
            <a:avLst/>
          </a:prstGeom>
          <a:noFill/>
          <a:ln/>
        </p:spPr>
        <p:txBody>
          <a:bodyPr wrap="none" lIns="0" tIns="0" rIns="0" bIns="0" rtlCol="0" anchor="t"/>
          <a:lstStyle/>
          <a:p>
            <a:pPr marL="0" indent="0" algn="l">
              <a:lnSpc>
                <a:spcPct val="110000"/>
              </a:lnSpc>
              <a:buNone/>
            </a:pPr>
            <a:r>
              <a:rPr lang="en-US" sz="1200" b="1" dirty="0">
                <a:solidFill>
                  <a:srgbClr val="2C3249"/>
                </a:solidFill>
                <a:latin typeface="Martel Sans Bold" pitchFamily="34" charset="0"/>
                <a:ea typeface="Martel Sans Bold" pitchFamily="34" charset="-122"/>
                <a:cs typeface="Martel Sans Bold" pitchFamily="34" charset="-120"/>
              </a:rPr>
              <a:t>Stage</a:t>
            </a:r>
            <a:endParaRPr lang="en-US" sz="1200" dirty="0"/>
          </a:p>
        </p:txBody>
      </p:sp>
      <p:sp>
        <p:nvSpPr>
          <p:cNvPr id="6" name="Text 4"/>
          <p:cNvSpPr/>
          <p:nvPr/>
        </p:nvSpPr>
        <p:spPr>
          <a:xfrm>
            <a:off x="4443599" y="1613495"/>
            <a:ext cx="3914181" cy="202704"/>
          </a:xfrm>
          <a:prstGeom prst="rect">
            <a:avLst/>
          </a:prstGeom>
          <a:noFill/>
          <a:ln/>
        </p:spPr>
        <p:txBody>
          <a:bodyPr wrap="none" lIns="0" tIns="0" rIns="0" bIns="0" rtlCol="0" anchor="t"/>
          <a:lstStyle/>
          <a:p>
            <a:pPr marL="0" indent="0" algn="l">
              <a:lnSpc>
                <a:spcPct val="110000"/>
              </a:lnSpc>
              <a:buNone/>
            </a:pPr>
            <a:r>
              <a:rPr lang="en-US" sz="1200" b="1" dirty="0">
                <a:solidFill>
                  <a:srgbClr val="2C3249"/>
                </a:solidFill>
                <a:latin typeface="Martel Sans Bold" pitchFamily="34" charset="0"/>
                <a:ea typeface="Martel Sans Bold" pitchFamily="34" charset="-122"/>
                <a:cs typeface="Martel Sans Bold" pitchFamily="34" charset="-120"/>
              </a:rPr>
              <a:t>Manual Accounting Process</a:t>
            </a:r>
            <a:endParaRPr lang="en-US" sz="1200" dirty="0"/>
          </a:p>
        </p:txBody>
      </p:sp>
      <p:sp>
        <p:nvSpPr>
          <p:cNvPr id="7" name="Text 5"/>
          <p:cNvSpPr/>
          <p:nvPr/>
        </p:nvSpPr>
        <p:spPr>
          <a:xfrm>
            <a:off x="8061520" y="1613495"/>
            <a:ext cx="3917356" cy="202704"/>
          </a:xfrm>
          <a:prstGeom prst="rect">
            <a:avLst/>
          </a:prstGeom>
          <a:noFill/>
          <a:ln/>
        </p:spPr>
        <p:txBody>
          <a:bodyPr wrap="none" lIns="0" tIns="0" rIns="0" bIns="0" rtlCol="0" anchor="t"/>
          <a:lstStyle/>
          <a:p>
            <a:pPr marL="0" indent="0" algn="l">
              <a:lnSpc>
                <a:spcPct val="110000"/>
              </a:lnSpc>
              <a:buNone/>
            </a:pPr>
            <a:r>
              <a:rPr lang="en-US" sz="1200" b="1" dirty="0">
                <a:solidFill>
                  <a:srgbClr val="2C3249"/>
                </a:solidFill>
                <a:latin typeface="Martel Sans Bold" pitchFamily="34" charset="0"/>
                <a:ea typeface="Martel Sans Bold" pitchFamily="34" charset="-122"/>
                <a:cs typeface="Martel Sans Bold" pitchFamily="34" charset="-120"/>
              </a:rPr>
              <a:t>Computerized Accounting Process</a:t>
            </a:r>
            <a:endParaRPr lang="en-US" sz="1200" dirty="0"/>
          </a:p>
        </p:txBody>
      </p:sp>
      <p:sp>
        <p:nvSpPr>
          <p:cNvPr id="8" name="Shape 6"/>
          <p:cNvSpPr/>
          <p:nvPr/>
        </p:nvSpPr>
        <p:spPr>
          <a:xfrm>
            <a:off x="667825" y="1882378"/>
            <a:ext cx="10854954" cy="740470"/>
          </a:xfrm>
          <a:prstGeom prst="rect">
            <a:avLst/>
          </a:prstGeom>
          <a:solidFill>
            <a:srgbClr val="000000">
              <a:alpha val="4000"/>
            </a:srgbClr>
          </a:solidFill>
          <a:ln/>
        </p:spPr>
        <p:txBody>
          <a:bodyPr/>
          <a:lstStyle/>
          <a:p>
            <a:endParaRPr lang="en-US"/>
          </a:p>
        </p:txBody>
      </p:sp>
      <p:sp>
        <p:nvSpPr>
          <p:cNvPr id="9" name="Text 7"/>
          <p:cNvSpPr/>
          <p:nvPr/>
        </p:nvSpPr>
        <p:spPr>
          <a:xfrm>
            <a:off x="822503" y="1948557"/>
            <a:ext cx="3917356" cy="202704"/>
          </a:xfrm>
          <a:prstGeom prst="rect">
            <a:avLst/>
          </a:prstGeom>
          <a:noFill/>
          <a:ln/>
        </p:spPr>
        <p:txBody>
          <a:bodyPr wrap="none" lIns="0" tIns="0" rIns="0" bIns="0" rtlCol="0" anchor="t"/>
          <a:lstStyle/>
          <a:p>
            <a:pPr marL="0" indent="0" algn="l">
              <a:lnSpc>
                <a:spcPct val="110000"/>
              </a:lnSpc>
              <a:buNone/>
            </a:pPr>
            <a:r>
              <a:rPr lang="en-US" sz="1200" b="1" dirty="0">
                <a:solidFill>
                  <a:srgbClr val="2C3249"/>
                </a:solidFill>
                <a:latin typeface="Martel Sans Bold" pitchFamily="34" charset="0"/>
                <a:ea typeface="Martel Sans Bold" pitchFamily="34" charset="-122"/>
                <a:cs typeface="Martel Sans Bold" pitchFamily="34" charset="-120"/>
              </a:rPr>
              <a:t>1. Source Documents</a:t>
            </a:r>
            <a:endParaRPr lang="en-US" sz="1200" dirty="0"/>
          </a:p>
        </p:txBody>
      </p:sp>
      <p:sp>
        <p:nvSpPr>
          <p:cNvPr id="10" name="Text 8"/>
          <p:cNvSpPr/>
          <p:nvPr/>
        </p:nvSpPr>
        <p:spPr>
          <a:xfrm>
            <a:off x="4443599" y="1948557"/>
            <a:ext cx="3304596" cy="608112"/>
          </a:xfrm>
          <a:prstGeom prst="rect">
            <a:avLst/>
          </a:prstGeom>
          <a:noFill/>
          <a:ln/>
        </p:spPr>
        <p:txBody>
          <a:bodyPr wrap="square" lIns="0" tIns="0" rIns="0" bIns="0" rtlCol="0" anchor="t">
            <a:normAutofit/>
          </a:bodyPr>
          <a:lstStyle/>
          <a:p>
            <a:pPr marL="0" indent="0" algn="l">
              <a:lnSpc>
                <a:spcPct val="110000"/>
              </a:lnSpc>
              <a:buNone/>
            </a:pPr>
            <a:r>
              <a:rPr lang="en-US" sz="1200" dirty="0">
                <a:solidFill>
                  <a:srgbClr val="2C3249"/>
                </a:solidFill>
                <a:latin typeface="Martel Sans" pitchFamily="34" charset="0"/>
                <a:ea typeface="Martel Sans" pitchFamily="34" charset="-122"/>
                <a:cs typeface="Martel Sans" pitchFamily="34" charset="-120"/>
              </a:rPr>
              <a:t>Physical or manually prepared documents: invoices, receipts, payment vouchers, bank documents and credit notes.</a:t>
            </a:r>
            <a:endParaRPr lang="en-US" sz="1200" dirty="0"/>
          </a:p>
        </p:txBody>
      </p:sp>
      <p:sp>
        <p:nvSpPr>
          <p:cNvPr id="11" name="Text 9"/>
          <p:cNvSpPr/>
          <p:nvPr/>
        </p:nvSpPr>
        <p:spPr>
          <a:xfrm>
            <a:off x="8061520" y="1948557"/>
            <a:ext cx="3307771" cy="608112"/>
          </a:xfrm>
          <a:prstGeom prst="rect">
            <a:avLst/>
          </a:prstGeom>
          <a:noFill/>
          <a:ln/>
        </p:spPr>
        <p:txBody>
          <a:bodyPr wrap="square" lIns="0" tIns="0" rIns="0" bIns="0" rtlCol="0" anchor="t">
            <a:normAutofit/>
          </a:bodyPr>
          <a:lstStyle/>
          <a:p>
            <a:pPr marL="0" indent="0" algn="l">
              <a:lnSpc>
                <a:spcPct val="110000"/>
              </a:lnSpc>
              <a:buNone/>
            </a:pPr>
            <a:r>
              <a:rPr lang="en-US" sz="1200" dirty="0">
                <a:solidFill>
                  <a:srgbClr val="2C3249"/>
                </a:solidFill>
                <a:latin typeface="Martel Sans" pitchFamily="34" charset="0"/>
                <a:ea typeface="Martel Sans" pitchFamily="34" charset="-122"/>
                <a:cs typeface="Martel Sans" pitchFamily="34" charset="-120"/>
              </a:rPr>
              <a:t>Electronic or scanned documents: e-invoices, electronic receipts, digital payment records and uploaded documents.</a:t>
            </a:r>
            <a:endParaRPr lang="en-US" sz="1200" dirty="0"/>
          </a:p>
        </p:txBody>
      </p:sp>
      <p:sp>
        <p:nvSpPr>
          <p:cNvPr id="12" name="Shape 10"/>
          <p:cNvSpPr/>
          <p:nvPr/>
        </p:nvSpPr>
        <p:spPr>
          <a:xfrm>
            <a:off x="667825" y="2622848"/>
            <a:ext cx="10854954" cy="943173"/>
          </a:xfrm>
          <a:prstGeom prst="rect">
            <a:avLst/>
          </a:prstGeom>
          <a:solidFill>
            <a:srgbClr val="FFFFFF">
              <a:alpha val="4000"/>
            </a:srgbClr>
          </a:solidFill>
          <a:ln/>
        </p:spPr>
        <p:txBody>
          <a:bodyPr/>
          <a:lstStyle/>
          <a:p>
            <a:endParaRPr lang="en-US"/>
          </a:p>
        </p:txBody>
      </p:sp>
      <p:sp>
        <p:nvSpPr>
          <p:cNvPr id="13" name="Text 11"/>
          <p:cNvSpPr/>
          <p:nvPr/>
        </p:nvSpPr>
        <p:spPr>
          <a:xfrm>
            <a:off x="822503" y="2689027"/>
            <a:ext cx="3917356" cy="202704"/>
          </a:xfrm>
          <a:prstGeom prst="rect">
            <a:avLst/>
          </a:prstGeom>
          <a:noFill/>
          <a:ln/>
        </p:spPr>
        <p:txBody>
          <a:bodyPr wrap="none" lIns="0" tIns="0" rIns="0" bIns="0" rtlCol="0" anchor="t"/>
          <a:lstStyle/>
          <a:p>
            <a:pPr marL="0" indent="0" algn="l">
              <a:lnSpc>
                <a:spcPct val="110000"/>
              </a:lnSpc>
              <a:buNone/>
            </a:pPr>
            <a:r>
              <a:rPr lang="en-US" sz="1200" b="1" dirty="0">
                <a:solidFill>
                  <a:srgbClr val="2C3249"/>
                </a:solidFill>
                <a:latin typeface="Martel Sans Bold" pitchFamily="34" charset="0"/>
                <a:ea typeface="Martel Sans Bold" pitchFamily="34" charset="-122"/>
                <a:cs typeface="Martel Sans Bold" pitchFamily="34" charset="-120"/>
              </a:rPr>
              <a:t>2. Books of Prime Entry</a:t>
            </a:r>
            <a:endParaRPr lang="en-US" sz="1200" dirty="0"/>
          </a:p>
        </p:txBody>
      </p:sp>
      <p:sp>
        <p:nvSpPr>
          <p:cNvPr id="14" name="Text 12"/>
          <p:cNvSpPr/>
          <p:nvPr/>
        </p:nvSpPr>
        <p:spPr>
          <a:xfrm>
            <a:off x="4443599" y="2689027"/>
            <a:ext cx="3304596" cy="608112"/>
          </a:xfrm>
          <a:prstGeom prst="rect">
            <a:avLst/>
          </a:prstGeom>
          <a:noFill/>
          <a:ln/>
        </p:spPr>
        <p:txBody>
          <a:bodyPr wrap="square" lIns="0" tIns="0" rIns="0" bIns="0" rtlCol="0" anchor="t">
            <a:normAutofit/>
          </a:bodyPr>
          <a:lstStyle/>
          <a:p>
            <a:pPr marL="0" indent="0" algn="l">
              <a:lnSpc>
                <a:spcPct val="110000"/>
              </a:lnSpc>
              <a:buNone/>
            </a:pPr>
            <a:r>
              <a:rPr lang="en-US" sz="1200" dirty="0">
                <a:solidFill>
                  <a:srgbClr val="2C3249"/>
                </a:solidFill>
                <a:latin typeface="Martel Sans" pitchFamily="34" charset="0"/>
                <a:ea typeface="Martel Sans" pitchFamily="34" charset="-122"/>
                <a:cs typeface="Martel Sans" pitchFamily="34" charset="-120"/>
              </a:rPr>
              <a:t>Transactions are manually analysed and entered into journals and books of prime entry.</a:t>
            </a:r>
            <a:endParaRPr lang="en-US" sz="1200" dirty="0"/>
          </a:p>
        </p:txBody>
      </p:sp>
      <p:sp>
        <p:nvSpPr>
          <p:cNvPr id="15" name="Text 13"/>
          <p:cNvSpPr/>
          <p:nvPr/>
        </p:nvSpPr>
        <p:spPr>
          <a:xfrm>
            <a:off x="8061520" y="2689027"/>
            <a:ext cx="3307771" cy="810816"/>
          </a:xfrm>
          <a:prstGeom prst="rect">
            <a:avLst/>
          </a:prstGeom>
          <a:noFill/>
          <a:ln/>
        </p:spPr>
        <p:txBody>
          <a:bodyPr wrap="square" lIns="0" tIns="0" rIns="0" bIns="0" rtlCol="0" anchor="t">
            <a:normAutofit/>
          </a:bodyPr>
          <a:lstStyle/>
          <a:p>
            <a:pPr marL="0" indent="0" algn="l">
              <a:lnSpc>
                <a:spcPct val="110000"/>
              </a:lnSpc>
              <a:buNone/>
            </a:pPr>
            <a:r>
              <a:rPr lang="en-US" sz="1200" dirty="0">
                <a:solidFill>
                  <a:srgbClr val="2C3249"/>
                </a:solidFill>
                <a:latin typeface="Martel Sans" pitchFamily="34" charset="0"/>
                <a:ea typeface="Martel Sans" pitchFamily="34" charset="-122"/>
                <a:cs typeface="Martel Sans" pitchFamily="34" charset="-120"/>
              </a:rPr>
              <a:t>Transactions entered into electronic modules; system automatically posts to appropriate journals based on predefined rules.</a:t>
            </a:r>
            <a:endParaRPr lang="en-US" sz="1200" dirty="0"/>
          </a:p>
        </p:txBody>
      </p:sp>
      <p:sp>
        <p:nvSpPr>
          <p:cNvPr id="16" name="Shape 14"/>
          <p:cNvSpPr/>
          <p:nvPr/>
        </p:nvSpPr>
        <p:spPr>
          <a:xfrm>
            <a:off x="667825" y="3566021"/>
            <a:ext cx="10854954" cy="740470"/>
          </a:xfrm>
          <a:prstGeom prst="rect">
            <a:avLst/>
          </a:prstGeom>
          <a:solidFill>
            <a:srgbClr val="000000">
              <a:alpha val="4000"/>
            </a:srgbClr>
          </a:solidFill>
          <a:ln/>
        </p:spPr>
        <p:txBody>
          <a:bodyPr/>
          <a:lstStyle/>
          <a:p>
            <a:endParaRPr lang="en-US"/>
          </a:p>
        </p:txBody>
      </p:sp>
      <p:sp>
        <p:nvSpPr>
          <p:cNvPr id="17" name="Text 15"/>
          <p:cNvSpPr/>
          <p:nvPr/>
        </p:nvSpPr>
        <p:spPr>
          <a:xfrm>
            <a:off x="822503" y="3632200"/>
            <a:ext cx="3917356" cy="202704"/>
          </a:xfrm>
          <a:prstGeom prst="rect">
            <a:avLst/>
          </a:prstGeom>
          <a:noFill/>
          <a:ln/>
        </p:spPr>
        <p:txBody>
          <a:bodyPr wrap="none" lIns="0" tIns="0" rIns="0" bIns="0" rtlCol="0" anchor="t"/>
          <a:lstStyle/>
          <a:p>
            <a:pPr marL="0" indent="0" algn="l">
              <a:lnSpc>
                <a:spcPct val="110000"/>
              </a:lnSpc>
              <a:buNone/>
            </a:pPr>
            <a:r>
              <a:rPr lang="en-US" sz="1200" b="1" dirty="0">
                <a:solidFill>
                  <a:srgbClr val="2C3249"/>
                </a:solidFill>
                <a:latin typeface="Martel Sans Bold" pitchFamily="34" charset="0"/>
                <a:ea typeface="Martel Sans Bold" pitchFamily="34" charset="-122"/>
                <a:cs typeface="Martel Sans Bold" pitchFamily="34" charset="-120"/>
              </a:rPr>
              <a:t>3. Ledger</a:t>
            </a:r>
            <a:endParaRPr lang="en-US" sz="1200" dirty="0"/>
          </a:p>
        </p:txBody>
      </p:sp>
      <p:sp>
        <p:nvSpPr>
          <p:cNvPr id="18" name="Text 16"/>
          <p:cNvSpPr/>
          <p:nvPr/>
        </p:nvSpPr>
        <p:spPr>
          <a:xfrm>
            <a:off x="4443599" y="3632200"/>
            <a:ext cx="3304596" cy="405408"/>
          </a:xfrm>
          <a:prstGeom prst="rect">
            <a:avLst/>
          </a:prstGeom>
          <a:noFill/>
          <a:ln/>
        </p:spPr>
        <p:txBody>
          <a:bodyPr wrap="square" lIns="0" tIns="0" rIns="0" bIns="0" rtlCol="0" anchor="t">
            <a:normAutofit/>
          </a:bodyPr>
          <a:lstStyle/>
          <a:p>
            <a:pPr marL="0" indent="0" algn="l">
              <a:lnSpc>
                <a:spcPct val="110000"/>
              </a:lnSpc>
              <a:buNone/>
            </a:pPr>
            <a:r>
              <a:rPr lang="en-US" sz="1200" dirty="0">
                <a:solidFill>
                  <a:srgbClr val="2C3249"/>
                </a:solidFill>
                <a:latin typeface="Martel Sans" pitchFamily="34" charset="0"/>
                <a:ea typeface="Martel Sans" pitchFamily="34" charset="-122"/>
                <a:cs typeface="Martel Sans" pitchFamily="34" charset="-120"/>
              </a:rPr>
              <a:t>Entries manually posted to individual ledger accounts; balances calculated manually.</a:t>
            </a:r>
            <a:endParaRPr lang="en-US" sz="1200" dirty="0"/>
          </a:p>
        </p:txBody>
      </p:sp>
      <p:sp>
        <p:nvSpPr>
          <p:cNvPr id="19" name="Text 17"/>
          <p:cNvSpPr/>
          <p:nvPr/>
        </p:nvSpPr>
        <p:spPr>
          <a:xfrm>
            <a:off x="8061520" y="3632200"/>
            <a:ext cx="3307771" cy="608112"/>
          </a:xfrm>
          <a:prstGeom prst="rect">
            <a:avLst/>
          </a:prstGeom>
          <a:noFill/>
          <a:ln/>
        </p:spPr>
        <p:txBody>
          <a:bodyPr wrap="square" lIns="0" tIns="0" rIns="0" bIns="0" rtlCol="0" anchor="t">
            <a:normAutofit/>
          </a:bodyPr>
          <a:lstStyle/>
          <a:p>
            <a:pPr marL="0" indent="0" algn="l">
              <a:lnSpc>
                <a:spcPct val="110000"/>
              </a:lnSpc>
              <a:buNone/>
            </a:pPr>
            <a:r>
              <a:rPr lang="en-US" sz="1200" dirty="0">
                <a:solidFill>
                  <a:srgbClr val="2C3249"/>
                </a:solidFill>
                <a:latin typeface="Martel Sans" pitchFamily="34" charset="0"/>
                <a:ea typeface="Martel Sans" pitchFamily="34" charset="-122"/>
                <a:cs typeface="Martel Sans" pitchFamily="34" charset="-120"/>
              </a:rPr>
              <a:t>System automatically posts transactions to relevant ledger accounts and continuously updates balances.</a:t>
            </a:r>
            <a:endParaRPr lang="en-US" sz="1200" dirty="0"/>
          </a:p>
        </p:txBody>
      </p:sp>
      <p:sp>
        <p:nvSpPr>
          <p:cNvPr id="20" name="Shape 18"/>
          <p:cNvSpPr/>
          <p:nvPr/>
        </p:nvSpPr>
        <p:spPr>
          <a:xfrm>
            <a:off x="667825" y="4306491"/>
            <a:ext cx="10854954" cy="740470"/>
          </a:xfrm>
          <a:prstGeom prst="rect">
            <a:avLst/>
          </a:prstGeom>
          <a:solidFill>
            <a:srgbClr val="FFFFFF">
              <a:alpha val="4000"/>
            </a:srgbClr>
          </a:solidFill>
          <a:ln/>
        </p:spPr>
        <p:txBody>
          <a:bodyPr/>
          <a:lstStyle/>
          <a:p>
            <a:endParaRPr lang="en-US"/>
          </a:p>
        </p:txBody>
      </p:sp>
      <p:sp>
        <p:nvSpPr>
          <p:cNvPr id="21" name="Text 19"/>
          <p:cNvSpPr/>
          <p:nvPr/>
        </p:nvSpPr>
        <p:spPr>
          <a:xfrm>
            <a:off x="822503" y="4372670"/>
            <a:ext cx="3917356" cy="202704"/>
          </a:xfrm>
          <a:prstGeom prst="rect">
            <a:avLst/>
          </a:prstGeom>
          <a:noFill/>
          <a:ln/>
        </p:spPr>
        <p:txBody>
          <a:bodyPr wrap="none" lIns="0" tIns="0" rIns="0" bIns="0" rtlCol="0" anchor="t"/>
          <a:lstStyle/>
          <a:p>
            <a:pPr marL="0" indent="0" algn="l">
              <a:lnSpc>
                <a:spcPct val="110000"/>
              </a:lnSpc>
              <a:buNone/>
            </a:pPr>
            <a:r>
              <a:rPr lang="en-US" sz="1200" b="1" dirty="0">
                <a:solidFill>
                  <a:srgbClr val="2C3249"/>
                </a:solidFill>
                <a:latin typeface="Martel Sans Bold" pitchFamily="34" charset="0"/>
                <a:ea typeface="Martel Sans Bold" pitchFamily="34" charset="-122"/>
                <a:cs typeface="Martel Sans Bold" pitchFamily="34" charset="-120"/>
              </a:rPr>
              <a:t>4. Trial Balance</a:t>
            </a:r>
            <a:endParaRPr lang="en-US" sz="1200" dirty="0"/>
          </a:p>
        </p:txBody>
      </p:sp>
      <p:sp>
        <p:nvSpPr>
          <p:cNvPr id="22" name="Text 20"/>
          <p:cNvSpPr/>
          <p:nvPr/>
        </p:nvSpPr>
        <p:spPr>
          <a:xfrm>
            <a:off x="4443599" y="4372670"/>
            <a:ext cx="3304596" cy="608112"/>
          </a:xfrm>
          <a:prstGeom prst="rect">
            <a:avLst/>
          </a:prstGeom>
          <a:noFill/>
          <a:ln/>
        </p:spPr>
        <p:txBody>
          <a:bodyPr wrap="square" lIns="0" tIns="0" rIns="0" bIns="0" rtlCol="0" anchor="t">
            <a:normAutofit/>
          </a:bodyPr>
          <a:lstStyle/>
          <a:p>
            <a:pPr marL="0" indent="0" algn="l">
              <a:lnSpc>
                <a:spcPct val="110000"/>
              </a:lnSpc>
              <a:buNone/>
            </a:pPr>
            <a:r>
              <a:rPr lang="en-US" sz="1200" dirty="0">
                <a:solidFill>
                  <a:srgbClr val="2C3249"/>
                </a:solidFill>
                <a:latin typeface="Martel Sans" pitchFamily="34" charset="0"/>
                <a:ea typeface="Martel Sans" pitchFamily="34" charset="-122"/>
                <a:cs typeface="Martel Sans" pitchFamily="34" charset="-120"/>
              </a:rPr>
              <a:t>Ledger balances extracted and manually listed and totalled; errors may arise from incorrect extraction or posting.</a:t>
            </a:r>
            <a:endParaRPr lang="en-US" sz="1200" dirty="0"/>
          </a:p>
        </p:txBody>
      </p:sp>
      <p:sp>
        <p:nvSpPr>
          <p:cNvPr id="23" name="Text 21"/>
          <p:cNvSpPr/>
          <p:nvPr/>
        </p:nvSpPr>
        <p:spPr>
          <a:xfrm>
            <a:off x="8061520" y="4372670"/>
            <a:ext cx="3307771" cy="608112"/>
          </a:xfrm>
          <a:prstGeom prst="rect">
            <a:avLst/>
          </a:prstGeom>
          <a:noFill/>
          <a:ln/>
        </p:spPr>
        <p:txBody>
          <a:bodyPr wrap="square" lIns="0" tIns="0" rIns="0" bIns="0" rtlCol="0" anchor="t">
            <a:normAutofit/>
          </a:bodyPr>
          <a:lstStyle/>
          <a:p>
            <a:pPr marL="0" indent="0" algn="l">
              <a:lnSpc>
                <a:spcPct val="110000"/>
              </a:lnSpc>
              <a:buNone/>
            </a:pPr>
            <a:r>
              <a:rPr lang="en-US" sz="1200" dirty="0">
                <a:solidFill>
                  <a:srgbClr val="2C3249"/>
                </a:solidFill>
                <a:latin typeface="Martel Sans" pitchFamily="34" charset="0"/>
                <a:ea typeface="Martel Sans" pitchFamily="34" charset="-122"/>
                <a:cs typeface="Martel Sans" pitchFamily="34" charset="-120"/>
              </a:rPr>
              <a:t>System can automatically generate the trial balance; debits and credits auto-totalled, though not all errors are detected.</a:t>
            </a:r>
            <a:endParaRPr lang="en-US" sz="1200" dirty="0"/>
          </a:p>
        </p:txBody>
      </p:sp>
      <p:sp>
        <p:nvSpPr>
          <p:cNvPr id="24" name="Shape 22"/>
          <p:cNvSpPr/>
          <p:nvPr/>
        </p:nvSpPr>
        <p:spPr>
          <a:xfrm>
            <a:off x="667825" y="5046960"/>
            <a:ext cx="10854954" cy="943173"/>
          </a:xfrm>
          <a:prstGeom prst="rect">
            <a:avLst/>
          </a:prstGeom>
          <a:solidFill>
            <a:srgbClr val="000000">
              <a:alpha val="4000"/>
            </a:srgbClr>
          </a:solidFill>
          <a:ln/>
        </p:spPr>
        <p:txBody>
          <a:bodyPr/>
          <a:lstStyle/>
          <a:p>
            <a:endParaRPr lang="en-US"/>
          </a:p>
        </p:txBody>
      </p:sp>
      <p:sp>
        <p:nvSpPr>
          <p:cNvPr id="25" name="Text 23"/>
          <p:cNvSpPr/>
          <p:nvPr/>
        </p:nvSpPr>
        <p:spPr>
          <a:xfrm>
            <a:off x="822503" y="5113139"/>
            <a:ext cx="3917356" cy="202704"/>
          </a:xfrm>
          <a:prstGeom prst="rect">
            <a:avLst/>
          </a:prstGeom>
          <a:noFill/>
          <a:ln/>
        </p:spPr>
        <p:txBody>
          <a:bodyPr wrap="none" lIns="0" tIns="0" rIns="0" bIns="0" rtlCol="0" anchor="t"/>
          <a:lstStyle/>
          <a:p>
            <a:pPr marL="0" indent="0" algn="l">
              <a:lnSpc>
                <a:spcPct val="110000"/>
              </a:lnSpc>
              <a:buNone/>
            </a:pPr>
            <a:r>
              <a:rPr lang="en-US" sz="1200" b="1" dirty="0">
                <a:solidFill>
                  <a:srgbClr val="2C3249"/>
                </a:solidFill>
                <a:latin typeface="Martel Sans Bold" pitchFamily="34" charset="0"/>
                <a:ea typeface="Martel Sans Bold" pitchFamily="34" charset="-122"/>
                <a:cs typeface="Martel Sans Bold" pitchFamily="34" charset="-120"/>
              </a:rPr>
              <a:t>5. Financial Statements</a:t>
            </a:r>
            <a:endParaRPr lang="en-US" sz="1200" dirty="0"/>
          </a:p>
        </p:txBody>
      </p:sp>
      <p:sp>
        <p:nvSpPr>
          <p:cNvPr id="26" name="Text 24"/>
          <p:cNvSpPr/>
          <p:nvPr/>
        </p:nvSpPr>
        <p:spPr>
          <a:xfrm>
            <a:off x="4443599" y="5113139"/>
            <a:ext cx="3304596" cy="810816"/>
          </a:xfrm>
          <a:prstGeom prst="rect">
            <a:avLst/>
          </a:prstGeom>
          <a:noFill/>
          <a:ln/>
        </p:spPr>
        <p:txBody>
          <a:bodyPr wrap="square" lIns="0" tIns="0" rIns="0" bIns="0" rtlCol="0" anchor="t">
            <a:normAutofit/>
          </a:bodyPr>
          <a:lstStyle/>
          <a:p>
            <a:pPr marL="0" indent="0" algn="l">
              <a:lnSpc>
                <a:spcPct val="110000"/>
              </a:lnSpc>
              <a:buNone/>
            </a:pPr>
            <a:r>
              <a:rPr lang="en-US" sz="1200" dirty="0">
                <a:solidFill>
                  <a:srgbClr val="2C3249"/>
                </a:solidFill>
                <a:latin typeface="Martel Sans" pitchFamily="34" charset="0"/>
                <a:ea typeface="Martel Sans" pitchFamily="34" charset="-122"/>
                <a:cs typeface="Martel Sans" pitchFamily="34" charset="-120"/>
              </a:rPr>
              <a:t>Prepared manually from the trial balance, with adjustments for depreciation, accruals, provisions and inventory calculated manually.</a:t>
            </a:r>
            <a:endParaRPr lang="en-US" sz="1200" dirty="0"/>
          </a:p>
        </p:txBody>
      </p:sp>
      <p:sp>
        <p:nvSpPr>
          <p:cNvPr id="27" name="Text 25"/>
          <p:cNvSpPr/>
          <p:nvPr/>
        </p:nvSpPr>
        <p:spPr>
          <a:xfrm>
            <a:off x="8061520" y="5113139"/>
            <a:ext cx="3307771" cy="810816"/>
          </a:xfrm>
          <a:prstGeom prst="rect">
            <a:avLst/>
          </a:prstGeom>
          <a:noFill/>
          <a:ln/>
        </p:spPr>
        <p:txBody>
          <a:bodyPr wrap="square" lIns="0" tIns="0" rIns="0" bIns="0" rtlCol="0" anchor="t">
            <a:normAutofit/>
          </a:bodyPr>
          <a:lstStyle/>
          <a:p>
            <a:pPr marL="0" indent="0" algn="l">
              <a:lnSpc>
                <a:spcPct val="110000"/>
              </a:lnSpc>
              <a:buNone/>
            </a:pPr>
            <a:r>
              <a:rPr lang="en-US" sz="1200" dirty="0">
                <a:solidFill>
                  <a:srgbClr val="2C3249"/>
                </a:solidFill>
                <a:latin typeface="Martel Sans" pitchFamily="34" charset="0"/>
                <a:ea typeface="Martel Sans" pitchFamily="34" charset="-122"/>
                <a:cs typeface="Martel Sans" pitchFamily="34" charset="-120"/>
              </a:rPr>
              <a:t>Generated automatically from the accounting database once transactions and adjustments are correctly entered; reports updated whenever underlying data changes.</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Shape 0"/>
          <p:cNvSpPr/>
          <p:nvPr/>
        </p:nvSpPr>
        <p:spPr>
          <a:xfrm>
            <a:off x="661475" y="775097"/>
            <a:ext cx="2161327" cy="358973"/>
          </a:xfrm>
          <a:prstGeom prst="roundRect">
            <a:avLst>
              <a:gd name="adj" fmla="val 22115"/>
            </a:avLst>
          </a:prstGeom>
          <a:solidFill>
            <a:srgbClr val="DFECE9"/>
          </a:solidFill>
          <a:ln/>
        </p:spPr>
        <p:txBody>
          <a:bodyPr/>
          <a:lstStyle/>
          <a:p>
            <a:endParaRPr lang="en-US"/>
          </a:p>
        </p:txBody>
      </p:sp>
      <p:sp>
        <p:nvSpPr>
          <p:cNvPr id="4" name="Text 1"/>
          <p:cNvSpPr/>
          <p:nvPr/>
        </p:nvSpPr>
        <p:spPr>
          <a:xfrm>
            <a:off x="803156" y="845939"/>
            <a:ext cx="2487550" cy="217289"/>
          </a:xfrm>
          <a:prstGeom prst="rect">
            <a:avLst/>
          </a:prstGeom>
          <a:noFill/>
          <a:ln/>
        </p:spPr>
        <p:txBody>
          <a:bodyPr wrap="none" lIns="0" tIns="0" rIns="0" bIns="0" rtlCol="0" anchor="t"/>
          <a:lstStyle/>
          <a:p>
            <a:pPr marL="0" indent="0" algn="l">
              <a:lnSpc>
                <a:spcPct val="96000"/>
              </a:lnSpc>
              <a:buNone/>
            </a:pPr>
            <a:r>
              <a:rPr lang="en-US" sz="1450" dirty="0">
                <a:solidFill>
                  <a:srgbClr val="2C3249"/>
                </a:solidFill>
                <a:latin typeface="Martel Sans" pitchFamily="34" charset="0"/>
                <a:ea typeface="Martel Sans" pitchFamily="34" charset="-122"/>
                <a:cs typeface="Martel Sans" pitchFamily="34" charset="-120"/>
              </a:rPr>
              <a:t>FAR REQUIREMENTS</a:t>
            </a:r>
            <a:endParaRPr lang="en-US" sz="1450" dirty="0"/>
          </a:p>
        </p:txBody>
      </p:sp>
      <p:sp>
        <p:nvSpPr>
          <p:cNvPr id="5" name="Text 2"/>
          <p:cNvSpPr/>
          <p:nvPr/>
        </p:nvSpPr>
        <p:spPr>
          <a:xfrm>
            <a:off x="661475" y="1228527"/>
            <a:ext cx="6296860" cy="1476573"/>
          </a:xfrm>
          <a:prstGeom prst="rect">
            <a:avLst/>
          </a:prstGeom>
          <a:noFill/>
          <a:ln/>
        </p:spPr>
        <p:txBody>
          <a:bodyPr wrap="square" lIns="0" tIns="0" rIns="0" bIns="0" rtlCol="0" anchor="t">
            <a:normAutofit/>
          </a:bodyPr>
          <a:lstStyle/>
          <a:p>
            <a:pPr marL="0" indent="0" algn="l">
              <a:lnSpc>
                <a:spcPct val="104000"/>
              </a:lnSpc>
              <a:buNone/>
            </a:pPr>
            <a:r>
              <a:rPr lang="en-US" sz="4650" dirty="0">
                <a:solidFill>
                  <a:srgbClr val="272D45"/>
                </a:solidFill>
                <a:latin typeface="Kanit Light" pitchFamily="34" charset="0"/>
                <a:ea typeface="Kanit Light" pitchFamily="34" charset="-122"/>
                <a:cs typeface="Kanit Light" pitchFamily="34" charset="-120"/>
              </a:rPr>
              <a:t>Requirements for a Sound FAR Process</a:t>
            </a:r>
            <a:endParaRPr lang="en-US" sz="4650" dirty="0"/>
          </a:p>
        </p:txBody>
      </p:sp>
      <p:sp>
        <p:nvSpPr>
          <p:cNvPr id="6" name="Text 3"/>
          <p:cNvSpPr/>
          <p:nvPr/>
        </p:nvSpPr>
        <p:spPr>
          <a:xfrm>
            <a:off x="661475" y="2870399"/>
            <a:ext cx="6296860" cy="3023394"/>
          </a:xfrm>
          <a:prstGeom prst="rect">
            <a:avLst/>
          </a:prstGeom>
          <a:noFill/>
          <a:ln/>
        </p:spPr>
        <p:txBody>
          <a:bodyPr wrap="square" lIns="0" tIns="0" rIns="0" bIns="0" rtlCol="0" anchor="t">
            <a:noAutofit/>
          </a:bodyPr>
          <a:lstStyle/>
          <a:p>
            <a:pPr marL="0" indent="0" algn="just">
              <a:lnSpc>
                <a:spcPct val="133000"/>
              </a:lnSpc>
              <a:buNone/>
            </a:pPr>
            <a:r>
              <a:rPr lang="en-US" sz="2000" dirty="0">
                <a:solidFill>
                  <a:srgbClr val="2C3249"/>
                </a:solidFill>
                <a:latin typeface="Martel Sans" pitchFamily="34" charset="0"/>
                <a:ea typeface="Martel Sans" pitchFamily="34" charset="-122"/>
                <a:cs typeface="Martel Sans" pitchFamily="34" charset="-120"/>
              </a:rPr>
              <a:t>A sound Financial Accounting and Reporting (FAR) process should comply with </a:t>
            </a:r>
            <a:r>
              <a:rPr lang="en-US" sz="2000" b="1" dirty="0">
                <a:solidFill>
                  <a:srgbClr val="2C3249"/>
                </a:solidFill>
                <a:latin typeface="Martel Sans Bold" pitchFamily="34" charset="0"/>
                <a:ea typeface="Martel Sans Bold" pitchFamily="34" charset="-122"/>
                <a:cs typeface="Martel Sans Bold" pitchFamily="34" charset="-120"/>
              </a:rPr>
              <a:t>legal requirements, professional accounting standards and recognised best practices</a:t>
            </a:r>
            <a:r>
              <a:rPr lang="en-US" sz="2000" dirty="0">
                <a:solidFill>
                  <a:srgbClr val="2C3249"/>
                </a:solidFill>
                <a:latin typeface="Martel Sans" pitchFamily="34" charset="0"/>
                <a:ea typeface="Martel Sans" pitchFamily="34" charset="-122"/>
                <a:cs typeface="Martel Sans" pitchFamily="34" charset="-120"/>
              </a:rPr>
              <a:t>. The objective is to ensure that financial information is </a:t>
            </a:r>
            <a:r>
              <a:rPr lang="en-US" sz="2000" b="1" dirty="0">
                <a:solidFill>
                  <a:srgbClr val="2C3249"/>
                </a:solidFill>
                <a:latin typeface="Martel Sans Bold" pitchFamily="34" charset="0"/>
                <a:ea typeface="Martel Sans Bold" pitchFamily="34" charset="-122"/>
                <a:cs typeface="Martel Sans Bold" pitchFamily="34" charset="-120"/>
              </a:rPr>
              <a:t>accurate, complete, reliable, comparable, timely and useful</a:t>
            </a:r>
            <a:r>
              <a:rPr lang="en-US" sz="2000" dirty="0">
                <a:solidFill>
                  <a:srgbClr val="2C3249"/>
                </a:solidFill>
                <a:latin typeface="Martel Sans" pitchFamily="34" charset="0"/>
                <a:ea typeface="Martel Sans" pitchFamily="34" charset="-122"/>
                <a:cs typeface="Martel Sans" pitchFamily="34" charset="-120"/>
              </a:rPr>
              <a:t> for decision-making. The following cards detail the eleven key perspectives and requirements.</a:t>
            </a:r>
            <a:endParaRPr 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661475" y="762000"/>
            <a:ext cx="10868745" cy="1402953"/>
          </a:xfrm>
          <a:prstGeom prst="rect">
            <a:avLst/>
          </a:prstGeom>
          <a:noFill/>
          <a:ln/>
        </p:spPr>
        <p:txBody>
          <a:bodyPr wrap="square" lIns="0" tIns="0" rIns="0" bIns="0" rtlCol="0" anchor="t">
            <a:normAutofit/>
          </a:bodyPr>
          <a:lstStyle/>
          <a:p>
            <a:pPr marL="0" indent="0" algn="l">
              <a:lnSpc>
                <a:spcPct val="104000"/>
              </a:lnSpc>
              <a:buNone/>
            </a:pPr>
            <a:r>
              <a:rPr lang="en-US" sz="4400" dirty="0">
                <a:solidFill>
                  <a:srgbClr val="272D45"/>
                </a:solidFill>
                <a:latin typeface="Kanit Light" pitchFamily="34" charset="0"/>
                <a:ea typeface="Kanit Light" pitchFamily="34" charset="-122"/>
                <a:cs typeface="Kanit Light" pitchFamily="34" charset="-120"/>
              </a:rPr>
              <a:t>Legal/Regulatory and Accounting Standards Requirements</a:t>
            </a:r>
            <a:endParaRPr lang="en-US" sz="4400" dirty="0"/>
          </a:p>
        </p:txBody>
      </p:sp>
      <p:sp>
        <p:nvSpPr>
          <p:cNvPr id="3" name="Shape 1"/>
          <p:cNvSpPr/>
          <p:nvPr/>
        </p:nvSpPr>
        <p:spPr>
          <a:xfrm>
            <a:off x="499852" y="2484735"/>
            <a:ext cx="5483782" cy="3611265"/>
          </a:xfrm>
          <a:prstGeom prst="roundRect">
            <a:avLst>
              <a:gd name="adj" fmla="val 4475"/>
            </a:avLst>
          </a:prstGeom>
          <a:solidFill>
            <a:srgbClr val="437066"/>
          </a:solidFill>
          <a:ln/>
        </p:spPr>
        <p:txBody>
          <a:bodyPr/>
          <a:lstStyle/>
          <a:p>
            <a:endParaRPr lang="en-US"/>
          </a:p>
        </p:txBody>
      </p:sp>
      <p:sp>
        <p:nvSpPr>
          <p:cNvPr id="4" name="Text 2"/>
          <p:cNvSpPr/>
          <p:nvPr/>
        </p:nvSpPr>
        <p:spPr>
          <a:xfrm>
            <a:off x="724279" y="2697956"/>
            <a:ext cx="5034928" cy="350738"/>
          </a:xfrm>
          <a:prstGeom prst="rect">
            <a:avLst/>
          </a:prstGeom>
          <a:noFill/>
          <a:ln/>
        </p:spPr>
        <p:txBody>
          <a:bodyPr wrap="none" lIns="0" tIns="0" rIns="0" bIns="0" rtlCol="0" anchor="t"/>
          <a:lstStyle/>
          <a:p>
            <a:pPr marL="0" indent="0" algn="l">
              <a:lnSpc>
                <a:spcPct val="104000"/>
              </a:lnSpc>
              <a:buNone/>
            </a:pPr>
            <a:r>
              <a:rPr lang="en-US" sz="2200" b="1" dirty="0">
                <a:solidFill>
                  <a:srgbClr val="FFFFFF"/>
                </a:solidFill>
                <a:latin typeface="Kanit Light" pitchFamily="34" charset="0"/>
                <a:ea typeface="Kanit Light" pitchFamily="34" charset="-122"/>
                <a:cs typeface="Kanit Light" pitchFamily="34" charset="-120"/>
              </a:rPr>
              <a:t>1. Legal / Regulatory</a:t>
            </a:r>
            <a:endParaRPr lang="en-US" sz="2200" b="1" dirty="0"/>
          </a:p>
        </p:txBody>
      </p:sp>
      <p:sp>
        <p:nvSpPr>
          <p:cNvPr id="5" name="Text 3"/>
          <p:cNvSpPr/>
          <p:nvPr/>
        </p:nvSpPr>
        <p:spPr>
          <a:xfrm>
            <a:off x="724279" y="3261916"/>
            <a:ext cx="5034928" cy="2292152"/>
          </a:xfrm>
          <a:prstGeom prst="rect">
            <a:avLst/>
          </a:prstGeom>
          <a:noFill/>
          <a:ln/>
        </p:spPr>
        <p:txBody>
          <a:bodyPr wrap="square" lIns="0" tIns="0" rIns="0" bIns="0" rtlCol="0" anchor="t">
            <a:normAutofit/>
          </a:bodyPr>
          <a:lstStyle/>
          <a:p>
            <a:pPr marL="0" indent="0" algn="just">
              <a:lnSpc>
                <a:spcPct val="130000"/>
              </a:lnSpc>
              <a:spcAft>
                <a:spcPts val="1500"/>
              </a:spcAft>
              <a:buNone/>
            </a:pPr>
            <a:r>
              <a:rPr lang="en-US" sz="1750" b="1" dirty="0">
                <a:solidFill>
                  <a:srgbClr val="FFFFFF"/>
                </a:solidFill>
                <a:latin typeface="Martel Sans Bold" pitchFamily="34" charset="0"/>
                <a:ea typeface="Martel Sans Bold" pitchFamily="34" charset="-122"/>
                <a:cs typeface="Martel Sans Bold" pitchFamily="34" charset="-120"/>
              </a:rPr>
              <a:t>Requirement:</a:t>
            </a:r>
            <a:r>
              <a:rPr lang="en-US" sz="1750" dirty="0">
                <a:solidFill>
                  <a:srgbClr val="FFFFFF"/>
                </a:solidFill>
                <a:latin typeface="Martel Sans" pitchFamily="34" charset="0"/>
                <a:ea typeface="Martel Sans" pitchFamily="34" charset="-122"/>
                <a:cs typeface="Martel Sans" pitchFamily="34" charset="-120"/>
              </a:rPr>
              <a:t> Comply with applicable company, tax, employment, sector-specific and financial reporting laws and regulations.</a:t>
            </a:r>
            <a:endParaRPr lang="en-US" sz="1750" dirty="0"/>
          </a:p>
          <a:p>
            <a:pPr marL="0" indent="0" algn="just">
              <a:lnSpc>
                <a:spcPct val="130000"/>
              </a:lnSpc>
              <a:buNone/>
            </a:pPr>
            <a:r>
              <a:rPr lang="en-US" sz="1750" b="1" dirty="0">
                <a:solidFill>
                  <a:srgbClr val="FFFFFF"/>
                </a:solidFill>
                <a:latin typeface="Martel Sans Bold" pitchFamily="34" charset="0"/>
                <a:ea typeface="Martel Sans Bold" pitchFamily="34" charset="-122"/>
                <a:cs typeface="Martel Sans Bold" pitchFamily="34" charset="-120"/>
              </a:rPr>
              <a:t>Purpose:</a:t>
            </a:r>
            <a:r>
              <a:rPr lang="en-US" sz="1750" dirty="0">
                <a:solidFill>
                  <a:srgbClr val="FFFFFF"/>
                </a:solidFill>
                <a:latin typeface="Martel Sans" pitchFamily="34" charset="0"/>
                <a:ea typeface="Martel Sans" pitchFamily="34" charset="-122"/>
                <a:cs typeface="Martel Sans" pitchFamily="34" charset="-120"/>
              </a:rPr>
              <a:t> Ensures the entity meets its statutory obligations and avoids penalties or regulatory sanctions.</a:t>
            </a:r>
            <a:endParaRPr lang="en-US" sz="1750" dirty="0"/>
          </a:p>
        </p:txBody>
      </p:sp>
      <p:sp>
        <p:nvSpPr>
          <p:cNvPr id="6" name="Text 4"/>
          <p:cNvSpPr/>
          <p:nvPr/>
        </p:nvSpPr>
        <p:spPr>
          <a:xfrm>
            <a:off x="6376034" y="2697956"/>
            <a:ext cx="5160536" cy="350738"/>
          </a:xfrm>
          <a:prstGeom prst="rect">
            <a:avLst/>
          </a:prstGeom>
          <a:noFill/>
          <a:ln/>
        </p:spPr>
        <p:txBody>
          <a:bodyPr wrap="none" lIns="0" tIns="0" rIns="0" bIns="0" rtlCol="0" anchor="t"/>
          <a:lstStyle/>
          <a:p>
            <a:pPr marL="0" indent="0" algn="l">
              <a:lnSpc>
                <a:spcPct val="104000"/>
              </a:lnSpc>
              <a:buNone/>
            </a:pPr>
            <a:r>
              <a:rPr lang="en-US" sz="2200" b="1" dirty="0">
                <a:solidFill>
                  <a:srgbClr val="272D45"/>
                </a:solidFill>
                <a:latin typeface="Kanit Light" pitchFamily="34" charset="0"/>
                <a:ea typeface="Kanit Light" pitchFamily="34" charset="-122"/>
                <a:cs typeface="Kanit Light" pitchFamily="34" charset="-120"/>
              </a:rPr>
              <a:t>2. Accounting Standards</a:t>
            </a:r>
            <a:endParaRPr lang="en-US" sz="2200" b="1" dirty="0"/>
          </a:p>
        </p:txBody>
      </p:sp>
      <p:sp>
        <p:nvSpPr>
          <p:cNvPr id="7" name="Text 5"/>
          <p:cNvSpPr/>
          <p:nvPr/>
        </p:nvSpPr>
        <p:spPr>
          <a:xfrm>
            <a:off x="6376034" y="3261916"/>
            <a:ext cx="5160536" cy="2642195"/>
          </a:xfrm>
          <a:prstGeom prst="rect">
            <a:avLst/>
          </a:prstGeom>
          <a:noFill/>
          <a:ln/>
        </p:spPr>
        <p:txBody>
          <a:bodyPr wrap="square" lIns="0" tIns="0" rIns="0" bIns="0" rtlCol="0" anchor="t">
            <a:normAutofit/>
          </a:bodyPr>
          <a:lstStyle/>
          <a:p>
            <a:pPr marL="0" indent="0" algn="just">
              <a:lnSpc>
                <a:spcPct val="130000"/>
              </a:lnSpc>
              <a:spcAft>
                <a:spcPts val="1500"/>
              </a:spcAft>
              <a:buNone/>
            </a:pPr>
            <a:r>
              <a:rPr lang="en-US" sz="1750" b="1" dirty="0">
                <a:solidFill>
                  <a:srgbClr val="2C3249"/>
                </a:solidFill>
                <a:latin typeface="Martel Sans Bold" pitchFamily="34" charset="0"/>
                <a:ea typeface="Martel Sans Bold" pitchFamily="34" charset="-122"/>
                <a:cs typeface="Martel Sans Bold" pitchFamily="34" charset="-120"/>
              </a:rPr>
              <a:t>Requirement:</a:t>
            </a:r>
            <a:r>
              <a:rPr lang="en-US" sz="1750" dirty="0">
                <a:solidFill>
                  <a:srgbClr val="2C3249"/>
                </a:solidFill>
                <a:latin typeface="Martel Sans" pitchFamily="34" charset="0"/>
                <a:ea typeface="Martel Sans" pitchFamily="34" charset="-122"/>
                <a:cs typeface="Martel Sans" pitchFamily="34" charset="-120"/>
              </a:rPr>
              <a:t> Prepare financial statements in accordance with the applicable reporting framework, such as </a:t>
            </a:r>
            <a:r>
              <a:rPr lang="en-US" sz="1750" b="1" dirty="0">
                <a:solidFill>
                  <a:srgbClr val="2C3249"/>
                </a:solidFill>
                <a:latin typeface="Martel Sans Bold" pitchFamily="34" charset="0"/>
                <a:ea typeface="Martel Sans Bold" pitchFamily="34" charset="-122"/>
                <a:cs typeface="Martel Sans Bold" pitchFamily="34" charset="-120"/>
              </a:rPr>
              <a:t>IFRS, IFRS for SMEs</a:t>
            </a:r>
            <a:r>
              <a:rPr lang="en-US" sz="1750" dirty="0">
                <a:solidFill>
                  <a:srgbClr val="2C3249"/>
                </a:solidFill>
                <a:latin typeface="Martel Sans" pitchFamily="34" charset="0"/>
                <a:ea typeface="Martel Sans" pitchFamily="34" charset="-122"/>
                <a:cs typeface="Martel Sans" pitchFamily="34" charset="-120"/>
              </a:rPr>
              <a:t> or relevant public-sector standards.</a:t>
            </a:r>
            <a:endParaRPr lang="en-US" sz="1750" dirty="0"/>
          </a:p>
          <a:p>
            <a:pPr marL="0" indent="0" algn="just">
              <a:lnSpc>
                <a:spcPct val="130000"/>
              </a:lnSpc>
              <a:buNone/>
            </a:pPr>
            <a:r>
              <a:rPr lang="en-US" sz="1750" b="1" dirty="0">
                <a:solidFill>
                  <a:srgbClr val="2C3249"/>
                </a:solidFill>
                <a:latin typeface="Martel Sans Bold" pitchFamily="34" charset="0"/>
                <a:ea typeface="Martel Sans Bold" pitchFamily="34" charset="-122"/>
                <a:cs typeface="Martel Sans Bold" pitchFamily="34" charset="-120"/>
              </a:rPr>
              <a:t>Purpose:</a:t>
            </a:r>
            <a:r>
              <a:rPr lang="en-US" sz="1750" dirty="0">
                <a:solidFill>
                  <a:srgbClr val="2C3249"/>
                </a:solidFill>
                <a:latin typeface="Martel Sans" pitchFamily="34" charset="0"/>
                <a:ea typeface="Martel Sans" pitchFamily="34" charset="-122"/>
                <a:cs typeface="Martel Sans" pitchFamily="34" charset="-120"/>
              </a:rPr>
              <a:t> Ensures consistency, comparability and appropriate recognition, measurement, presentation and disclosure.</a:t>
            </a:r>
            <a:endParaRPr lang="en-US" sz="17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661627" y="277821"/>
            <a:ext cx="10868745" cy="1255117"/>
          </a:xfrm>
          <a:prstGeom prst="rect">
            <a:avLst/>
          </a:prstGeom>
          <a:noFill/>
          <a:ln/>
        </p:spPr>
        <p:txBody>
          <a:bodyPr wrap="square" lIns="0" tIns="0" rIns="0" bIns="0" rtlCol="0" anchor="t">
            <a:normAutofit/>
          </a:bodyPr>
          <a:lstStyle/>
          <a:p>
            <a:pPr marL="0" indent="0" algn="ctr">
              <a:lnSpc>
                <a:spcPct val="104000"/>
              </a:lnSpc>
              <a:buNone/>
            </a:pPr>
            <a:r>
              <a:rPr lang="en-US" sz="3950" dirty="0">
                <a:solidFill>
                  <a:srgbClr val="272D45"/>
                </a:solidFill>
                <a:latin typeface="Kanit Light" pitchFamily="34" charset="0"/>
                <a:ea typeface="Kanit Light" pitchFamily="34" charset="-122"/>
                <a:cs typeface="Kanit Light" pitchFamily="34" charset="-120"/>
              </a:rPr>
              <a:t>Professional Requirements and Accounting Records</a:t>
            </a:r>
            <a:endParaRPr lang="en-US" sz="3950" dirty="0"/>
          </a:p>
        </p:txBody>
      </p:sp>
      <p:sp>
        <p:nvSpPr>
          <p:cNvPr id="3" name="Text 1"/>
          <p:cNvSpPr/>
          <p:nvPr/>
        </p:nvSpPr>
        <p:spPr>
          <a:xfrm>
            <a:off x="661627" y="1887357"/>
            <a:ext cx="5189408" cy="313730"/>
          </a:xfrm>
          <a:prstGeom prst="rect">
            <a:avLst/>
          </a:prstGeom>
          <a:noFill/>
          <a:ln/>
        </p:spPr>
        <p:txBody>
          <a:bodyPr wrap="none" lIns="0" tIns="0" rIns="0" bIns="0" rtlCol="0" anchor="t"/>
          <a:lstStyle/>
          <a:p>
            <a:pPr marL="0" indent="0" algn="l">
              <a:lnSpc>
                <a:spcPct val="104000"/>
              </a:lnSpc>
              <a:buNone/>
            </a:pPr>
            <a:r>
              <a:rPr lang="en-US" sz="1950" b="1" dirty="0">
                <a:solidFill>
                  <a:srgbClr val="272D45"/>
                </a:solidFill>
                <a:latin typeface="Kanit Light" pitchFamily="34" charset="0"/>
                <a:ea typeface="Kanit Light" pitchFamily="34" charset="-122"/>
                <a:cs typeface="Kanit Light" pitchFamily="34" charset="-120"/>
              </a:rPr>
              <a:t>3. Professional Requirements</a:t>
            </a:r>
            <a:endParaRPr lang="en-US" sz="1950" b="1" dirty="0"/>
          </a:p>
        </p:txBody>
      </p:sp>
      <p:sp>
        <p:nvSpPr>
          <p:cNvPr id="4" name="Text 2"/>
          <p:cNvSpPr/>
          <p:nvPr/>
        </p:nvSpPr>
        <p:spPr>
          <a:xfrm>
            <a:off x="661475" y="2854821"/>
            <a:ext cx="5189408" cy="891480"/>
          </a:xfrm>
          <a:prstGeom prst="rect">
            <a:avLst/>
          </a:prstGeom>
          <a:noFill/>
          <a:ln/>
        </p:spPr>
        <p:txBody>
          <a:bodyPr wrap="square" lIns="0" tIns="0" rIns="0" bIns="0" rtlCol="0" anchor="t">
            <a:normAutofit/>
          </a:bodyPr>
          <a:lstStyle/>
          <a:p>
            <a:pPr marL="0" indent="0" algn="l">
              <a:lnSpc>
                <a:spcPct val="123000"/>
              </a:lnSpc>
              <a:buNone/>
            </a:pPr>
            <a:r>
              <a:rPr lang="en-US" sz="1550" b="1" dirty="0">
                <a:solidFill>
                  <a:srgbClr val="2C3249"/>
                </a:solidFill>
                <a:latin typeface="Martel Sans Bold" pitchFamily="34" charset="0"/>
                <a:ea typeface="Martel Sans Bold" pitchFamily="34" charset="-122"/>
                <a:cs typeface="Martel Sans Bold" pitchFamily="34" charset="-120"/>
              </a:rPr>
              <a:t>Requirement:</a:t>
            </a:r>
            <a:r>
              <a:rPr lang="en-US" sz="1550" dirty="0">
                <a:solidFill>
                  <a:srgbClr val="2C3249"/>
                </a:solidFill>
                <a:latin typeface="Martel Sans" pitchFamily="34" charset="0"/>
                <a:ea typeface="Martel Sans" pitchFamily="34" charset="-122"/>
                <a:cs typeface="Martel Sans" pitchFamily="34" charset="-120"/>
              </a:rPr>
              <a:t> Apply relevant requirements of professional accountancy bodies and the </a:t>
            </a:r>
            <a:r>
              <a:rPr lang="en-US" sz="1550" b="1" dirty="0">
                <a:solidFill>
                  <a:srgbClr val="2C3249"/>
                </a:solidFill>
                <a:latin typeface="Martel Sans Bold" pitchFamily="34" charset="0"/>
                <a:ea typeface="Martel Sans Bold" pitchFamily="34" charset="-122"/>
                <a:cs typeface="Martel Sans Bold" pitchFamily="34" charset="-120"/>
              </a:rPr>
              <a:t>IFAC ethical framework</a:t>
            </a:r>
            <a:r>
              <a:rPr lang="en-US" sz="1550" dirty="0">
                <a:solidFill>
                  <a:srgbClr val="2C3249"/>
                </a:solidFill>
                <a:latin typeface="Martel Sans" pitchFamily="34" charset="0"/>
                <a:ea typeface="Martel Sans" pitchFamily="34" charset="-122"/>
                <a:cs typeface="Martel Sans" pitchFamily="34" charset="-120"/>
              </a:rPr>
              <a:t>, including:</a:t>
            </a:r>
            <a:endParaRPr lang="en-US" sz="1550" dirty="0"/>
          </a:p>
        </p:txBody>
      </p:sp>
      <p:sp>
        <p:nvSpPr>
          <p:cNvPr id="5" name="Text 3"/>
          <p:cNvSpPr/>
          <p:nvPr/>
        </p:nvSpPr>
        <p:spPr>
          <a:xfrm>
            <a:off x="661475" y="3899892"/>
            <a:ext cx="5189408" cy="1367830"/>
          </a:xfrm>
          <a:prstGeom prst="rect">
            <a:avLst/>
          </a:prstGeom>
          <a:noFill/>
          <a:ln/>
        </p:spPr>
        <p:txBody>
          <a:bodyPr wrap="square" lIns="0" tIns="80333" rIns="0" bIns="0" rtlCol="0" anchor="t">
            <a:normAutofit/>
          </a:bodyPr>
          <a:lstStyle/>
          <a:p>
            <a:pPr marL="314960" indent="-314960" algn="l">
              <a:lnSpc>
                <a:spcPct val="123000"/>
              </a:lnSpc>
              <a:buSzPct val="100000"/>
              <a:buChar char="•"/>
            </a:pPr>
            <a:r>
              <a:rPr lang="en-US" sz="1550" dirty="0">
                <a:solidFill>
                  <a:srgbClr val="2C3249"/>
                </a:solidFill>
                <a:latin typeface="Martel Sans" pitchFamily="34" charset="0"/>
                <a:ea typeface="Martel Sans" pitchFamily="34" charset="-122"/>
                <a:cs typeface="Martel Sans" pitchFamily="34" charset="-120"/>
              </a:rPr>
              <a:t>Integrity and objectivity</a:t>
            </a:r>
            <a:endParaRPr lang="en-US" sz="1550" dirty="0"/>
          </a:p>
          <a:p>
            <a:pPr marL="314960" indent="-314960" algn="l">
              <a:lnSpc>
                <a:spcPct val="123000"/>
              </a:lnSpc>
              <a:buSzPct val="100000"/>
              <a:buChar char="•"/>
            </a:pPr>
            <a:r>
              <a:rPr lang="en-US" sz="1550" dirty="0">
                <a:solidFill>
                  <a:srgbClr val="2C3249"/>
                </a:solidFill>
                <a:latin typeface="Martel Sans" pitchFamily="34" charset="0"/>
                <a:ea typeface="Martel Sans" pitchFamily="34" charset="-122"/>
                <a:cs typeface="Martel Sans" pitchFamily="34" charset="-120"/>
              </a:rPr>
              <a:t>Professional competence and due care</a:t>
            </a:r>
            <a:endParaRPr lang="en-US" sz="1550" dirty="0"/>
          </a:p>
          <a:p>
            <a:pPr marL="314960" indent="-314960" algn="l">
              <a:lnSpc>
                <a:spcPct val="123000"/>
              </a:lnSpc>
              <a:buSzPct val="100000"/>
              <a:buChar char="•"/>
            </a:pPr>
            <a:r>
              <a:rPr lang="en-US" sz="1550" dirty="0">
                <a:solidFill>
                  <a:srgbClr val="2C3249"/>
                </a:solidFill>
                <a:latin typeface="Martel Sans" pitchFamily="34" charset="0"/>
                <a:ea typeface="Martel Sans" pitchFamily="34" charset="-122"/>
                <a:cs typeface="Martel Sans" pitchFamily="34" charset="-120"/>
              </a:rPr>
              <a:t>Confidentiality</a:t>
            </a:r>
            <a:endParaRPr lang="en-US" sz="1550" dirty="0"/>
          </a:p>
          <a:p>
            <a:pPr marL="314960" indent="-314960" algn="l">
              <a:lnSpc>
                <a:spcPct val="123000"/>
              </a:lnSpc>
              <a:buSzPct val="100000"/>
              <a:buChar char="•"/>
            </a:pPr>
            <a:r>
              <a:rPr lang="en-US" sz="1550" dirty="0">
                <a:solidFill>
                  <a:srgbClr val="2C3249"/>
                </a:solidFill>
                <a:latin typeface="Martel Sans" pitchFamily="34" charset="0"/>
                <a:ea typeface="Martel Sans" pitchFamily="34" charset="-122"/>
                <a:cs typeface="Martel Sans" pitchFamily="34" charset="-120"/>
              </a:rPr>
              <a:t>Professional behaviour</a:t>
            </a:r>
            <a:endParaRPr lang="en-US" sz="1550" dirty="0"/>
          </a:p>
        </p:txBody>
      </p:sp>
      <p:sp>
        <p:nvSpPr>
          <p:cNvPr id="6" name="Text 4"/>
          <p:cNvSpPr/>
          <p:nvPr/>
        </p:nvSpPr>
        <p:spPr>
          <a:xfrm>
            <a:off x="661475" y="5421312"/>
            <a:ext cx="5189408" cy="594320"/>
          </a:xfrm>
          <a:prstGeom prst="rect">
            <a:avLst/>
          </a:prstGeom>
          <a:noFill/>
          <a:ln/>
        </p:spPr>
        <p:txBody>
          <a:bodyPr wrap="square" lIns="0" tIns="0" rIns="0" bIns="0" rtlCol="0" anchor="t">
            <a:normAutofit/>
          </a:bodyPr>
          <a:lstStyle/>
          <a:p>
            <a:pPr marL="0" indent="0" algn="l">
              <a:lnSpc>
                <a:spcPct val="123000"/>
              </a:lnSpc>
              <a:buNone/>
            </a:pPr>
            <a:r>
              <a:rPr lang="en-US" sz="1550" b="1" dirty="0">
                <a:solidFill>
                  <a:srgbClr val="2C3249"/>
                </a:solidFill>
                <a:latin typeface="Martel Sans Bold" pitchFamily="34" charset="0"/>
                <a:ea typeface="Martel Sans Bold" pitchFamily="34" charset="-122"/>
                <a:cs typeface="Martel Sans Bold" pitchFamily="34" charset="-120"/>
              </a:rPr>
              <a:t>Purpose:</a:t>
            </a:r>
            <a:r>
              <a:rPr lang="en-US" sz="1550" dirty="0">
                <a:solidFill>
                  <a:srgbClr val="2C3249"/>
                </a:solidFill>
                <a:latin typeface="Martel Sans" pitchFamily="34" charset="0"/>
                <a:ea typeface="Martel Sans" pitchFamily="34" charset="-122"/>
                <a:cs typeface="Martel Sans" pitchFamily="34" charset="-120"/>
              </a:rPr>
              <a:t> Promotes ethical and professionally competent financial reporting.</a:t>
            </a:r>
            <a:endParaRPr lang="en-US" sz="1550" dirty="0"/>
          </a:p>
        </p:txBody>
      </p:sp>
      <p:sp>
        <p:nvSpPr>
          <p:cNvPr id="7" name="Shape 5"/>
          <p:cNvSpPr/>
          <p:nvPr/>
        </p:nvSpPr>
        <p:spPr>
          <a:xfrm>
            <a:off x="6202604" y="1887357"/>
            <a:ext cx="5478524" cy="4281867"/>
          </a:xfrm>
          <a:prstGeom prst="roundRect">
            <a:avLst>
              <a:gd name="adj" fmla="val 3643"/>
            </a:avLst>
          </a:prstGeom>
          <a:solidFill>
            <a:srgbClr val="437066"/>
          </a:solidFill>
          <a:ln/>
        </p:spPr>
        <p:txBody>
          <a:bodyPr/>
          <a:lstStyle/>
          <a:p>
            <a:endParaRPr lang="en-US"/>
          </a:p>
        </p:txBody>
      </p:sp>
      <p:sp>
        <p:nvSpPr>
          <p:cNvPr id="8" name="Text 6"/>
          <p:cNvSpPr/>
          <p:nvPr/>
        </p:nvSpPr>
        <p:spPr>
          <a:xfrm>
            <a:off x="6453476" y="2024467"/>
            <a:ext cx="5076896" cy="313730"/>
          </a:xfrm>
          <a:prstGeom prst="rect">
            <a:avLst/>
          </a:prstGeom>
          <a:noFill/>
          <a:ln/>
        </p:spPr>
        <p:txBody>
          <a:bodyPr wrap="none" lIns="0" tIns="0" rIns="0" bIns="0" rtlCol="0" anchor="t"/>
          <a:lstStyle/>
          <a:p>
            <a:pPr marL="0" indent="0" algn="l">
              <a:lnSpc>
                <a:spcPct val="104000"/>
              </a:lnSpc>
              <a:buNone/>
            </a:pPr>
            <a:r>
              <a:rPr lang="en-US" sz="1950" b="1" dirty="0">
                <a:solidFill>
                  <a:srgbClr val="FFFFFF"/>
                </a:solidFill>
                <a:latin typeface="Kanit Light" pitchFamily="34" charset="0"/>
                <a:ea typeface="Kanit Light" pitchFamily="34" charset="-122"/>
                <a:cs typeface="Kanit Light" pitchFamily="34" charset="-120"/>
              </a:rPr>
              <a:t>4. Accounting Records</a:t>
            </a:r>
            <a:endParaRPr lang="en-US" sz="1950" b="1" dirty="0"/>
          </a:p>
        </p:txBody>
      </p:sp>
      <p:sp>
        <p:nvSpPr>
          <p:cNvPr id="9" name="Text 7"/>
          <p:cNvSpPr/>
          <p:nvPr/>
        </p:nvSpPr>
        <p:spPr>
          <a:xfrm>
            <a:off x="6403418" y="2854821"/>
            <a:ext cx="5076896" cy="2233712"/>
          </a:xfrm>
          <a:prstGeom prst="rect">
            <a:avLst/>
          </a:prstGeom>
          <a:noFill/>
          <a:ln/>
        </p:spPr>
        <p:txBody>
          <a:bodyPr wrap="square" lIns="0" tIns="0" rIns="0" bIns="0" rtlCol="0" anchor="t">
            <a:normAutofit/>
          </a:bodyPr>
          <a:lstStyle/>
          <a:p>
            <a:pPr marL="0" indent="0" algn="l">
              <a:lnSpc>
                <a:spcPct val="123000"/>
              </a:lnSpc>
              <a:spcAft>
                <a:spcPts val="1200"/>
              </a:spcAft>
              <a:buNone/>
            </a:pPr>
            <a:r>
              <a:rPr lang="en-US" sz="1550" b="1" dirty="0">
                <a:solidFill>
                  <a:srgbClr val="FFFFFF"/>
                </a:solidFill>
                <a:latin typeface="Martel Sans Bold" pitchFamily="34" charset="0"/>
                <a:ea typeface="Martel Sans Bold" pitchFamily="34" charset="-122"/>
                <a:cs typeface="Martel Sans Bold" pitchFamily="34" charset="-120"/>
              </a:rPr>
              <a:t>Requirement:</a:t>
            </a:r>
            <a:r>
              <a:rPr lang="en-US" sz="1550" dirty="0">
                <a:solidFill>
                  <a:srgbClr val="FFFFFF"/>
                </a:solidFill>
                <a:latin typeface="Martel Sans" pitchFamily="34" charset="0"/>
                <a:ea typeface="Martel Sans" pitchFamily="34" charset="-122"/>
                <a:cs typeface="Martel Sans" pitchFamily="34" charset="-120"/>
              </a:rPr>
              <a:t> Maintain complete, accurate and systematic accounting records, supported by appropriate source documents and an adequate audit trail.</a:t>
            </a:r>
            <a:endParaRPr lang="en-US" sz="1550" dirty="0"/>
          </a:p>
          <a:p>
            <a:pPr marL="0" indent="0" algn="l">
              <a:lnSpc>
                <a:spcPct val="123000"/>
              </a:lnSpc>
              <a:buNone/>
            </a:pPr>
            <a:r>
              <a:rPr lang="en-US" sz="1550" b="1" dirty="0">
                <a:solidFill>
                  <a:srgbClr val="FFFFFF"/>
                </a:solidFill>
                <a:latin typeface="Martel Sans Bold" pitchFamily="34" charset="0"/>
                <a:ea typeface="Martel Sans Bold" pitchFamily="34" charset="-122"/>
                <a:cs typeface="Martel Sans Bold" pitchFamily="34" charset="-120"/>
              </a:rPr>
              <a:t>Purpose:</a:t>
            </a:r>
            <a:r>
              <a:rPr lang="en-US" sz="1550" dirty="0">
                <a:solidFill>
                  <a:srgbClr val="FFFFFF"/>
                </a:solidFill>
                <a:latin typeface="Martel Sans" pitchFamily="34" charset="0"/>
                <a:ea typeface="Martel Sans" pitchFamily="34" charset="-122"/>
                <a:cs typeface="Martel Sans" pitchFamily="34" charset="-120"/>
              </a:rPr>
              <a:t> Provides reliable evidence for transactions and supports preparation and verification of financial statements.</a:t>
            </a:r>
            <a:endParaRPr lang="en-US" sz="15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1585758" y="302851"/>
            <a:ext cx="8828889" cy="1328936"/>
          </a:xfrm>
          <a:prstGeom prst="rect">
            <a:avLst/>
          </a:prstGeom>
          <a:noFill/>
          <a:ln/>
        </p:spPr>
        <p:txBody>
          <a:bodyPr wrap="square" lIns="0" tIns="0" rIns="0" bIns="0" rtlCol="0" anchor="t">
            <a:normAutofit/>
          </a:bodyPr>
          <a:lstStyle/>
          <a:p>
            <a:pPr marL="0" indent="0" algn="ctr">
              <a:lnSpc>
                <a:spcPct val="104000"/>
              </a:lnSpc>
              <a:buNone/>
            </a:pPr>
            <a:r>
              <a:rPr lang="en-US" sz="4150" dirty="0">
                <a:solidFill>
                  <a:srgbClr val="272D45"/>
                </a:solidFill>
                <a:latin typeface="Kanit Light" pitchFamily="34" charset="0"/>
                <a:ea typeface="Kanit Light" pitchFamily="34" charset="-122"/>
                <a:cs typeface="Kanit Light" pitchFamily="34" charset="-120"/>
              </a:rPr>
              <a:t>Double-Entry System and Financial Statements Requirements</a:t>
            </a:r>
            <a:endParaRPr lang="en-US" sz="41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473226"/>
            <a:ext cx="5338728" cy="3623072"/>
          </a:xfrm>
          <a:prstGeom prst="rect">
            <a:avLst/>
          </a:prstGeom>
        </p:spPr>
      </p:pic>
      <p:sp>
        <p:nvSpPr>
          <p:cNvPr id="4" name="Text 1"/>
          <p:cNvSpPr/>
          <p:nvPr/>
        </p:nvSpPr>
        <p:spPr>
          <a:xfrm>
            <a:off x="1001092" y="2711252"/>
            <a:ext cx="4761091" cy="332184"/>
          </a:xfrm>
          <a:prstGeom prst="rect">
            <a:avLst/>
          </a:prstGeom>
          <a:noFill/>
          <a:ln/>
        </p:spPr>
        <p:txBody>
          <a:bodyPr wrap="none" lIns="0" tIns="0" rIns="0" bIns="0" rtlCol="0" anchor="t"/>
          <a:lstStyle/>
          <a:p>
            <a:pPr marL="0" indent="0" algn="l">
              <a:lnSpc>
                <a:spcPct val="104000"/>
              </a:lnSpc>
              <a:buNone/>
            </a:pPr>
            <a:r>
              <a:rPr lang="en-US" sz="2050" b="1" dirty="0">
                <a:solidFill>
                  <a:srgbClr val="2C3249"/>
                </a:solidFill>
                <a:latin typeface="Kanit Light" pitchFamily="34" charset="0"/>
                <a:ea typeface="Kanit Light" pitchFamily="34" charset="-122"/>
                <a:cs typeface="Kanit Light" pitchFamily="34" charset="-120"/>
              </a:rPr>
              <a:t>5. Double-Entry System</a:t>
            </a:r>
            <a:endParaRPr lang="en-US" sz="2050" b="1" dirty="0"/>
          </a:p>
        </p:txBody>
      </p:sp>
      <p:sp>
        <p:nvSpPr>
          <p:cNvPr id="5" name="Text 2"/>
          <p:cNvSpPr/>
          <p:nvPr/>
        </p:nvSpPr>
        <p:spPr>
          <a:xfrm>
            <a:off x="1001092" y="3158232"/>
            <a:ext cx="4761091" cy="2053729"/>
          </a:xfrm>
          <a:prstGeom prst="rect">
            <a:avLst/>
          </a:prstGeom>
          <a:noFill/>
          <a:ln/>
        </p:spPr>
        <p:txBody>
          <a:bodyPr wrap="square" lIns="0" tIns="0" rIns="0" bIns="0" rtlCol="0" anchor="t">
            <a:normAutofit/>
          </a:bodyPr>
          <a:lstStyle/>
          <a:p>
            <a:pPr marL="0" indent="0" algn="l">
              <a:lnSpc>
                <a:spcPct val="127000"/>
              </a:lnSpc>
              <a:spcAft>
                <a:spcPts val="900"/>
              </a:spcAft>
              <a:buNone/>
            </a:pPr>
            <a:r>
              <a:rPr lang="en-US" sz="1650" b="1" dirty="0">
                <a:solidFill>
                  <a:srgbClr val="2C3249"/>
                </a:solidFill>
                <a:latin typeface="Martel Sans Bold" pitchFamily="34" charset="0"/>
                <a:ea typeface="Martel Sans Bold" pitchFamily="34" charset="-122"/>
                <a:cs typeface="Martel Sans Bold" pitchFamily="34" charset="-120"/>
              </a:rPr>
              <a:t>Requirement:</a:t>
            </a:r>
            <a:r>
              <a:rPr lang="en-US" sz="1650" dirty="0">
                <a:solidFill>
                  <a:srgbClr val="2C3249"/>
                </a:solidFill>
                <a:latin typeface="Martel Sans" pitchFamily="34" charset="0"/>
                <a:ea typeface="Martel Sans" pitchFamily="34" charset="-122"/>
                <a:cs typeface="Martel Sans" pitchFamily="34" charset="-120"/>
              </a:rPr>
              <a:t> Record transactions using the double-entry principle, ensuring that total debits equal total credits.</a:t>
            </a:r>
            <a:endParaRPr lang="en-US" sz="1650" dirty="0"/>
          </a:p>
          <a:p>
            <a:pPr marL="0" indent="0" algn="l">
              <a:lnSpc>
                <a:spcPct val="127000"/>
              </a:lnSpc>
              <a:buNone/>
            </a:pPr>
            <a:r>
              <a:rPr lang="en-US" sz="1650" b="1" dirty="0">
                <a:solidFill>
                  <a:srgbClr val="2C3249"/>
                </a:solidFill>
                <a:latin typeface="Martel Sans Bold" pitchFamily="34" charset="0"/>
                <a:ea typeface="Martel Sans Bold" pitchFamily="34" charset="-122"/>
                <a:cs typeface="Martel Sans Bold" pitchFamily="34" charset="-120"/>
              </a:rPr>
              <a:t>Purpose:</a:t>
            </a:r>
            <a:r>
              <a:rPr lang="en-US" sz="1650" dirty="0">
                <a:solidFill>
                  <a:srgbClr val="2C3249"/>
                </a:solidFill>
                <a:latin typeface="Martel Sans" pitchFamily="34" charset="0"/>
                <a:ea typeface="Martel Sans" pitchFamily="34" charset="-122"/>
                <a:cs typeface="Martel Sans" pitchFamily="34" charset="-120"/>
              </a:rPr>
              <a:t> Provides the basic mechanism for maintaining complete accounting records and detecting certain errors.</a:t>
            </a:r>
            <a:endParaRPr lang="en-US" sz="16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91492" y="2473226"/>
            <a:ext cx="5338728" cy="3623072"/>
          </a:xfrm>
          <a:prstGeom prst="rect">
            <a:avLst/>
          </a:prstGeom>
        </p:spPr>
      </p:pic>
      <p:sp>
        <p:nvSpPr>
          <p:cNvPr id="7" name="Text 3"/>
          <p:cNvSpPr/>
          <p:nvPr/>
        </p:nvSpPr>
        <p:spPr>
          <a:xfrm>
            <a:off x="6531109" y="2711252"/>
            <a:ext cx="4761091" cy="332184"/>
          </a:xfrm>
          <a:prstGeom prst="rect">
            <a:avLst/>
          </a:prstGeom>
          <a:noFill/>
          <a:ln/>
        </p:spPr>
        <p:txBody>
          <a:bodyPr wrap="none" lIns="0" tIns="0" rIns="0" bIns="0" rtlCol="0" anchor="t"/>
          <a:lstStyle/>
          <a:p>
            <a:pPr marL="0" indent="0" algn="l">
              <a:lnSpc>
                <a:spcPct val="104000"/>
              </a:lnSpc>
              <a:buNone/>
            </a:pPr>
            <a:r>
              <a:rPr lang="en-US" sz="2050" b="1" dirty="0">
                <a:solidFill>
                  <a:srgbClr val="2C3249"/>
                </a:solidFill>
                <a:latin typeface="Kanit Light" pitchFamily="34" charset="0"/>
                <a:ea typeface="Kanit Light" pitchFamily="34" charset="-122"/>
                <a:cs typeface="Kanit Light" pitchFamily="34" charset="-120"/>
              </a:rPr>
              <a:t>6. Financial Statements</a:t>
            </a:r>
            <a:endParaRPr lang="en-US" sz="2050" b="1" dirty="0"/>
          </a:p>
        </p:txBody>
      </p:sp>
      <p:sp>
        <p:nvSpPr>
          <p:cNvPr id="8" name="Text 4"/>
          <p:cNvSpPr/>
          <p:nvPr/>
        </p:nvSpPr>
        <p:spPr>
          <a:xfrm>
            <a:off x="6531109" y="3158232"/>
            <a:ext cx="4761091" cy="2700040"/>
          </a:xfrm>
          <a:prstGeom prst="rect">
            <a:avLst/>
          </a:prstGeom>
          <a:noFill/>
          <a:ln/>
        </p:spPr>
        <p:txBody>
          <a:bodyPr wrap="square" lIns="0" tIns="0" rIns="0" bIns="0" rtlCol="0" anchor="t">
            <a:normAutofit/>
          </a:bodyPr>
          <a:lstStyle/>
          <a:p>
            <a:pPr marL="0" indent="0" algn="l">
              <a:lnSpc>
                <a:spcPct val="127000"/>
              </a:lnSpc>
              <a:spcAft>
                <a:spcPts val="900"/>
              </a:spcAft>
              <a:buNone/>
            </a:pPr>
            <a:r>
              <a:rPr lang="en-US" sz="1650" b="1" dirty="0">
                <a:solidFill>
                  <a:srgbClr val="2C3249"/>
                </a:solidFill>
                <a:latin typeface="Martel Sans Bold" pitchFamily="34" charset="0"/>
                <a:ea typeface="Martel Sans Bold" pitchFamily="34" charset="-122"/>
                <a:cs typeface="Martel Sans Bold" pitchFamily="34" charset="-120"/>
              </a:rPr>
              <a:t>Requirement:</a:t>
            </a:r>
            <a:r>
              <a:rPr lang="en-US" sz="1650" dirty="0">
                <a:solidFill>
                  <a:srgbClr val="2C3249"/>
                </a:solidFill>
                <a:latin typeface="Martel Sans" pitchFamily="34" charset="0"/>
                <a:ea typeface="Martel Sans" pitchFamily="34" charset="-122"/>
                <a:cs typeface="Martel Sans" pitchFamily="34" charset="-120"/>
              </a:rPr>
              <a:t> Prepare a complete set of financial statements, including the statement of financial position, profit or loss and OCI, cash flows, changes in equity and notes, as applicable.</a:t>
            </a:r>
            <a:endParaRPr lang="en-US" sz="1650" dirty="0"/>
          </a:p>
          <a:p>
            <a:pPr marL="0" indent="0" algn="l">
              <a:lnSpc>
                <a:spcPct val="127000"/>
              </a:lnSpc>
              <a:buNone/>
            </a:pPr>
            <a:r>
              <a:rPr lang="en-US" sz="1650" b="1" dirty="0">
                <a:solidFill>
                  <a:srgbClr val="2C3249"/>
                </a:solidFill>
                <a:latin typeface="Martel Sans Bold" pitchFamily="34" charset="0"/>
                <a:ea typeface="Martel Sans Bold" pitchFamily="34" charset="-122"/>
                <a:cs typeface="Martel Sans Bold" pitchFamily="34" charset="-120"/>
              </a:rPr>
              <a:t>Purpose:</a:t>
            </a:r>
            <a:r>
              <a:rPr lang="en-US" sz="1650" dirty="0">
                <a:solidFill>
                  <a:srgbClr val="2C3249"/>
                </a:solidFill>
                <a:latin typeface="Martel Sans" pitchFamily="34" charset="0"/>
                <a:ea typeface="Martel Sans" pitchFamily="34" charset="-122"/>
                <a:cs typeface="Martel Sans" pitchFamily="34" charset="-120"/>
              </a:rPr>
              <a:t> Provides users with a comprehensive picture of financial position, performance, cash flows and related disclosures.</a:t>
            </a:r>
            <a:endParaRPr lang="en-US" sz="16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727553" y="371285"/>
            <a:ext cx="10868745" cy="738287"/>
          </a:xfrm>
          <a:prstGeom prst="rect">
            <a:avLst/>
          </a:prstGeom>
          <a:noFill/>
          <a:ln/>
        </p:spPr>
        <p:txBody>
          <a:bodyPr wrap="none" lIns="0" tIns="0" rIns="0" bIns="0" rtlCol="0" anchor="t"/>
          <a:lstStyle/>
          <a:p>
            <a:pPr marL="0" indent="0" algn="l">
              <a:lnSpc>
                <a:spcPct val="104000"/>
              </a:lnSpc>
              <a:buNone/>
            </a:pPr>
            <a:r>
              <a:rPr lang="en-US" sz="4650" dirty="0">
                <a:solidFill>
                  <a:srgbClr val="272D45"/>
                </a:solidFill>
                <a:latin typeface="Kanit Light" pitchFamily="34" charset="0"/>
                <a:ea typeface="Kanit Light" pitchFamily="34" charset="-122"/>
                <a:cs typeface="Kanit Light" pitchFamily="34" charset="-120"/>
              </a:rPr>
              <a:t>Disclosure and Timeliness Requirements</a:t>
            </a:r>
            <a:endParaRPr lang="en-US" sz="4650" dirty="0"/>
          </a:p>
        </p:txBody>
      </p:sp>
      <p:sp>
        <p:nvSpPr>
          <p:cNvPr id="3" name="Shape 1"/>
          <p:cNvSpPr/>
          <p:nvPr/>
        </p:nvSpPr>
        <p:spPr>
          <a:xfrm>
            <a:off x="491319" y="1440873"/>
            <a:ext cx="5486461" cy="4490623"/>
          </a:xfrm>
          <a:prstGeom prst="roundRect">
            <a:avLst>
              <a:gd name="adj" fmla="val 4348"/>
            </a:avLst>
          </a:prstGeom>
          <a:solidFill>
            <a:srgbClr val="437066"/>
          </a:solidFill>
          <a:ln/>
        </p:spPr>
        <p:txBody>
          <a:bodyPr/>
          <a:lstStyle/>
          <a:p>
            <a:endParaRPr lang="en-US"/>
          </a:p>
        </p:txBody>
      </p:sp>
      <p:sp>
        <p:nvSpPr>
          <p:cNvPr id="4" name="Text 2"/>
          <p:cNvSpPr/>
          <p:nvPr/>
        </p:nvSpPr>
        <p:spPr>
          <a:xfrm>
            <a:off x="727553" y="1615979"/>
            <a:ext cx="5013993" cy="369193"/>
          </a:xfrm>
          <a:prstGeom prst="rect">
            <a:avLst/>
          </a:prstGeom>
          <a:noFill/>
          <a:ln/>
        </p:spPr>
        <p:txBody>
          <a:bodyPr wrap="none" lIns="0" tIns="0" rIns="0" bIns="0" rtlCol="0" anchor="t"/>
          <a:lstStyle/>
          <a:p>
            <a:pPr marL="0" indent="0" algn="l">
              <a:lnSpc>
                <a:spcPct val="104000"/>
              </a:lnSpc>
              <a:buNone/>
            </a:pPr>
            <a:r>
              <a:rPr lang="en-US" sz="2300" dirty="0">
                <a:solidFill>
                  <a:srgbClr val="FFFFFF"/>
                </a:solidFill>
                <a:latin typeface="Kanit Light" pitchFamily="34" charset="0"/>
                <a:ea typeface="Kanit Light" pitchFamily="34" charset="-122"/>
                <a:cs typeface="Kanit Light" pitchFamily="34" charset="-120"/>
              </a:rPr>
              <a:t>7. Disclosure</a:t>
            </a:r>
            <a:endParaRPr lang="en-US" sz="2300" dirty="0"/>
          </a:p>
        </p:txBody>
      </p:sp>
      <p:sp>
        <p:nvSpPr>
          <p:cNvPr id="5" name="Text 3"/>
          <p:cNvSpPr/>
          <p:nvPr/>
        </p:nvSpPr>
        <p:spPr>
          <a:xfrm>
            <a:off x="655430" y="2383926"/>
            <a:ext cx="5013993" cy="2858095"/>
          </a:xfrm>
          <a:prstGeom prst="rect">
            <a:avLst/>
          </a:prstGeom>
          <a:noFill/>
          <a:ln/>
        </p:spPr>
        <p:txBody>
          <a:bodyPr wrap="square" lIns="0" tIns="0" rIns="0" bIns="0" rtlCol="0" anchor="t">
            <a:noAutofit/>
          </a:bodyPr>
          <a:lstStyle/>
          <a:p>
            <a:pPr marL="0" indent="0" algn="just">
              <a:lnSpc>
                <a:spcPct val="133000"/>
              </a:lnSpc>
              <a:spcAft>
                <a:spcPts val="1650"/>
              </a:spcAft>
              <a:buNone/>
            </a:pPr>
            <a:r>
              <a:rPr lang="en-US" sz="2000" b="1" dirty="0">
                <a:solidFill>
                  <a:srgbClr val="FFFFFF"/>
                </a:solidFill>
                <a:latin typeface="Martel Sans Bold" pitchFamily="34" charset="0"/>
                <a:ea typeface="Martel Sans Bold" pitchFamily="34" charset="-122"/>
                <a:cs typeface="Martel Sans Bold" pitchFamily="34" charset="-120"/>
              </a:rPr>
              <a:t>Requirement:</a:t>
            </a:r>
            <a:r>
              <a:rPr lang="en-US" sz="2000" dirty="0">
                <a:solidFill>
                  <a:srgbClr val="FFFFFF"/>
                </a:solidFill>
                <a:latin typeface="Martel Sans" pitchFamily="34" charset="0"/>
                <a:ea typeface="Martel Sans" pitchFamily="34" charset="-122"/>
                <a:cs typeface="Martel Sans" pitchFamily="34" charset="-120"/>
              </a:rPr>
              <a:t> Provide material accounting policies, judgements, estimates, commitments, risks and other required disclosures.</a:t>
            </a:r>
            <a:endParaRPr lang="en-US" sz="2000" dirty="0"/>
          </a:p>
          <a:p>
            <a:pPr marL="0" indent="0" algn="just">
              <a:lnSpc>
                <a:spcPct val="133000"/>
              </a:lnSpc>
              <a:buNone/>
            </a:pPr>
            <a:r>
              <a:rPr lang="en-US" sz="2000" b="1" dirty="0">
                <a:solidFill>
                  <a:srgbClr val="FFFFFF"/>
                </a:solidFill>
                <a:latin typeface="Martel Sans Bold" pitchFamily="34" charset="0"/>
                <a:ea typeface="Martel Sans Bold" pitchFamily="34" charset="-122"/>
                <a:cs typeface="Martel Sans Bold" pitchFamily="34" charset="-120"/>
              </a:rPr>
              <a:t>Purpose:</a:t>
            </a:r>
            <a:r>
              <a:rPr lang="en-US" sz="2000" dirty="0">
                <a:solidFill>
                  <a:srgbClr val="FFFFFF"/>
                </a:solidFill>
                <a:latin typeface="Martel Sans" pitchFamily="34" charset="0"/>
                <a:ea typeface="Martel Sans" pitchFamily="34" charset="-122"/>
                <a:cs typeface="Martel Sans" pitchFamily="34" charset="-120"/>
              </a:rPr>
              <a:t> Enables users to properly understand and interpret the financial statements.</a:t>
            </a:r>
            <a:endParaRPr lang="en-US" sz="2000" dirty="0"/>
          </a:p>
        </p:txBody>
      </p:sp>
      <p:sp>
        <p:nvSpPr>
          <p:cNvPr id="6" name="Text 4"/>
          <p:cNvSpPr/>
          <p:nvPr/>
        </p:nvSpPr>
        <p:spPr>
          <a:xfrm>
            <a:off x="6450149" y="1654593"/>
            <a:ext cx="5146149" cy="369193"/>
          </a:xfrm>
          <a:prstGeom prst="rect">
            <a:avLst/>
          </a:prstGeom>
          <a:noFill/>
          <a:ln/>
        </p:spPr>
        <p:txBody>
          <a:bodyPr wrap="none" lIns="0" tIns="0" rIns="0" bIns="0" rtlCol="0" anchor="t"/>
          <a:lstStyle/>
          <a:p>
            <a:pPr marL="0" indent="0" algn="l">
              <a:lnSpc>
                <a:spcPct val="104000"/>
              </a:lnSpc>
              <a:buNone/>
            </a:pPr>
            <a:r>
              <a:rPr lang="en-US" sz="2300" dirty="0">
                <a:solidFill>
                  <a:srgbClr val="272D45"/>
                </a:solidFill>
                <a:latin typeface="Kanit Light" pitchFamily="34" charset="0"/>
                <a:ea typeface="Kanit Light" pitchFamily="34" charset="-122"/>
                <a:cs typeface="Kanit Light" pitchFamily="34" charset="-120"/>
              </a:rPr>
              <a:t>8. Timeliness</a:t>
            </a:r>
            <a:endParaRPr lang="en-US" sz="2300" dirty="0"/>
          </a:p>
        </p:txBody>
      </p:sp>
      <p:sp>
        <p:nvSpPr>
          <p:cNvPr id="7" name="Text 5"/>
          <p:cNvSpPr/>
          <p:nvPr/>
        </p:nvSpPr>
        <p:spPr>
          <a:xfrm>
            <a:off x="6390421" y="2446098"/>
            <a:ext cx="5146149" cy="2480171"/>
          </a:xfrm>
          <a:prstGeom prst="rect">
            <a:avLst/>
          </a:prstGeom>
          <a:noFill/>
          <a:ln/>
        </p:spPr>
        <p:txBody>
          <a:bodyPr wrap="square" lIns="0" tIns="0" rIns="0" bIns="0" rtlCol="0" anchor="t">
            <a:noAutofit/>
          </a:bodyPr>
          <a:lstStyle/>
          <a:p>
            <a:pPr marL="0" indent="0" algn="just">
              <a:lnSpc>
                <a:spcPct val="133000"/>
              </a:lnSpc>
              <a:spcAft>
                <a:spcPts val="1650"/>
              </a:spcAft>
              <a:buNone/>
            </a:pPr>
            <a:r>
              <a:rPr lang="en-US" sz="2000" b="1" dirty="0">
                <a:solidFill>
                  <a:srgbClr val="2C3249"/>
                </a:solidFill>
                <a:latin typeface="Martel Sans Bold" pitchFamily="34" charset="0"/>
                <a:ea typeface="Martel Sans Bold" pitchFamily="34" charset="-122"/>
                <a:cs typeface="Martel Sans Bold" pitchFamily="34" charset="-120"/>
              </a:rPr>
              <a:t>Requirement:</a:t>
            </a:r>
            <a:r>
              <a:rPr lang="en-US" sz="2000" dirty="0">
                <a:solidFill>
                  <a:srgbClr val="2C3249"/>
                </a:solidFill>
                <a:latin typeface="Martel Sans" pitchFamily="34" charset="0"/>
                <a:ea typeface="Martel Sans" pitchFamily="34" charset="-122"/>
                <a:cs typeface="Martel Sans" pitchFamily="34" charset="-120"/>
              </a:rPr>
              <a:t> Close accounting periods and prepare reports within statutory, regulatory and management reporting deadlines.</a:t>
            </a:r>
            <a:endParaRPr lang="en-US" sz="2000" dirty="0"/>
          </a:p>
          <a:p>
            <a:pPr marL="0" indent="0" algn="just">
              <a:lnSpc>
                <a:spcPct val="133000"/>
              </a:lnSpc>
              <a:buNone/>
            </a:pPr>
            <a:r>
              <a:rPr lang="en-US" sz="2000" b="1" dirty="0">
                <a:solidFill>
                  <a:srgbClr val="2C3249"/>
                </a:solidFill>
                <a:latin typeface="Martel Sans Bold" pitchFamily="34" charset="0"/>
                <a:ea typeface="Martel Sans Bold" pitchFamily="34" charset="-122"/>
                <a:cs typeface="Martel Sans Bold" pitchFamily="34" charset="-120"/>
              </a:rPr>
              <a:t>Purpose:</a:t>
            </a:r>
            <a:r>
              <a:rPr lang="en-US" sz="2000" dirty="0">
                <a:solidFill>
                  <a:srgbClr val="2C3249"/>
                </a:solidFill>
                <a:latin typeface="Martel Sans" pitchFamily="34" charset="0"/>
                <a:ea typeface="Martel Sans" pitchFamily="34" charset="-122"/>
                <a:cs typeface="Martel Sans" pitchFamily="34" charset="-120"/>
              </a:rPr>
              <a:t> Ensures information is available when needed for decision-making and compliance.</a:t>
            </a:r>
            <a:endParaRPr lang="en-US" sz="2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661376" y="375344"/>
            <a:ext cx="10868745" cy="627559"/>
          </a:xfrm>
          <a:prstGeom prst="rect">
            <a:avLst/>
          </a:prstGeom>
          <a:noFill/>
          <a:ln/>
        </p:spPr>
        <p:txBody>
          <a:bodyPr wrap="none" lIns="0" tIns="0" rIns="0" bIns="0" rtlCol="0" anchor="t"/>
          <a:lstStyle/>
          <a:p>
            <a:pPr marL="0" indent="0" algn="l">
              <a:lnSpc>
                <a:spcPct val="104000"/>
              </a:lnSpc>
              <a:buNone/>
            </a:pPr>
            <a:r>
              <a:rPr lang="en-US" sz="3950" dirty="0">
                <a:solidFill>
                  <a:srgbClr val="272D45"/>
                </a:solidFill>
                <a:latin typeface="Kanit Light" pitchFamily="34" charset="0"/>
                <a:ea typeface="Kanit Light" pitchFamily="34" charset="-122"/>
                <a:cs typeface="Kanit Light" pitchFamily="34" charset="-120"/>
              </a:rPr>
              <a:t>Audit, Technology and Governance Requirements</a:t>
            </a:r>
            <a:endParaRPr lang="en-US" sz="3950" dirty="0"/>
          </a:p>
        </p:txBody>
      </p:sp>
      <p:sp>
        <p:nvSpPr>
          <p:cNvPr id="3" name="Shape 1"/>
          <p:cNvSpPr/>
          <p:nvPr/>
        </p:nvSpPr>
        <p:spPr>
          <a:xfrm>
            <a:off x="661475" y="1804392"/>
            <a:ext cx="3509081" cy="4218186"/>
          </a:xfrm>
          <a:prstGeom prst="roundRect">
            <a:avLst>
              <a:gd name="adj" fmla="val 2404"/>
            </a:avLst>
          </a:prstGeom>
          <a:solidFill>
            <a:srgbClr val="DFECE9"/>
          </a:solidFill>
          <a:ln w="6350">
            <a:solidFill>
              <a:srgbClr val="C5D2CF"/>
            </a:solidFill>
            <a:prstDash val="solid"/>
          </a:ln>
        </p:spPr>
        <p:txBody>
          <a:bodyPr/>
          <a:lstStyle/>
          <a:p>
            <a:endParaRPr lang="en-US"/>
          </a:p>
        </p:txBody>
      </p:sp>
      <p:sp>
        <p:nvSpPr>
          <p:cNvPr id="4" name="Text 2"/>
          <p:cNvSpPr/>
          <p:nvPr/>
        </p:nvSpPr>
        <p:spPr>
          <a:xfrm>
            <a:off x="868638" y="2011561"/>
            <a:ext cx="3094754" cy="313730"/>
          </a:xfrm>
          <a:prstGeom prst="rect">
            <a:avLst/>
          </a:prstGeom>
          <a:noFill/>
          <a:ln/>
        </p:spPr>
        <p:txBody>
          <a:bodyPr wrap="none" lIns="0" tIns="0" rIns="0" bIns="0" rtlCol="0" anchor="t"/>
          <a:lstStyle/>
          <a:p>
            <a:pPr marL="0" indent="0" algn="l">
              <a:lnSpc>
                <a:spcPct val="104000"/>
              </a:lnSpc>
              <a:buNone/>
            </a:pPr>
            <a:r>
              <a:rPr lang="en-US" sz="1950" dirty="0">
                <a:solidFill>
                  <a:srgbClr val="2C3249"/>
                </a:solidFill>
                <a:latin typeface="Kanit Light" pitchFamily="34" charset="0"/>
                <a:ea typeface="Kanit Light" pitchFamily="34" charset="-122"/>
                <a:cs typeface="Kanit Light" pitchFamily="34" charset="-120"/>
              </a:rPr>
              <a:t>9. Audit and Assurance</a:t>
            </a:r>
            <a:endParaRPr lang="en-US" sz="1950" dirty="0"/>
          </a:p>
        </p:txBody>
      </p:sp>
      <p:sp>
        <p:nvSpPr>
          <p:cNvPr id="5" name="Text 3"/>
          <p:cNvSpPr/>
          <p:nvPr/>
        </p:nvSpPr>
        <p:spPr>
          <a:xfrm>
            <a:off x="868638" y="2427684"/>
            <a:ext cx="3094754" cy="3073995"/>
          </a:xfrm>
          <a:prstGeom prst="rect">
            <a:avLst/>
          </a:prstGeom>
          <a:noFill/>
          <a:ln/>
        </p:spPr>
        <p:txBody>
          <a:bodyPr wrap="square" lIns="0" tIns="0" rIns="0" bIns="0" rtlCol="0" anchor="t">
            <a:normAutofit/>
          </a:bodyPr>
          <a:lstStyle/>
          <a:p>
            <a:pPr marL="0" indent="0" algn="l">
              <a:lnSpc>
                <a:spcPct val="123000"/>
              </a:lnSpc>
              <a:spcAft>
                <a:spcPts val="800"/>
              </a:spcAft>
              <a:buNone/>
            </a:pPr>
            <a:r>
              <a:rPr lang="en-US" sz="1550" b="1" dirty="0">
                <a:solidFill>
                  <a:srgbClr val="2C3249"/>
                </a:solidFill>
                <a:latin typeface="Martel Sans Bold" pitchFamily="34" charset="0"/>
                <a:ea typeface="Martel Sans Bold" pitchFamily="34" charset="-122"/>
                <a:cs typeface="Martel Sans Bold" pitchFamily="34" charset="-120"/>
              </a:rPr>
              <a:t>Requirement:</a:t>
            </a:r>
            <a:r>
              <a:rPr lang="en-US" sz="1550" dirty="0">
                <a:solidFill>
                  <a:srgbClr val="2C3249"/>
                </a:solidFill>
                <a:latin typeface="Martel Sans" pitchFamily="34" charset="0"/>
                <a:ea typeface="Martel Sans" pitchFamily="34" charset="-122"/>
                <a:cs typeface="Martel Sans" pitchFamily="34" charset="-120"/>
              </a:rPr>
              <a:t> Maintain adequate documentation and records to facilitate internal audit, external audit, regulatory review and other assurance engagements.</a:t>
            </a:r>
            <a:endParaRPr lang="en-US" sz="1550" dirty="0"/>
          </a:p>
          <a:p>
            <a:pPr marL="0" indent="0" algn="l">
              <a:lnSpc>
                <a:spcPct val="123000"/>
              </a:lnSpc>
              <a:buNone/>
            </a:pPr>
            <a:r>
              <a:rPr lang="en-US" sz="1550" b="1" dirty="0">
                <a:solidFill>
                  <a:srgbClr val="2C3249"/>
                </a:solidFill>
                <a:latin typeface="Martel Sans Bold" pitchFamily="34" charset="0"/>
                <a:ea typeface="Martel Sans Bold" pitchFamily="34" charset="-122"/>
                <a:cs typeface="Martel Sans Bold" pitchFamily="34" charset="-120"/>
              </a:rPr>
              <a:t>Purpose:</a:t>
            </a:r>
            <a:r>
              <a:rPr lang="en-US" sz="1550" dirty="0">
                <a:solidFill>
                  <a:srgbClr val="2C3249"/>
                </a:solidFill>
                <a:latin typeface="Martel Sans" pitchFamily="34" charset="0"/>
                <a:ea typeface="Martel Sans" pitchFamily="34" charset="-122"/>
                <a:cs typeface="Martel Sans" pitchFamily="34" charset="-120"/>
              </a:rPr>
              <a:t> Provides evidence supporting the financial information and strengthens accountability.</a:t>
            </a:r>
            <a:endParaRPr lang="en-US" sz="1550" dirty="0"/>
          </a:p>
        </p:txBody>
      </p:sp>
      <p:sp>
        <p:nvSpPr>
          <p:cNvPr id="6" name="Shape 4"/>
          <p:cNvSpPr/>
          <p:nvPr/>
        </p:nvSpPr>
        <p:spPr>
          <a:xfrm>
            <a:off x="4341208" y="1804392"/>
            <a:ext cx="3509180" cy="4218186"/>
          </a:xfrm>
          <a:prstGeom prst="roundRect">
            <a:avLst>
              <a:gd name="adj" fmla="val 2404"/>
            </a:avLst>
          </a:prstGeom>
          <a:solidFill>
            <a:srgbClr val="DFECE9"/>
          </a:solidFill>
          <a:ln w="6350">
            <a:solidFill>
              <a:srgbClr val="C5D2CF"/>
            </a:solidFill>
            <a:prstDash val="solid"/>
          </a:ln>
        </p:spPr>
        <p:txBody>
          <a:bodyPr/>
          <a:lstStyle/>
          <a:p>
            <a:endParaRPr lang="en-US"/>
          </a:p>
        </p:txBody>
      </p:sp>
      <p:sp>
        <p:nvSpPr>
          <p:cNvPr id="7" name="Text 5"/>
          <p:cNvSpPr/>
          <p:nvPr/>
        </p:nvSpPr>
        <p:spPr>
          <a:xfrm>
            <a:off x="4548371" y="2011561"/>
            <a:ext cx="3094853" cy="627459"/>
          </a:xfrm>
          <a:prstGeom prst="rect">
            <a:avLst/>
          </a:prstGeom>
          <a:noFill/>
          <a:ln/>
        </p:spPr>
        <p:txBody>
          <a:bodyPr wrap="square" lIns="0" tIns="0" rIns="0" bIns="0" rtlCol="0" anchor="t">
            <a:normAutofit/>
          </a:bodyPr>
          <a:lstStyle/>
          <a:p>
            <a:pPr marL="0" indent="0" algn="l">
              <a:lnSpc>
                <a:spcPct val="104000"/>
              </a:lnSpc>
              <a:buNone/>
            </a:pPr>
            <a:r>
              <a:rPr lang="en-US" sz="1950" dirty="0">
                <a:solidFill>
                  <a:srgbClr val="2C3249"/>
                </a:solidFill>
                <a:latin typeface="Kanit Light" pitchFamily="34" charset="0"/>
                <a:ea typeface="Kanit Light" pitchFamily="34" charset="-122"/>
                <a:cs typeface="Kanit Light" pitchFamily="34" charset="-120"/>
              </a:rPr>
              <a:t>10. Technology and Data Management</a:t>
            </a:r>
            <a:endParaRPr lang="en-US" sz="1950" dirty="0"/>
          </a:p>
        </p:txBody>
      </p:sp>
      <p:sp>
        <p:nvSpPr>
          <p:cNvPr id="8" name="Text 6"/>
          <p:cNvSpPr/>
          <p:nvPr/>
        </p:nvSpPr>
        <p:spPr>
          <a:xfrm>
            <a:off x="4548371" y="2741414"/>
            <a:ext cx="3094853" cy="3073995"/>
          </a:xfrm>
          <a:prstGeom prst="rect">
            <a:avLst/>
          </a:prstGeom>
          <a:noFill/>
          <a:ln/>
        </p:spPr>
        <p:txBody>
          <a:bodyPr wrap="square" lIns="0" tIns="0" rIns="0" bIns="0" rtlCol="0" anchor="t">
            <a:normAutofit/>
          </a:bodyPr>
          <a:lstStyle/>
          <a:p>
            <a:pPr marL="0" indent="0" algn="l">
              <a:lnSpc>
                <a:spcPct val="123000"/>
              </a:lnSpc>
              <a:spcAft>
                <a:spcPts val="800"/>
              </a:spcAft>
              <a:buNone/>
            </a:pPr>
            <a:r>
              <a:rPr lang="en-US" sz="1550" b="1" dirty="0">
                <a:solidFill>
                  <a:srgbClr val="2C3249"/>
                </a:solidFill>
                <a:latin typeface="Martel Sans Bold" pitchFamily="34" charset="0"/>
                <a:ea typeface="Martel Sans Bold" pitchFamily="34" charset="-122"/>
                <a:cs typeface="Martel Sans Bold" pitchFamily="34" charset="-120"/>
              </a:rPr>
              <a:t>Requirement:</a:t>
            </a:r>
            <a:r>
              <a:rPr lang="en-US" sz="1550" dirty="0">
                <a:solidFill>
                  <a:srgbClr val="2C3249"/>
                </a:solidFill>
                <a:latin typeface="Martel Sans" pitchFamily="34" charset="0"/>
                <a:ea typeface="Martel Sans" pitchFamily="34" charset="-122"/>
                <a:cs typeface="Martel Sans" pitchFamily="34" charset="-120"/>
              </a:rPr>
              <a:t> For computerized systems, implement appropriate access controls, backups, cybersecurity, data validation, change controls and system audit trails.</a:t>
            </a:r>
            <a:endParaRPr lang="en-US" sz="1550" dirty="0"/>
          </a:p>
          <a:p>
            <a:pPr marL="0" indent="0" algn="l">
              <a:lnSpc>
                <a:spcPct val="123000"/>
              </a:lnSpc>
              <a:buNone/>
            </a:pPr>
            <a:r>
              <a:rPr lang="en-US" sz="1550" b="1" dirty="0">
                <a:solidFill>
                  <a:srgbClr val="2C3249"/>
                </a:solidFill>
                <a:latin typeface="Martel Sans Bold" pitchFamily="34" charset="0"/>
                <a:ea typeface="Martel Sans Bold" pitchFamily="34" charset="-122"/>
                <a:cs typeface="Martel Sans Bold" pitchFamily="34" charset="-120"/>
              </a:rPr>
              <a:t>Purpose:</a:t>
            </a:r>
            <a:r>
              <a:rPr lang="en-US" sz="1550" dirty="0">
                <a:solidFill>
                  <a:srgbClr val="2C3249"/>
                </a:solidFill>
                <a:latin typeface="Martel Sans" pitchFamily="34" charset="0"/>
                <a:ea typeface="Martel Sans" pitchFamily="34" charset="-122"/>
                <a:cs typeface="Martel Sans" pitchFamily="34" charset="-120"/>
              </a:rPr>
              <a:t> Protects the integrity, confidentiality and availability of accounting information.</a:t>
            </a:r>
            <a:endParaRPr lang="en-US" sz="1550" dirty="0"/>
          </a:p>
        </p:txBody>
      </p:sp>
      <p:sp>
        <p:nvSpPr>
          <p:cNvPr id="9" name="Shape 7"/>
          <p:cNvSpPr/>
          <p:nvPr/>
        </p:nvSpPr>
        <p:spPr>
          <a:xfrm>
            <a:off x="8021040" y="1804392"/>
            <a:ext cx="3509081" cy="4218186"/>
          </a:xfrm>
          <a:prstGeom prst="roundRect">
            <a:avLst>
              <a:gd name="adj" fmla="val 2404"/>
            </a:avLst>
          </a:prstGeom>
          <a:solidFill>
            <a:srgbClr val="DFECE9"/>
          </a:solidFill>
          <a:ln w="6350">
            <a:solidFill>
              <a:srgbClr val="C5D2CF"/>
            </a:solidFill>
            <a:prstDash val="solid"/>
          </a:ln>
        </p:spPr>
        <p:txBody>
          <a:bodyPr/>
          <a:lstStyle/>
          <a:p>
            <a:endParaRPr lang="en-US"/>
          </a:p>
        </p:txBody>
      </p:sp>
      <p:sp>
        <p:nvSpPr>
          <p:cNvPr id="10" name="Text 8"/>
          <p:cNvSpPr/>
          <p:nvPr/>
        </p:nvSpPr>
        <p:spPr>
          <a:xfrm>
            <a:off x="8228204" y="2011561"/>
            <a:ext cx="3094754" cy="627459"/>
          </a:xfrm>
          <a:prstGeom prst="rect">
            <a:avLst/>
          </a:prstGeom>
          <a:noFill/>
          <a:ln/>
        </p:spPr>
        <p:txBody>
          <a:bodyPr wrap="square" lIns="0" tIns="0" rIns="0" bIns="0" rtlCol="0" anchor="t">
            <a:normAutofit/>
          </a:bodyPr>
          <a:lstStyle/>
          <a:p>
            <a:pPr marL="0" indent="0" algn="l">
              <a:lnSpc>
                <a:spcPct val="104000"/>
              </a:lnSpc>
              <a:buNone/>
            </a:pPr>
            <a:r>
              <a:rPr lang="en-US" sz="1950" dirty="0">
                <a:solidFill>
                  <a:srgbClr val="2C3249"/>
                </a:solidFill>
                <a:latin typeface="Kanit Light" pitchFamily="34" charset="0"/>
                <a:ea typeface="Kanit Light" pitchFamily="34" charset="-122"/>
                <a:cs typeface="Kanit Light" pitchFamily="34" charset="-120"/>
              </a:rPr>
              <a:t>11. Best Practice / Governance</a:t>
            </a:r>
            <a:endParaRPr lang="en-US" sz="1950" dirty="0"/>
          </a:p>
        </p:txBody>
      </p:sp>
      <p:sp>
        <p:nvSpPr>
          <p:cNvPr id="11" name="Text 9"/>
          <p:cNvSpPr/>
          <p:nvPr/>
        </p:nvSpPr>
        <p:spPr>
          <a:xfrm>
            <a:off x="8228204" y="2741414"/>
            <a:ext cx="3094754" cy="2479675"/>
          </a:xfrm>
          <a:prstGeom prst="rect">
            <a:avLst/>
          </a:prstGeom>
          <a:noFill/>
          <a:ln/>
        </p:spPr>
        <p:txBody>
          <a:bodyPr wrap="square" lIns="0" tIns="0" rIns="0" bIns="0" rtlCol="0" anchor="t">
            <a:normAutofit/>
          </a:bodyPr>
          <a:lstStyle/>
          <a:p>
            <a:pPr marL="0" indent="0" algn="l">
              <a:lnSpc>
                <a:spcPct val="123000"/>
              </a:lnSpc>
              <a:spcAft>
                <a:spcPts val="800"/>
              </a:spcAft>
              <a:buNone/>
            </a:pPr>
            <a:r>
              <a:rPr lang="en-US" sz="1550" b="1" dirty="0">
                <a:solidFill>
                  <a:srgbClr val="2C3249"/>
                </a:solidFill>
                <a:latin typeface="Martel Sans Bold" pitchFamily="34" charset="0"/>
                <a:ea typeface="Martel Sans Bold" pitchFamily="34" charset="-122"/>
                <a:cs typeface="Martel Sans Bold" pitchFamily="34" charset="-120"/>
              </a:rPr>
              <a:t>Requirement:</a:t>
            </a:r>
            <a:r>
              <a:rPr lang="en-US" sz="1550" dirty="0">
                <a:solidFill>
                  <a:srgbClr val="2C3249"/>
                </a:solidFill>
                <a:latin typeface="Martel Sans" pitchFamily="34" charset="0"/>
                <a:ea typeface="Martel Sans" pitchFamily="34" charset="-122"/>
                <a:cs typeface="Martel Sans" pitchFamily="34" charset="-120"/>
              </a:rPr>
              <a:t> Establish clear accounting policies, responsibilities, review procedures, reporting calendars and management oversight.</a:t>
            </a:r>
            <a:endParaRPr lang="en-US" sz="1550" dirty="0"/>
          </a:p>
          <a:p>
            <a:pPr marL="0" indent="0" algn="l">
              <a:lnSpc>
                <a:spcPct val="123000"/>
              </a:lnSpc>
              <a:buNone/>
            </a:pPr>
            <a:r>
              <a:rPr lang="en-US" sz="1550" b="1" dirty="0">
                <a:solidFill>
                  <a:srgbClr val="2C3249"/>
                </a:solidFill>
                <a:latin typeface="Martel Sans Bold" pitchFamily="34" charset="0"/>
                <a:ea typeface="Martel Sans Bold" pitchFamily="34" charset="-122"/>
                <a:cs typeface="Martel Sans Bold" pitchFamily="34" charset="-120"/>
              </a:rPr>
              <a:t>Purpose:</a:t>
            </a:r>
            <a:r>
              <a:rPr lang="en-US" sz="1550" dirty="0">
                <a:solidFill>
                  <a:srgbClr val="2C3249"/>
                </a:solidFill>
                <a:latin typeface="Martel Sans" pitchFamily="34" charset="0"/>
                <a:ea typeface="Martel Sans" pitchFamily="34" charset="-122"/>
                <a:cs typeface="Martel Sans" pitchFamily="34" charset="-120"/>
              </a:rPr>
              <a:t> Creates a disciplined and consistent financial reporting environment.</a:t>
            </a:r>
            <a:endParaRPr lang="en-US" sz="15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1177636" y="467469"/>
            <a:ext cx="10352584" cy="553740"/>
          </a:xfrm>
          <a:prstGeom prst="rect">
            <a:avLst/>
          </a:prstGeom>
          <a:noFill/>
          <a:ln/>
        </p:spPr>
        <p:txBody>
          <a:bodyPr wrap="none" lIns="0" tIns="0" rIns="0" bIns="0" rtlCol="0" anchor="t"/>
          <a:lstStyle/>
          <a:p>
            <a:pPr marL="0" indent="0" algn="l">
              <a:lnSpc>
                <a:spcPct val="104000"/>
              </a:lnSpc>
              <a:buNone/>
            </a:pPr>
            <a:r>
              <a:rPr lang="en-US" sz="3450" dirty="0">
                <a:solidFill>
                  <a:srgbClr val="272D45"/>
                </a:solidFill>
                <a:latin typeface="Kanit Light" pitchFamily="34" charset="0"/>
                <a:ea typeface="Kanit Light" pitchFamily="34" charset="-122"/>
                <a:cs typeface="Kanit Light" pitchFamily="34" charset="-120"/>
              </a:rPr>
              <a:t>Summary: The 11 FAR Requirements at a Glance</a:t>
            </a:r>
            <a:endParaRPr lang="en-US" sz="3450" dirty="0"/>
          </a:p>
        </p:txBody>
      </p:sp>
      <p:pic>
        <p:nvPicPr>
          <p:cNvPr id="3" name="Image 0" descr="preencoded.png"/>
          <p:cNvPicPr>
            <a:picLocks noChangeAspect="1"/>
          </p:cNvPicPr>
          <p:nvPr/>
        </p:nvPicPr>
        <p:blipFill>
          <a:blip r:embed="rId3"/>
          <a:stretch>
            <a:fillRect/>
          </a:stretch>
        </p:blipFill>
        <p:spPr>
          <a:xfrm>
            <a:off x="661475" y="1136073"/>
            <a:ext cx="10868745" cy="5254457"/>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661475" y="654348"/>
            <a:ext cx="10868745" cy="627559"/>
          </a:xfrm>
          <a:prstGeom prst="rect">
            <a:avLst/>
          </a:prstGeom>
          <a:noFill/>
          <a:ln/>
        </p:spPr>
        <p:txBody>
          <a:bodyPr wrap="none" lIns="0" tIns="0" rIns="0" bIns="0" rtlCol="0" anchor="t"/>
          <a:lstStyle/>
          <a:p>
            <a:pPr marL="0" indent="0" algn="l">
              <a:lnSpc>
                <a:spcPct val="104000"/>
              </a:lnSpc>
              <a:buNone/>
            </a:pPr>
            <a:r>
              <a:rPr lang="en-US" sz="3950" dirty="0">
                <a:solidFill>
                  <a:srgbClr val="272D45"/>
                </a:solidFill>
                <a:latin typeface="Kanit Light" pitchFamily="34" charset="0"/>
                <a:ea typeface="Kanit Light" pitchFamily="34" charset="-122"/>
                <a:cs typeface="Kanit Light" pitchFamily="34" charset="-120"/>
              </a:rPr>
              <a:t>Topic 2: Key Takeaways</a:t>
            </a:r>
            <a:endParaRPr lang="en-US" sz="3950" dirty="0"/>
          </a:p>
        </p:txBody>
      </p:sp>
      <p:sp>
        <p:nvSpPr>
          <p:cNvPr id="3" name="Shape 1"/>
          <p:cNvSpPr/>
          <p:nvPr/>
        </p:nvSpPr>
        <p:spPr>
          <a:xfrm>
            <a:off x="661475" y="1623318"/>
            <a:ext cx="451831" cy="451842"/>
          </a:xfrm>
          <a:prstGeom prst="roundRect">
            <a:avLst>
              <a:gd name="adj" fmla="val 18668"/>
            </a:avLst>
          </a:prstGeom>
          <a:solidFill>
            <a:srgbClr val="DFECE9"/>
          </a:solidFill>
          <a:ln w="6350">
            <a:solidFill>
              <a:srgbClr val="C5D2CF"/>
            </a:solidFill>
            <a:prstDash val="solid"/>
          </a:ln>
        </p:spPr>
        <p:txBody>
          <a:bodyPr/>
          <a:lstStyle/>
          <a:p>
            <a:endParaRPr lang="en-US"/>
          </a:p>
        </p:txBody>
      </p:sp>
      <p:sp>
        <p:nvSpPr>
          <p:cNvPr id="4" name="Text 2"/>
          <p:cNvSpPr/>
          <p:nvPr/>
        </p:nvSpPr>
        <p:spPr>
          <a:xfrm>
            <a:off x="1283958" y="1692275"/>
            <a:ext cx="4705232" cy="313730"/>
          </a:xfrm>
          <a:prstGeom prst="rect">
            <a:avLst/>
          </a:prstGeom>
          <a:noFill/>
          <a:ln/>
        </p:spPr>
        <p:txBody>
          <a:bodyPr wrap="none" lIns="0" tIns="0" rIns="0" bIns="0" rtlCol="0" anchor="t"/>
          <a:lstStyle/>
          <a:p>
            <a:pPr marL="0" indent="0" algn="l">
              <a:lnSpc>
                <a:spcPct val="104000"/>
              </a:lnSpc>
              <a:buNone/>
            </a:pPr>
            <a:r>
              <a:rPr lang="en-US" sz="1950" dirty="0">
                <a:solidFill>
                  <a:srgbClr val="2C3249"/>
                </a:solidFill>
                <a:latin typeface="Kanit Light" pitchFamily="34" charset="0"/>
                <a:ea typeface="Kanit Light" pitchFamily="34" charset="-122"/>
                <a:cs typeface="Kanit Light" pitchFamily="34" charset="-120"/>
              </a:rPr>
              <a:t>The FAR Cycle Has Five Stages</a:t>
            </a:r>
            <a:endParaRPr lang="en-US" sz="1950" dirty="0"/>
          </a:p>
        </p:txBody>
      </p:sp>
      <p:sp>
        <p:nvSpPr>
          <p:cNvPr id="5" name="Text 3"/>
          <p:cNvSpPr/>
          <p:nvPr/>
        </p:nvSpPr>
        <p:spPr>
          <a:xfrm>
            <a:off x="1283958" y="2108398"/>
            <a:ext cx="4705232" cy="1188641"/>
          </a:xfrm>
          <a:prstGeom prst="rect">
            <a:avLst/>
          </a:prstGeom>
          <a:noFill/>
          <a:ln/>
        </p:spPr>
        <p:txBody>
          <a:bodyPr wrap="square" lIns="0" tIns="0" rIns="0" bIns="0" rtlCol="0" anchor="t">
            <a:normAutofit/>
          </a:bodyPr>
          <a:lstStyle/>
          <a:p>
            <a:pPr marL="0" indent="0" algn="just">
              <a:lnSpc>
                <a:spcPct val="123000"/>
              </a:lnSpc>
              <a:buNone/>
            </a:pPr>
            <a:r>
              <a:rPr lang="en-US" sz="1550" dirty="0">
                <a:solidFill>
                  <a:srgbClr val="2C3249"/>
                </a:solidFill>
                <a:latin typeface="Martel Sans" pitchFamily="34" charset="0"/>
                <a:ea typeface="Martel Sans" pitchFamily="34" charset="-122"/>
                <a:cs typeface="Martel Sans" pitchFamily="34" charset="-120"/>
              </a:rPr>
              <a:t>From collecting source documents through books of prime entry, ledger posting, trial balance and financial statements  each stage builds on the last.</a:t>
            </a:r>
            <a:endParaRPr lang="en-US" sz="1550" dirty="0"/>
          </a:p>
        </p:txBody>
      </p:sp>
      <p:sp>
        <p:nvSpPr>
          <p:cNvPr id="6" name="Shape 4"/>
          <p:cNvSpPr/>
          <p:nvPr/>
        </p:nvSpPr>
        <p:spPr>
          <a:xfrm>
            <a:off x="6202505" y="1623318"/>
            <a:ext cx="451831" cy="451842"/>
          </a:xfrm>
          <a:prstGeom prst="roundRect">
            <a:avLst>
              <a:gd name="adj" fmla="val 18668"/>
            </a:avLst>
          </a:prstGeom>
          <a:solidFill>
            <a:srgbClr val="DFECE9"/>
          </a:solidFill>
          <a:ln w="6350">
            <a:solidFill>
              <a:srgbClr val="C5D2CF"/>
            </a:solidFill>
            <a:prstDash val="solid"/>
          </a:ln>
        </p:spPr>
        <p:txBody>
          <a:bodyPr/>
          <a:lstStyle/>
          <a:p>
            <a:endParaRPr lang="en-US"/>
          </a:p>
        </p:txBody>
      </p:sp>
      <p:sp>
        <p:nvSpPr>
          <p:cNvPr id="7" name="Text 5"/>
          <p:cNvSpPr/>
          <p:nvPr/>
        </p:nvSpPr>
        <p:spPr>
          <a:xfrm>
            <a:off x="6824988" y="1692275"/>
            <a:ext cx="4705232" cy="313730"/>
          </a:xfrm>
          <a:prstGeom prst="rect">
            <a:avLst/>
          </a:prstGeom>
          <a:noFill/>
          <a:ln/>
        </p:spPr>
        <p:txBody>
          <a:bodyPr wrap="none" lIns="0" tIns="0" rIns="0" bIns="0" rtlCol="0" anchor="t"/>
          <a:lstStyle/>
          <a:p>
            <a:pPr marL="0" indent="0" algn="l">
              <a:lnSpc>
                <a:spcPct val="104000"/>
              </a:lnSpc>
              <a:buNone/>
            </a:pPr>
            <a:r>
              <a:rPr lang="en-US" sz="1950" dirty="0">
                <a:solidFill>
                  <a:srgbClr val="2C3249"/>
                </a:solidFill>
                <a:latin typeface="Kanit Light" pitchFamily="34" charset="0"/>
                <a:ea typeface="Kanit Light" pitchFamily="34" charset="-122"/>
                <a:cs typeface="Kanit Light" pitchFamily="34" charset="-120"/>
              </a:rPr>
              <a:t>Double Entry is the Core Mechanism</a:t>
            </a:r>
            <a:endParaRPr lang="en-US" sz="1950" dirty="0"/>
          </a:p>
        </p:txBody>
      </p:sp>
      <p:sp>
        <p:nvSpPr>
          <p:cNvPr id="8" name="Text 6"/>
          <p:cNvSpPr/>
          <p:nvPr/>
        </p:nvSpPr>
        <p:spPr>
          <a:xfrm>
            <a:off x="6824988" y="2108398"/>
            <a:ext cx="4705232" cy="1485801"/>
          </a:xfrm>
          <a:prstGeom prst="rect">
            <a:avLst/>
          </a:prstGeom>
          <a:noFill/>
          <a:ln/>
        </p:spPr>
        <p:txBody>
          <a:bodyPr wrap="square" lIns="0" tIns="0" rIns="0" bIns="0" rtlCol="0" anchor="t">
            <a:normAutofit/>
          </a:bodyPr>
          <a:lstStyle/>
          <a:p>
            <a:pPr algn="just">
              <a:lnSpc>
                <a:spcPct val="123000"/>
              </a:lnSpc>
            </a:pPr>
            <a:r>
              <a:rPr lang="en-US" sz="1550" dirty="0">
                <a:solidFill>
                  <a:srgbClr val="2C3249"/>
                </a:solidFill>
                <a:latin typeface="Martel Sans" pitchFamily="34" charset="0"/>
                <a:cs typeface="Martel Sans" pitchFamily="34" charset="-120"/>
              </a:rPr>
              <a:t>Every transaction affects at least two accounts. Total debits must always equal total credits. Use DEAD CLIC to remember normal balances. Contra-assets carry credit balances despite relating to assets.</a:t>
            </a:r>
          </a:p>
        </p:txBody>
      </p:sp>
      <p:sp>
        <p:nvSpPr>
          <p:cNvPr id="9" name="Shape 7"/>
          <p:cNvSpPr/>
          <p:nvPr/>
        </p:nvSpPr>
        <p:spPr>
          <a:xfrm>
            <a:off x="661475" y="3935611"/>
            <a:ext cx="451831" cy="451842"/>
          </a:xfrm>
          <a:prstGeom prst="roundRect">
            <a:avLst>
              <a:gd name="adj" fmla="val 18668"/>
            </a:avLst>
          </a:prstGeom>
          <a:solidFill>
            <a:srgbClr val="DFECE9"/>
          </a:solidFill>
          <a:ln w="6350">
            <a:solidFill>
              <a:srgbClr val="C5D2CF"/>
            </a:solidFill>
            <a:prstDash val="solid"/>
          </a:ln>
        </p:spPr>
        <p:txBody>
          <a:bodyPr/>
          <a:lstStyle/>
          <a:p>
            <a:endParaRPr lang="en-US"/>
          </a:p>
        </p:txBody>
      </p:sp>
      <p:sp>
        <p:nvSpPr>
          <p:cNvPr id="10" name="Text 8"/>
          <p:cNvSpPr/>
          <p:nvPr/>
        </p:nvSpPr>
        <p:spPr>
          <a:xfrm>
            <a:off x="1283958" y="4004568"/>
            <a:ext cx="4705232" cy="627459"/>
          </a:xfrm>
          <a:prstGeom prst="rect">
            <a:avLst/>
          </a:prstGeom>
          <a:noFill/>
          <a:ln/>
        </p:spPr>
        <p:txBody>
          <a:bodyPr wrap="square" lIns="0" tIns="0" rIns="0" bIns="0" rtlCol="0" anchor="t">
            <a:normAutofit/>
          </a:bodyPr>
          <a:lstStyle/>
          <a:p>
            <a:pPr marL="0" indent="0" algn="l">
              <a:lnSpc>
                <a:spcPct val="104000"/>
              </a:lnSpc>
              <a:buNone/>
            </a:pPr>
            <a:r>
              <a:rPr lang="en-US" sz="1950" dirty="0">
                <a:solidFill>
                  <a:srgbClr val="2C3249"/>
                </a:solidFill>
                <a:latin typeface="Kanit Light" pitchFamily="34" charset="0"/>
                <a:ea typeface="Kanit Light" pitchFamily="34" charset="-122"/>
                <a:cs typeface="Kanit Light" pitchFamily="34" charset="-120"/>
              </a:rPr>
              <a:t>Six Financial Statements Form a Complete Picture</a:t>
            </a:r>
            <a:endParaRPr lang="en-US" sz="1950" dirty="0"/>
          </a:p>
        </p:txBody>
      </p:sp>
      <p:sp>
        <p:nvSpPr>
          <p:cNvPr id="11" name="Text 9"/>
          <p:cNvSpPr/>
          <p:nvPr/>
        </p:nvSpPr>
        <p:spPr>
          <a:xfrm>
            <a:off x="1283958" y="4734421"/>
            <a:ext cx="4705232" cy="1188641"/>
          </a:xfrm>
          <a:prstGeom prst="rect">
            <a:avLst/>
          </a:prstGeom>
          <a:noFill/>
          <a:ln/>
        </p:spPr>
        <p:txBody>
          <a:bodyPr wrap="square" lIns="0" tIns="0" rIns="0" bIns="0" rtlCol="0" anchor="t">
            <a:normAutofit/>
          </a:bodyPr>
          <a:lstStyle/>
          <a:p>
            <a:pPr algn="just">
              <a:lnSpc>
                <a:spcPct val="123000"/>
              </a:lnSpc>
            </a:pPr>
            <a:r>
              <a:rPr lang="en-US" sz="1550" dirty="0">
                <a:solidFill>
                  <a:srgbClr val="2C3249"/>
                </a:solidFill>
                <a:latin typeface="Martel Sans" pitchFamily="34" charset="0"/>
                <a:cs typeface="Martel Sans" pitchFamily="34" charset="-120"/>
              </a:rPr>
              <a:t>The statement of financial position, profit or loss, OCI, cash flows, changes in equity and notes together provide a comprehensive view of financial position, performance and cash flows.</a:t>
            </a:r>
          </a:p>
        </p:txBody>
      </p:sp>
      <p:sp>
        <p:nvSpPr>
          <p:cNvPr id="12" name="Shape 10"/>
          <p:cNvSpPr/>
          <p:nvPr/>
        </p:nvSpPr>
        <p:spPr>
          <a:xfrm>
            <a:off x="6202505" y="3935611"/>
            <a:ext cx="451831" cy="451842"/>
          </a:xfrm>
          <a:prstGeom prst="roundRect">
            <a:avLst>
              <a:gd name="adj" fmla="val 18668"/>
            </a:avLst>
          </a:prstGeom>
          <a:solidFill>
            <a:srgbClr val="DFECE9"/>
          </a:solidFill>
          <a:ln w="6350">
            <a:solidFill>
              <a:srgbClr val="C5D2CF"/>
            </a:solidFill>
            <a:prstDash val="solid"/>
          </a:ln>
        </p:spPr>
        <p:txBody>
          <a:bodyPr/>
          <a:lstStyle/>
          <a:p>
            <a:endParaRPr lang="en-US"/>
          </a:p>
        </p:txBody>
      </p:sp>
      <p:sp>
        <p:nvSpPr>
          <p:cNvPr id="13" name="Text 11"/>
          <p:cNvSpPr/>
          <p:nvPr/>
        </p:nvSpPr>
        <p:spPr>
          <a:xfrm>
            <a:off x="6824988" y="4004568"/>
            <a:ext cx="4705232" cy="313730"/>
          </a:xfrm>
          <a:prstGeom prst="rect">
            <a:avLst/>
          </a:prstGeom>
          <a:noFill/>
          <a:ln/>
        </p:spPr>
        <p:txBody>
          <a:bodyPr wrap="none" lIns="0" tIns="0" rIns="0" bIns="0" rtlCol="0" anchor="t"/>
          <a:lstStyle/>
          <a:p>
            <a:pPr marL="0" indent="0" algn="l">
              <a:lnSpc>
                <a:spcPct val="104000"/>
              </a:lnSpc>
              <a:buNone/>
            </a:pPr>
            <a:r>
              <a:rPr lang="en-US" sz="1950" dirty="0">
                <a:solidFill>
                  <a:srgbClr val="2C3249"/>
                </a:solidFill>
                <a:latin typeface="Kanit Light" pitchFamily="34" charset="0"/>
                <a:ea typeface="Kanit Light" pitchFamily="34" charset="-122"/>
                <a:cs typeface="Kanit Light" pitchFamily="34" charset="-120"/>
              </a:rPr>
              <a:t>Sound FAR Requires 11 Key Requirements</a:t>
            </a:r>
            <a:endParaRPr lang="en-US" sz="1950" dirty="0"/>
          </a:p>
        </p:txBody>
      </p:sp>
      <p:sp>
        <p:nvSpPr>
          <p:cNvPr id="14" name="Text 12"/>
          <p:cNvSpPr/>
          <p:nvPr/>
        </p:nvSpPr>
        <p:spPr>
          <a:xfrm>
            <a:off x="6824988" y="4420691"/>
            <a:ext cx="4705232" cy="1782961"/>
          </a:xfrm>
          <a:prstGeom prst="rect">
            <a:avLst/>
          </a:prstGeom>
          <a:noFill/>
          <a:ln/>
        </p:spPr>
        <p:txBody>
          <a:bodyPr wrap="square" lIns="0" tIns="0" rIns="0" bIns="0" rtlCol="0" anchor="t">
            <a:normAutofit/>
          </a:bodyPr>
          <a:lstStyle/>
          <a:p>
            <a:pPr algn="just">
              <a:lnSpc>
                <a:spcPct val="123000"/>
              </a:lnSpc>
            </a:pPr>
            <a:r>
              <a:rPr lang="en-US" sz="1550" dirty="0">
                <a:solidFill>
                  <a:srgbClr val="2C3249"/>
                </a:solidFill>
                <a:latin typeface="Martel Sans" pitchFamily="34" charset="0"/>
                <a:cs typeface="Martel Sans" pitchFamily="34" charset="-120"/>
              </a:rPr>
              <a:t>Legal compliance, accounting standards, professional ethics, complete records, double entry, full financial statements, disclosure, timeliness, audit readiness, technology controls and governance all underpin a reliable FAR process.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TotalTime>
  <Words>4159</Words>
  <Application>Microsoft Office PowerPoint</Application>
  <PresentationFormat>Widescreen</PresentationFormat>
  <Paragraphs>469</Paragraphs>
  <Slides>38</Slides>
  <Notes>38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38</vt:i4>
      </vt:variant>
    </vt:vector>
  </HeadingPairs>
  <TitlesOfParts>
    <vt:vector size="46" baseType="lpstr">
      <vt:lpstr>Consolas</vt:lpstr>
      <vt:lpstr>Calibri</vt:lpstr>
      <vt:lpstr>Kanit Light</vt:lpstr>
      <vt:lpstr>Aptos</vt:lpstr>
      <vt:lpstr>Martel Sans Bold</vt:lpstr>
      <vt:lpstr>Martel Sans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Geoffrey Injeni</dc:creator>
  <cp:lastModifiedBy>Geoffrey Injeni</cp:lastModifiedBy>
  <cp:revision>5</cp:revision>
  <dcterms:created xsi:type="dcterms:W3CDTF">2026-08-20T07:53:55Z</dcterms:created>
  <dcterms:modified xsi:type="dcterms:W3CDTF">2026-08-28T17:11:14Z</dcterms:modified>
</cp:coreProperties>
</file>